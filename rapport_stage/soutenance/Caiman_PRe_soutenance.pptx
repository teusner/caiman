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[00:30 - cumulative 00:30]</a:t>
            </a:r>
          </a:p>
          <a:p/>
          <a:p>
            <a:r>
              <a:t>Good morning. I am Joab da Silva Bezerra. This work was done at the Lab-STICC on the ENSTA Brest campus, in the ROBEX team, supervised by Franck Ruffier, with technical support from Quentin Brateau.</a:t>
            </a:r>
          </a:p>
          <a:p/>
          <a:p>
            <a:r>
              <a:t>The presentation covers the Caiman board, its architecture and production file, a mission simulator, and a hardware-in-the-loop bench.</a:t>
            </a:r>
          </a:p>
          <a:p/>
          <a:p>
            <a:r>
              <a:t>Move on at 30 seconds.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[01:50 - cumulative 02:20]</a:t>
            </a:r>
          </a:p>
          <a:p/>
          <a:p>
            <a:r>
              <a:t>What the object is, and the number that justifies the whole approach.</a:t>
            </a:r>
          </a:p>
          <a:p/>
          <a:p>
            <a:r>
              <a:t>A Caiman is a small AUV for shallow-water survey: a sealed PMMA cylinder, a 12 volt 56 amp-hour Li-ion pack, so 672 watt-hours nominal, two T60 thrusters, a Bar30 depth sensor, a Ping2 echosounder and an nRF24 surface radio. Mean motor draw is 15 amps, 180 watts, which gives an ideal motors-only endurance of 3.73 hours. That is a modelling figure, not a measurement.</a:t>
            </a:r>
          </a:p>
          <a:p/>
          <a:p>
            <a:r>
              <a:t>Now the coverage budget, on the right, because this is where the fleet argument actually comes from.</a:t>
            </a:r>
          </a:p>
          <a:p/>
          <a:p>
            <a:r>
              <a:t>The Ping2 is a single-beam echosounder with a 25 degree cone. At 3 metres altitude the geometric footprint is 2 times 3 times the tangent of 12.5 degrees, so 1.33 metres.</a:t>
            </a:r>
          </a:p>
          <a:p/>
          <a:p>
            <a:r>
              <a:t>The survey polygon is 0.32 square kilometres. If you wanted to insonify every square metre of it at that footprint, you need 0.32 square kilometres divided by 1.33 metres, which is 240.6 kilometres of track. At the reconnaissance grid spacing actually used, 26 metres, it is 12.3 kilometres.</a:t>
            </a:r>
          </a:p>
          <a:p/>
          <a:p>
            <a:r>
              <a:t>That is a factor of 19.5. And split across five vehicles it is 2.46 kilometres each, against 48.1 kilometres each if one vehicle had to do the full job.</a:t>
            </a:r>
          </a:p>
          <a:p/>
          <a:p>
            <a:r>
              <a:t>That ratio is the engineering reason for the fleet. It is also why the electronics have to be cheap: the approach only works if you can afford five of them.</a:t>
            </a:r>
          </a:p>
          <a:p/>
          <a:p>
            <a:r>
              <a:t>IF ASKED about unit cost: I do not have a per-unit figure to give you. What I can state is the manufacturing envelope, which is on the routing slide: two layers, 116 placed components, 94.8 square centimetres.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[01:10 - cumulative 03:30]</a:t>
            </a:r>
          </a:p>
          <a:p/>
          <a:p>
            <a:r>
              <a:t>Seawater absorbs electromagnetic waves within tens of centimetres, so Wi-Fi and the mesh networking used in aerial and ground swarms are unavailable. Acoustic modems propagate but are expensive, slow and power-hungry, which does not fit a low-cost fleet.</a:t>
            </a:r>
          </a:p>
          <a:p/>
          <a:p>
            <a:r>
              <a:t>The operating mode that follows is store-and-forward: each vehicle buffers its survey to microSD and only exchanges when it surfaces.</a:t>
            </a:r>
          </a:p>
          <a:p/>
          <a:p>
            <a:r>
              <a:t>Now the link budget, because it produces a result worth stating. The default profile is 250 metres range at 1 megabit per second, with 3 percent modelled packet loss and a 5 second telemetry period per vehicle. Five vehicles each sending 32 bytes every 5 seconds is 256 bits per second offered load.</a:t>
            </a:r>
          </a:p>
          <a:p/>
          <a:p>
            <a:r>
              <a:t>Against a 1 megabit per second channel that is 0.026 percent occupancy. So the radio is nowhere near saturated. The binding constraint is not throughput, it is the surface window: how often a vehicle is above 0.5 metres and within 250 metres of a peer.</a:t>
            </a:r>
          </a:p>
          <a:p/>
          <a:p>
            <a:r>
              <a:t>That is why the design effort went into the rendezvous logic and the frame format rather than into raw data rate.</a:t>
            </a:r>
          </a:p>
          <a:p/>
          <a:p>
            <a:r>
              <a:t>The schematic on the right is the adjacency rule as applied in the simulator: above 0.5 metres a link exists, below it the adjacency is zero.</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[00:40 - cumulative 04:10]</a:t>
            </a:r>
          </a:p>
          <a:p/>
          <a:p>
            <a:r>
              <a:t>Where each item of the subject ended.</a:t>
            </a:r>
          </a:p>
          <a:p/>
          <a:p>
            <a:r>
              <a:t>Delivered: the schematic and routing corrections, the production file, and the protocol bench on two processors. Partial: the embedded software, which has the architecture and the drivers for the target microcontroller, and swarm control, which exists as a deterministic simulator rather than on vehicles. Outside the window: tank and field trials.</a:t>
            </a:r>
          </a:p>
          <a:p/>
          <a:p>
            <a:r>
              <a:t>Keep this short. Read the six labels and move to the architecture.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[02:00 - cumulative 06:10]</a:t>
            </a:r>
          </a:p>
          <a:p/>
          <a:p>
            <a:r>
              <a:t>The board is organised around one microcontroller, an STM32F765VITx, Cortex-M7 at 216 megahertz, running STM32Cube and FreeRTOS with the sensor task at 10 hertz. 116 placed components on two layers, 94.8 square centimetres.</a:t>
            </a:r>
          </a:p>
          <a:p/>
          <a:p>
            <a:r>
              <a:t>Power enters at the top. The 12 volt input is protected by an LM74700 ideal-diode controller against reverse polarity and inrush, then two cascaded synchronous bucks: an AP63205 for the 5 volt rail and an AP63203 deriving 3.3 volts from it.</a:t>
            </a:r>
          </a:p>
          <a:p/>
          <a:p>
            <a:r>
              <a:t>The interfaces are grouped by function. On the left, two I2C buses, deliberately separated. I2C2 is the internal instrumentation bus carrying the LSM6DSO accelerometer and gyroscope, the LIS2MDL magnetometer and the LPS22HB barometer. I2C1 is brought out to a connector for the Bar30, which sits in the front end cap and therefore has to leave the board.</a:t>
            </a:r>
          </a:p>
          <a:p/>
          <a:p>
            <a:r>
              <a:t>On the right, SPI1 for the nRF24 transceiver with its chip-enable, chip-select and interrupt lines; SDMMC for the microSD with card-detect, which is what makes store-and-forward possible; and a UART group for the GNSS receiver and the Ping2 echosounder.</a:t>
            </a:r>
          </a:p>
          <a:p/>
          <a:p>
            <a:r>
              <a:t>At the bottom, two PWM channels for the ESCs driving the T60 thrusters, a GPIO line driving the SK6812 indicator through an SN74LV1T34 level shifter because the LED needs 5 volt logic, and an ADC and GPIO group for battery voltage, the US1881 Hall-effect contact and the leak detector. The magnetic contact exists because the hull is sealed: you cannot fit a switch.</a:t>
            </a:r>
          </a:p>
          <a:p/>
          <a:p>
            <a:r>
              <a:t>Now the converter table at the bottom, which is the quantitative part.</a:t>
            </a:r>
          </a:p>
          <a:p/>
          <a:p>
            <a:r>
              <a:t>Applying the standard buck relation, delta-I equals V-out times one minus D, over L times switching frequency. On L1 that gives 0.56 amps of ripple, which is 28.2 percent of the 2 amp rating. On L2, 0.31 amps, 15.5 percent. Both sit inside the usual 20 to 40 percent design band, L2 conservatively so.</a:t>
            </a:r>
          </a:p>
          <a:p/>
          <a:p>
            <a:r>
              <a:t>Peak current is output plus half the ripple. L1 reaches 2.28 amps against a rated saturation of 2.5, so 8.7 percent margin. L2 reaches 2.16 against 3.0 amps, 28.2 percent margin. L1 is the tighter of the two and is the rail I would instrument first.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[01:00 - cumulative 07:10]</a:t>
            </a:r>
          </a:p>
          <a:p/>
          <a:p>
            <a:r>
              <a:t>The firmware is STM32Cube HAL with FreeRTOS. The application task initialises the sensor layer and then calls its service function on a 100 millisecond period, so 10 hertz acquisition.</a:t>
            </a:r>
          </a:p>
          <a:p/>
          <a:p>
            <a:r>
              <a:t>Put that against the 5 second telemetry period from the link budget and you get 50 acquisition cycles per transmitted frame. Which is the reason the frame carries a compacted snapshot rather than a sample stream: at 10 hertz you cannot transmit every sample through a surface-only link, so the vehicle logs locally and sends state.</a:t>
            </a:r>
          </a:p>
          <a:p/>
          <a:p>
            <a:r>
              <a:t>By module group: the inertial and environment sensors and the storage and housekeeping group are called from the main loop. The radio, the ESCs and the Bar30 have drivers written but sit outside the audited application path. The navigation aids and the safety inputs are skeletons.</a:t>
            </a:r>
          </a:p>
          <a:p/>
          <a:p>
            <a:r>
              <a:t>One defect I will state because it affects data quality: the CSV logger declares ten columns in its header and writes eighteen fields. That has to be reconciled before the logs are used quantitatively.</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[01:15 - cumulative 08:25]</a:t>
            </a:r>
          </a:p>
          <a:p/>
          <a:p>
            <a:r>
              <a:t>The corrections applied to the inherited schematic.</a:t>
            </a:r>
          </a:p>
          <a:p/>
          <a:p>
            <a:r>
              <a:t>The significant one: the 100 nanofarad decoupling capacitors on VDD, VDDA and VBAT were drawn in series on the supply rails rather than in parallel to ground. A capacitor in series is an open circuit at DC, so the 3.3 volt rail did not reach pins 11, 27, 50, 75, 100 and 71.</a:t>
            </a:r>
          </a:p>
          <a:p/>
          <a:p>
            <a:r>
              <a:t>Commit dd041de returns C12 to C18 to parallel between the rail and ground, restoring DC continuity while keeping the high-frequency decoupling the reference manual specifies.</a:t>
            </a:r>
          </a:p>
          <a:p/>
          <a:p>
            <a:r>
              <a:t>Two further corrections in the table: c66b3fb fixes the electrical type of the LSM6DSO ground pin, which was producing a conflict in the KiCad interconnection matrix, and 2be6335 removes redundant power flags.</a:t>
            </a:r>
          </a:p>
          <a:p/>
          <a:p>
            <a:r>
              <a:t>The measurable outcome is blocking ERC errors going from ten to zero under KiCad 10.0.5. Forty-two minor warnings remain and are listed in the report.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[01:10 - cumulative 09:35]</a:t>
            </a:r>
          </a:p>
          <a:p/>
          <a:p>
            <a:r>
              <a:t>The design rules and the margin they leave.</a:t>
            </a:r>
          </a:p>
          <a:p/>
          <a:p>
            <a:r>
              <a:t>The top table: the project rules were taken from the manufacturer's published tolerance grid and then tightened. Internal copper clearance 0.150 millimetres against a 0.100 capability, so 50 percent margin. Minimum track 0.127 against 0.100, 27 percent. Minimum via 0.300 against 0.200, 50 percent. The layout therefore keeps margin rather than sitting on the process floor.</a:t>
            </a:r>
          </a:p>
          <a:p/>
          <a:p>
            <a:r>
              <a:t>The second table lists the four deviations that were accepted, with their measured values. The largest, U5, is 0.1291 millimetres between I2C2_SCL and ground inside the package, which is below my own 0.150 rule but 29 percent above the 0.100 millimetre capability. U8's INT2 pad is 0.1472, so 47 percent above capability. U2's BST and SW pins are set by the manufacturer's footprint and cannot be changed. U6 is an unconnected pad with no electrical function.</a:t>
            </a:r>
          </a:p>
          <a:p/>
          <a:p>
            <a:r>
              <a:t>The point is that each of these sits above what the process can actually hold, and each is recorded in the project file with its justification. They were not removed by lowering the rule set globally, which would have hidden them.</a:t>
            </a:r>
          </a:p>
          <a:p/>
          <a:p>
            <a:r>
              <a:t>The board is 100.87 by 93.94 millimetres, two layers, 1 ounce copper, ENIG finish, IPC class 2, flying-probe tested.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[01:00 - cumulative 10:35]</a:t>
            </a:r>
          </a:p>
          <a:p/>
          <a:p>
            <a:r>
              <a:t>The power inductor selection, which was redone during PCBA preparation.</a:t>
            </a:r>
          </a:p>
          <a:p/>
          <a:p>
            <a:r>
              <a:t>The manufacturer's engineering review flagged that the terminations of the pre-selected parts exceeded the land pattern drawn on the board. You can see the overhang in the image: board pads in green, candidate terminations in red.</a:t>
            </a:r>
          </a:p>
          <a:p/>
          <a:p>
            <a:r>
              <a:t>The selection was redone with pad geometry as a first-order constraint rather than an afterthought, and checked against inductance, rated thermal current, saturation current and DC resistance. The result is the table: both positions on the WE-MAPI 4020 footprint, L1 at 4.7 microhenry with 2.5 amps saturation, L2 at 3.3 microhenry with 3.0 amps.</a:t>
            </a:r>
          </a:p>
          <a:p/>
          <a:p>
            <a:r>
              <a:t>L2 moves from the schematic value of 3.9 microhenry to 3.3. That raises its ripple from 0.26 to 0.31 amps, about 18 percent, and the peak stays at 72 percent of saturation. So the substitution costs nothing in margin.</a:t>
            </a:r>
          </a:p>
          <a:p/>
          <a:p>
            <a:r>
              <a:t>The general point is on the dark card: two components with identical 4 by 4 millimetre package outlines had incompatible pad geometry. Component selection is constrained by the land pattern before it is constrained by the electrical value.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[00:55 - cumulative 11:30]</a:t>
            </a:r>
          </a:p>
          <a:p/>
          <a:p>
            <a:r>
              <a:t>This slide states the working method for the second half of the internship.</a:t>
            </a:r>
          </a:p>
          <a:p/>
          <a:p>
            <a:r>
              <a:t>Board fabrication and assembly run on their own lead time. But the fleet layer does not depend on that board: the mission logic, the rendezvous behaviour, the frame format and its security properties are all specifiable and testable independently.</a:t>
            </a:r>
          </a:p>
          <a:p/>
          <a:p>
            <a:r>
              <a:t>So they were developed in parallel, in three steps. A deterministic simulator for the fleet logic, the rendezvous and the fault scenarios. A protocol specified to the physical constraint of the radio, with authenticated encryption and anti-replay. And then a hardware-in-the-loop bench running that same C source on two physical processors.</a:t>
            </a:r>
          </a:p>
          <a:p/>
          <a:p>
            <a:r>
              <a:t>The three next slides follow that order.</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[01:40 - cumulative 13:10]</a:t>
            </a:r>
          </a:p>
          <a:p/>
          <a:p>
            <a:r>
              <a:t>The simulator is a system-level model, not a hydrodynamic one. Its purpose is the fleet layer: mission distribution, the rendezvous, the link condition and the fault scenarios.</a:t>
            </a:r>
          </a:p>
          <a:p/>
          <a:p>
            <a:r>
              <a:t>The parameter table on the right is the reference configuration and it ties back to the coverage budget from the second slide. Five vehicles over a thousand by seven hundred metre zone, a 0.32 square kilometre survey polygon, synthetic bottom between 13 and 20 metres. Vehicles fly boustrophedon transects at 3 metres altitude with the 25 degree beam, giving the 1.33 metre footprint, on a 26 metre grid, for the 12.3 kilometres of track we computed earlier.</a:t>
            </a:r>
          </a:p>
          <a:p/>
          <a:p>
            <a:r>
              <a:t>Determinism: a fixed seed reproduces the terrain, the mission decisions and the packet outcomes. Two runs differ only where a parameter was deliberately changed, which is what makes a comparison between configurations meaningful.</a:t>
            </a:r>
          </a:p>
          <a:p/>
          <a:p>
            <a:r>
              <a:t>And the design point I would highlight, on the amber card: the supervision view shows received telemetry only. After a dive the station holds the last position received by radio and propagates the commanded route with growing uncertainty; it does not read the model's internal state. When delayed telemetry arrives at a rendezvous the samples are replayed from their timestamps rather than interpolated, so the reconstructed track is the one actually flown.</a:t>
            </a:r>
          </a:p>
          <a:p/>
          <a:p>
            <a:r>
              <a:t>That separation is what makes the supervision view a usable operator tool rather than a display of ground truth.</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[01:00 - cumulative 14:10]  &lt;&lt; HARD CAP: 60 SECONDS.</a:t>
            </a:r>
          </a:p>
          <a:p/>
          <a:p>
            <a:r>
              <a:t>&gt;&gt;&gt; LIVE. Started before the call opens. Do not launch it here.</a:t>
            </a:r>
          </a:p>
          <a:p/>
          <a:p>
            <a:r>
              <a:t>SETUP BEFORE THE CALL</a:t>
            </a:r>
          </a:p>
          <a:p>
            <a:r>
              <a:t>  cd simulator &amp;&amp; streamlit run app.py</a:t>
            </a:r>
          </a:p>
          <a:p>
            <a:r>
              <a:t>  Browser at http://localhost:8501, window sized for share, default seed, five AUV.</a:t>
            </a:r>
          </a:p>
          <a:p>
            <a:r>
              <a:t>  Advance the clock just past the first rendezvous so the grid is partly synchronised.</a:t>
            </a:r>
          </a:p>
          <a:p>
            <a:r>
              <a:t>  Deck on a second display.</a:t>
            </a:r>
          </a:p>
          <a:p/>
          <a:p>
            <a:r>
              <a:t>SEQUENCE - four steps, about 15 seconds each. Do not explore.</a:t>
            </a:r>
          </a:p>
          <a:p>
            <a:r>
              <a:t>  1. Mission view. State that this shows received telemetry only. Point at one last-known marker.</a:t>
            </a:r>
          </a:p>
          <a:p>
            <a:r>
              <a:t>  2. Advance the clock. Submerged vehicles stop updating: the adjacency rule, live.</a:t>
            </a:r>
          </a:p>
          <a:p>
            <a:r>
              <a:t>  3. Network view at a rendezvous. Edges appear; trace the multi-hop route to the base.</a:t>
            </a:r>
          </a:p>
          <a:p>
            <a:r>
              <a:t>  4. Security view. Tamper the AEAD tag once and show the rejection counter increment by category.</a:t>
            </a:r>
          </a:p>
          <a:p/>
          <a:p>
            <a:r>
              <a:t>  Then stop. Do not open Packet Log or Events unless asked.</a:t>
            </a:r>
          </a:p>
          <a:p/>
          <a:p>
            <a:r>
              <a:t>IF IT FAILS: 15 seconds maximum, then move to the backup slide.</a:t>
            </a:r>
          </a:p>
          <a:p/>
          <a:p>
            <a:r>
              <a:t>Say once: containerised behind a Caddy reverse proxy with a health endpoint, deployed to a VPS</a:t>
            </a:r>
          </a:p>
          <a:p>
            <a:r>
              <a:t>under the caimansim.fr domain; running here from a local instance.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[Skip unless the live instance failed. Budget 0:00.]</a:t>
            </a:r>
          </a:p>
          <a:p/>
          <a:p>
            <a:r>
              <a:t>Left: network view at a rendezvous. Right: the physical capture scenario.</a:t>
            </a:r>
          </a:p>
          <a:p/>
          <a:p>
            <a:r>
              <a:t>On the capture case: the key of the captured vehicle is revoked. The submerged peers receive no immediate recall, because there is no link to them. They continue to their next surface contact, take the authenticated return order there, and are rekeyed with the captured node excluded.</a:t>
            </a:r>
          </a:p>
          <a:p/>
          <a:p>
            <a:r>
              <a:t>The group key keeps the demonstration legible. A production system needs per-vehicle roots and pairwise traffic keys.</a:t>
            </a:r>
          </a:p>
          <a:p/>
          <a:p>
            <a:r>
              <a:t>Then continue to the frame format.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[01:35 - cumulative 15:45]</a:t>
            </a:r>
          </a:p>
          <a:p/>
          <a:p>
            <a:r>
              <a:t>The nRF24 has a fixed 32-byte physical payload, so the frame was specified to that limit rather than around it.</a:t>
            </a:r>
          </a:p>
          <a:p/>
          <a:p>
            <a:r>
              <a:t>The allocation is eight bytes of header, eight bytes of encrypted payload and sixteen bytes of Poly1305 tag. Into those 64 payload bits go x and y position, vehicle depth, bottom depth, battery, link quality, a leak flag and GNSS availability.</a:t>
            </a:r>
          </a:p>
          <a:p/>
          <a:p>
            <a:r>
              <a:t>The table gives the derived quantities. Application efficiency is 25 percent, eight useful bytes in thirty-two. The fragment index is four bits, so sixteen fragments maximum, which bounds the logical payload at 128 bytes. Frame air time is 256 bits at 1 megabit per second, so 256 microseconds; adding the nRF24 preamble, address and CRC takes it to about 320.</a:t>
            </a:r>
          </a:p>
          <a:p/>
          <a:p>
            <a:r>
              <a:t>Put that against the link budget from earlier: 256 microseconds of air time every 5 seconds per vehicle is why fleet occupancy came out at 0.026 percent.</a:t>
            </a:r>
          </a:p>
          <a:p/>
          <a:p>
            <a:r>
              <a:t>On the crypto: a 256-bit per-mission master key, with HKDF-SHA-256 deriving separate material for encryption, routing and the displayed fingerprint. ChaCha20-Poly1305 for the AEAD, chosen because this microcontroller has no AES accelerator and ChaCha is efficient and constant-time in software. A monotonic per-source sequence goes into the nonce, with an anti-replay window and a de-duplication cache at relays.</a:t>
            </a:r>
          </a:p>
          <a:p/>
          <a:p>
            <a:r>
              <a:t>And relays retransmit the 32 bytes unchanged: TTL and hop count are local policy, the ciphertext and its tag are never rewritten.</a:t>
            </a:r>
          </a:p>
          <a:p/>
          <a:p>
            <a:r>
              <a:t>IF ASKED about 25 percent: truncating the tag trades forgery resistance for payload, and authenticating a fragment group rather than each fragment would amortise it. The full tag was chosen because the objective was the security property, not throughput — and at 0.026 percent occupancy there is no throughput pressure to trade against.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[01:45 - cumulative 17:30]</a:t>
            </a:r>
          </a:p>
          <a:p/>
          <a:p>
            <a:r>
              <a:t>The protocol implementation running on physical processors.</a:t>
            </a:r>
          </a:p>
          <a:p/>
          <a:p>
            <a:r>
              <a:t>Two nodes. An ESP32-D0WDQ6 as vehicle R1, firmware built with ESP-IDF 6.0.2 and flashed over a CP210x serial link. A Raspberry Pi 4 Model B as R2, with the native executables rebuilt on the Pi itself using GCC 14.2 and Mbed TLS 3.6.5. The same portable C source compiles for both.</a:t>
            </a:r>
          </a:p>
          <a:p/>
          <a:p>
            <a:r>
              <a:t>The second table is the actual run from 16 August: five complete bidirectional cycles. R1 sends sequences 102762 through 102766, R2 answers with 32769 through 32773, and each transmission is acknowledged by the nRF24 model with a TX_DS.</a:t>
            </a:r>
          </a:p>
          <a:p/>
          <a:p>
            <a:r>
              <a:t>What matters in that table is not the count but the monotonicity: sequence numbers strictly increasing on both nodes is exactly the condition the anti-replay window relies on. Every frame is 32 bytes, authenticated and decoded at the far end.</a:t>
            </a:r>
          </a:p>
          <a:p/>
          <a:p>
            <a:r>
              <a:t>A detail worth mentioning: a sixth transmission from R1 ended in MAX_RT because R2 had exited after the five requested cycles. That is the missing-acknowledgement path being exercised, unintentionally but usefully.</a:t>
            </a:r>
          </a:p>
          <a:p/>
          <a:p>
            <a:r>
              <a:t>The scope of the bench, on the card at the bottom: the transport is Wi-Fi and UDP over an access point raised by the ESP32, and the nRF24 FIFO, interrupt and retransmission behaviour is modelled in software. So what the bench establishes is the protocol, the cryptographic operations and the bidirectional scheduling on real silicon.</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[01:00 - cumulative 18:30]</a:t>
            </a:r>
          </a:p>
          <a:p/>
          <a:p>
            <a:r>
              <a:t>The distribution of the three months.</a:t>
            </a:r>
          </a:p>
          <a:p/>
          <a:p>
            <a:r>
              <a:t>June: the exploratory STM32 and inertial bench, the schematic and PCB corrections, the production file and the order on the 23rd. July: the fleet simulator, the web supervision interface and the capture scenario. August: the HIL on two processors, the inductor re-selection after the PCBA review, and the report.</a:t>
            </a:r>
          </a:p>
          <a:p/>
          <a:p>
            <a:r>
              <a:t>What carries beyond the internship: the simulator and its test suite specify the expected fleet behaviour independently of any particular board, so they serve as a reference for the final firmware. The protocol implementation is portable C already running on two processors. And the HIL bench remains valid when the Wi-Fi transport is replaced by the nRF24 link.</a:t>
            </a:r>
          </a:p>
          <a:p/>
          <a:p>
            <a:r>
              <a:t>The bring-up sequence is the order I would follow. Continuity on the 3.3 volt and ground rails before any power is applied. Then a current-limited ramp with both rails measured under load. Then instrument the 5 volt rail current specifically, because L1 is the tighter margin at 8.7 percent. Then flash the STM32 and bring peripherals up one bus at a time.</a:t>
            </a:r>
          </a:p>
          <a:p/>
          <a:p>
            <a:r>
              <a:t>One procedural point I am keeping: design rules, justified exclusions and the exported production files are versioned alongside the schematic, so the order is reproducible from the repository.</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[00:30 - cumulative 19:00]</a:t>
            </a:r>
          </a:p>
          <a:p/>
          <a:p>
            <a:r>
              <a:t>To summarise. The internship produced a manufacturable production file for a board capable of operating in a fleet, a deterministic mission model that specifies the fleet behaviour, and a portable protocol implementation running authenticated exchanges on two processors.</a:t>
            </a:r>
          </a:p>
          <a:p/>
          <a:p>
            <a:r>
              <a:t>The figures on the strip are the ones that characterise the work: a 94.8 square centimetre two-layer board with 116 components, 672 watt-hours of nominal energy, 12.3 kilometres of survey track for the reference mission, and a 32-byte authenticated frame.</a:t>
            </a:r>
          </a:p>
          <a:p/>
          <a:p>
            <a:r>
              <a:t>Thank you. I am available for questions.</a:t>
            </a:r>
          </a:p>
          <a:p/>
          <a:p>
            <a:r>
              <a:t>Then stop talking.</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image" Target="../media/image9.png"/><Relationship Id="rId4" Type="http://schemas.openxmlformats.org/officeDocument/2006/relationships/image" Target="../media/image10.png"/><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image" Target="../media/image12.png"/><Relationship Id="rId4" Type="http://schemas.openxmlformats.org/officeDocument/2006/relationships/image" Target="../media/image13.png"/><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image" Target="../media/image15.pn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image" Target="../media/image18.png"/><Relationship Id="rId4" Type="http://schemas.openxmlformats.org/officeDocument/2006/relationships/image" Target="../media/image19.png"/><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 Id="rId3" Type="http://schemas.openxmlformats.org/officeDocument/2006/relationships/image" Target="../media/image22.png"/><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jp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 Id="rId3" Type="http://schemas.openxmlformats.org/officeDocument/2006/relationships/image" Target="../media/image8.png"/><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1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C2231"/>
        </a:solidFill>
        <a:effectLst/>
      </p:bgPr>
    </p:bg>
    <p:spTree>
      <p:nvGrpSpPr>
        <p:cNvPr id="1" name=""/>
        <p:cNvGrpSpPr/>
        <p:nvPr/>
      </p:nvGrpSpPr>
      <p:grpSpPr/>
      <p:sp>
        <p:nvSpPr>
          <p:cNvPr id="2" name="TextBox 1"/>
          <p:cNvSpPr txBox="1"/>
          <p:nvPr/>
        </p:nvSpPr>
        <p:spPr>
          <a:xfrm>
            <a:off x="548640" y="1554480"/>
            <a:ext cx="10058400" cy="914400"/>
          </a:xfrm>
          <a:prstGeom prst="rect">
            <a:avLst/>
          </a:prstGeom>
          <a:noFill/>
        </p:spPr>
        <p:txBody>
          <a:bodyPr wrap="square" lIns="0" rIns="0" tIns="0" bIns="0" anchor="ctr">
            <a:spAutoFit/>
          </a:bodyPr>
          <a:lstStyle/>
          <a:p>
            <a:pPr algn="l"/>
            <a:r>
              <a:rPr sz="4200" b="1" i="0">
                <a:solidFill>
                  <a:srgbClr val="FFFFFF"/>
                </a:solidFill>
                <a:latin typeface="Cambria"/>
              </a:rPr>
              <a:t>Design of a Subsurface Robot Swarm</a:t>
            </a:r>
          </a:p>
        </p:txBody>
      </p:sp>
      <p:sp>
        <p:nvSpPr>
          <p:cNvPr id="3" name="TextBox 2"/>
          <p:cNvSpPr txBox="1"/>
          <p:nvPr/>
        </p:nvSpPr>
        <p:spPr>
          <a:xfrm>
            <a:off x="548640" y="2542032"/>
            <a:ext cx="10058400" cy="384048"/>
          </a:xfrm>
          <a:prstGeom prst="rect">
            <a:avLst/>
          </a:prstGeom>
          <a:noFill/>
        </p:spPr>
        <p:txBody>
          <a:bodyPr wrap="square" lIns="0" rIns="0" tIns="0" bIns="0" anchor="ctr">
            <a:spAutoFit/>
          </a:bodyPr>
          <a:lstStyle/>
          <a:p>
            <a:pPr algn="l"/>
            <a:r>
              <a:rPr sz="1700" b="0" i="0">
                <a:solidFill>
                  <a:srgbClr val="E0A33E"/>
                </a:solidFill>
                <a:latin typeface="Calibri"/>
              </a:rPr>
              <a:t>Embedded electronics, simulation and prototyping of Caiman robots fleet</a:t>
            </a:r>
          </a:p>
        </p:txBody>
      </p:sp>
      <p:sp>
        <p:nvSpPr>
          <p:cNvPr id="4" name="TextBox 3"/>
          <p:cNvSpPr txBox="1"/>
          <p:nvPr/>
        </p:nvSpPr>
        <p:spPr>
          <a:xfrm>
            <a:off x="548640" y="3611880"/>
            <a:ext cx="10058400" cy="914400"/>
          </a:xfrm>
          <a:prstGeom prst="rect">
            <a:avLst/>
          </a:prstGeom>
          <a:noFill/>
        </p:spPr>
        <p:txBody>
          <a:bodyPr wrap="square" lIns="0" rIns="0" tIns="0" bIns="0" anchor="t">
            <a:spAutoFit/>
          </a:bodyPr>
          <a:lstStyle/>
          <a:p>
            <a:pPr algn="l">
              <a:lnSpc>
                <a:spcPct val="130000"/>
              </a:lnSpc>
            </a:pPr>
            <a:r>
              <a:rPr sz="1700" b="1" i="0">
                <a:solidFill>
                  <a:srgbClr val="FFFFFF"/>
                </a:solidFill>
                <a:latin typeface="Calibri"/>
              </a:rPr>
              <a:t>Joab da Silva Bezerra</a:t>
            </a:r>
          </a:p>
          <a:p>
            <a:pPr algn="l">
              <a:lnSpc>
                <a:spcPct val="130000"/>
              </a:lnSpc>
            </a:pPr>
            <a:r>
              <a:rPr sz="1300" b="0" i="0">
                <a:solidFill>
                  <a:srgbClr val="AFC4D2"/>
                </a:solidFill>
                <a:latin typeface="Calibri"/>
              </a:rPr>
              <a:t>CNRS – Lab-STICC (UMR 6285) · ROBEX · ENSTA Brest · June to August 2026</a:t>
            </a:r>
          </a:p>
        </p:txBody>
      </p:sp>
      <p:sp>
        <p:nvSpPr>
          <p:cNvPr id="5" name="TextBox 4"/>
          <p:cNvSpPr txBox="1"/>
          <p:nvPr/>
        </p:nvSpPr>
        <p:spPr>
          <a:xfrm>
            <a:off x="548640" y="4617720"/>
            <a:ext cx="10058400" cy="548640"/>
          </a:xfrm>
          <a:prstGeom prst="rect">
            <a:avLst/>
          </a:prstGeom>
          <a:noFill/>
        </p:spPr>
        <p:txBody>
          <a:bodyPr wrap="square" lIns="0" rIns="0" tIns="0" bIns="0" anchor="t">
            <a:spAutoFit/>
          </a:bodyPr>
          <a:lstStyle/>
          <a:p>
            <a:pPr algn="l">
              <a:lnSpc>
                <a:spcPct val="125000"/>
              </a:lnSpc>
            </a:pPr>
            <a:r>
              <a:rPr sz="1200" b="0" i="0">
                <a:solidFill>
                  <a:srgbClr val="5E7686"/>
                </a:solidFill>
                <a:latin typeface="Calibri"/>
              </a:rPr>
              <a:t>Supervisors: Franck Ruffier (CNRS) · Quentin Brateau</a:t>
            </a:r>
          </a:p>
          <a:p>
            <a:pPr algn="l">
              <a:lnSpc>
                <a:spcPct val="125000"/>
              </a:lnSpc>
            </a:pPr>
            <a:r>
              <a:rPr sz="1200" b="0" i="0">
                <a:solidFill>
                  <a:srgbClr val="5E7686"/>
                </a:solidFill>
                <a:latin typeface="Calibri"/>
              </a:rPr>
              <a:t>Academic tutor: Prof. Philippe Xu</a:t>
            </a:r>
          </a:p>
        </p:txBody>
      </p:sp>
      <p:sp>
        <p:nvSpPr>
          <p:cNvPr id="6" name="Rounded Rectangle 5"/>
          <p:cNvSpPr/>
          <p:nvPr/>
        </p:nvSpPr>
        <p:spPr>
          <a:xfrm>
            <a:off x="548640" y="5468112"/>
            <a:ext cx="2148840" cy="228600"/>
          </a:xfrm>
          <a:prstGeom prst="roundRect">
            <a:avLst>
              <a:gd name="adj" fmla="val 50000"/>
            </a:avLst>
          </a:prstGeom>
          <a:solidFill>
            <a:srgbClr val="E0A3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5468112"/>
            <a:ext cx="2148840" cy="228600"/>
          </a:xfrm>
          <a:prstGeom prst="rect">
            <a:avLst/>
          </a:prstGeom>
          <a:noFill/>
        </p:spPr>
        <p:txBody>
          <a:bodyPr wrap="square" lIns="0" rIns="0" tIns="0" bIns="0" anchor="ctr">
            <a:spAutoFit/>
          </a:bodyPr>
          <a:lstStyle/>
          <a:p>
            <a:pPr algn="ctr"/>
            <a:r>
              <a:rPr sz="850" b="1" i="0" spc="70">
                <a:solidFill>
                  <a:srgbClr val="0C2231"/>
                </a:solidFill>
                <a:latin typeface="Calibri"/>
              </a:rPr>
              <a:t>DEFENCE — 24 AUGUST 2026</a:t>
            </a:r>
          </a:p>
        </p:txBody>
      </p:sp>
      <p:pic>
        <p:nvPicPr>
          <p:cNvPr id="8" name="Picture 7" descr="labsticc_logo_officiel.png"/>
          <p:cNvPicPr>
            <a:picLocks noChangeAspect="1"/>
          </p:cNvPicPr>
          <p:nvPr/>
        </p:nvPicPr>
        <p:blipFill>
          <a:blip r:embed="rId2"/>
          <a:stretch>
            <a:fillRect/>
          </a:stretch>
        </p:blipFill>
        <p:spPr>
          <a:xfrm>
            <a:off x="8001000" y="5870448"/>
            <a:ext cx="1234440" cy="548640"/>
          </a:xfrm>
          <a:prstGeom prst="rect">
            <a:avLst/>
          </a:prstGeom>
        </p:spPr>
      </p:pic>
      <p:sp>
        <p:nvSpPr>
          <p:cNvPr id="9" name="Rounded Rectangle 8"/>
          <p:cNvSpPr/>
          <p:nvPr/>
        </p:nvSpPr>
        <p:spPr>
          <a:xfrm>
            <a:off x="9464040" y="5760720"/>
            <a:ext cx="2176272" cy="731520"/>
          </a:xfrm>
          <a:prstGeom prst="roundRect">
            <a:avLst>
              <a:gd name="adj" fmla="val 5624"/>
            </a:avLst>
          </a:prstGeom>
          <a:solidFill>
            <a:srgbClr val="FFFFFF"/>
          </a:solidFill>
          <a:ln>
            <a:noFill/>
          </a:ln>
          <a:effectLst>
            <a:outerShdw blurRad="88900" dist="12700" dir="5400000" rotWithShape="0">
              <a:srgbClr val="9FB3C0">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ensta_ip_paris_horizontal_bleu.png"/>
          <p:cNvPicPr>
            <a:picLocks noChangeAspect="1"/>
          </p:cNvPicPr>
          <p:nvPr/>
        </p:nvPicPr>
        <p:blipFill>
          <a:blip r:embed="rId3"/>
          <a:stretch>
            <a:fillRect/>
          </a:stretch>
        </p:blipFill>
        <p:spPr>
          <a:xfrm>
            <a:off x="9683496" y="5884164"/>
            <a:ext cx="1737360" cy="484632"/>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146304"/>
            <a:ext cx="11094415" cy="237744"/>
          </a:xfrm>
          <a:prstGeom prst="rect">
            <a:avLst/>
          </a:prstGeom>
          <a:noFill/>
        </p:spPr>
        <p:txBody>
          <a:bodyPr wrap="square" lIns="0" rIns="0" tIns="0" bIns="0" anchor="ctr">
            <a:spAutoFit/>
          </a:bodyPr>
          <a:lstStyle/>
          <a:p>
            <a:pPr algn="l"/>
            <a:r>
              <a:rPr sz="1000" b="1" i="0" spc="140">
                <a:solidFill>
                  <a:srgbClr val="1C7293"/>
                </a:solidFill>
                <a:latin typeface="Calibri"/>
              </a:rPr>
              <a:t>THE SYSTEM</a:t>
            </a:r>
          </a:p>
        </p:txBody>
      </p:sp>
      <p:sp>
        <p:nvSpPr>
          <p:cNvPr id="3" name="TextBox 2"/>
          <p:cNvSpPr txBox="1"/>
          <p:nvPr/>
        </p:nvSpPr>
        <p:spPr>
          <a:xfrm>
            <a:off x="548640" y="384048"/>
            <a:ext cx="11094415" cy="676656"/>
          </a:xfrm>
          <a:prstGeom prst="rect">
            <a:avLst/>
          </a:prstGeom>
          <a:noFill/>
        </p:spPr>
        <p:txBody>
          <a:bodyPr wrap="square" lIns="0" rIns="0" tIns="0" bIns="0" anchor="ctr">
            <a:spAutoFit/>
          </a:bodyPr>
          <a:lstStyle/>
          <a:p>
            <a:pPr algn="l"/>
            <a:r>
              <a:rPr sz="3300" b="1" i="0">
                <a:solidFill>
                  <a:srgbClr val="0C2231"/>
                </a:solidFill>
                <a:latin typeface="Cambria"/>
              </a:rPr>
              <a:t>Caiman: vehicle and coverage budget</a:t>
            </a:r>
          </a:p>
        </p:txBody>
      </p:sp>
      <p:sp>
        <p:nvSpPr>
          <p:cNvPr id="4" name="Oval 3"/>
          <p:cNvSpPr/>
          <p:nvPr/>
        </p:nvSpPr>
        <p:spPr>
          <a:xfrm>
            <a:off x="548640" y="1188720"/>
            <a:ext cx="420624" cy="420624"/>
          </a:xfrm>
          <a:prstGeom prst="ellipse">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survey.png"/>
          <p:cNvPicPr>
            <a:picLocks noChangeAspect="1"/>
          </p:cNvPicPr>
          <p:nvPr/>
        </p:nvPicPr>
        <p:blipFill>
          <a:blip r:embed="rId2"/>
          <a:stretch>
            <a:fillRect/>
          </a:stretch>
        </p:blipFill>
        <p:spPr>
          <a:xfrm>
            <a:off x="603321" y="1243401"/>
            <a:ext cx="311261" cy="311261"/>
          </a:xfrm>
          <a:prstGeom prst="rect">
            <a:avLst/>
          </a:prstGeom>
        </p:spPr>
      </p:pic>
      <p:sp>
        <p:nvSpPr>
          <p:cNvPr id="6" name="TextBox 5"/>
          <p:cNvSpPr txBox="1"/>
          <p:nvPr/>
        </p:nvSpPr>
        <p:spPr>
          <a:xfrm>
            <a:off x="1078992" y="1188720"/>
            <a:ext cx="1783080" cy="420624"/>
          </a:xfrm>
          <a:prstGeom prst="rect">
            <a:avLst/>
          </a:prstGeom>
          <a:noFill/>
        </p:spPr>
        <p:txBody>
          <a:bodyPr wrap="square" lIns="0" rIns="0" tIns="0" bIns="0" anchor="ctr">
            <a:spAutoFit/>
          </a:bodyPr>
          <a:lstStyle/>
          <a:p>
            <a:pPr algn="l">
              <a:lnSpc>
                <a:spcPct val="105000"/>
              </a:lnSpc>
            </a:pPr>
            <a:r>
              <a:rPr sz="1200" b="1" i="0">
                <a:solidFill>
                  <a:srgbClr val="065A82"/>
                </a:solidFill>
                <a:latin typeface="Calibri"/>
              </a:rPr>
              <a:t>Bathymetric survey</a:t>
            </a:r>
          </a:p>
        </p:txBody>
      </p:sp>
      <p:sp>
        <p:nvSpPr>
          <p:cNvPr id="7" name="Oval 6"/>
          <p:cNvSpPr/>
          <p:nvPr/>
        </p:nvSpPr>
        <p:spPr>
          <a:xfrm>
            <a:off x="2880360" y="1188720"/>
            <a:ext cx="420624" cy="420624"/>
          </a:xfrm>
          <a:prstGeom prst="ellipse">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plume.png"/>
          <p:cNvPicPr>
            <a:picLocks noChangeAspect="1"/>
          </p:cNvPicPr>
          <p:nvPr/>
        </p:nvPicPr>
        <p:blipFill>
          <a:blip r:embed="rId3"/>
          <a:stretch>
            <a:fillRect/>
          </a:stretch>
        </p:blipFill>
        <p:spPr>
          <a:xfrm>
            <a:off x="2935041" y="1243401"/>
            <a:ext cx="311261" cy="311261"/>
          </a:xfrm>
          <a:prstGeom prst="rect">
            <a:avLst/>
          </a:prstGeom>
        </p:spPr>
      </p:pic>
      <p:sp>
        <p:nvSpPr>
          <p:cNvPr id="9" name="TextBox 8"/>
          <p:cNvSpPr txBox="1"/>
          <p:nvPr/>
        </p:nvSpPr>
        <p:spPr>
          <a:xfrm>
            <a:off x="3410712" y="1188720"/>
            <a:ext cx="1783080" cy="420624"/>
          </a:xfrm>
          <a:prstGeom prst="rect">
            <a:avLst/>
          </a:prstGeom>
          <a:noFill/>
        </p:spPr>
        <p:txBody>
          <a:bodyPr wrap="square" lIns="0" rIns="0" tIns="0" bIns="0" anchor="ctr">
            <a:spAutoFit/>
          </a:bodyPr>
          <a:lstStyle/>
          <a:p>
            <a:pPr algn="l">
              <a:lnSpc>
                <a:spcPct val="105000"/>
              </a:lnSpc>
            </a:pPr>
            <a:r>
              <a:rPr sz="1200" b="1" i="0">
                <a:solidFill>
                  <a:srgbClr val="065A82"/>
                </a:solidFill>
                <a:latin typeface="Calibri"/>
              </a:rPr>
              <a:t>Plume tracking</a:t>
            </a:r>
          </a:p>
        </p:txBody>
      </p:sp>
      <p:sp>
        <p:nvSpPr>
          <p:cNvPr id="10" name="Oval 9"/>
          <p:cNvSpPr/>
          <p:nvPr/>
        </p:nvSpPr>
        <p:spPr>
          <a:xfrm>
            <a:off x="5212079" y="1188720"/>
            <a:ext cx="420624" cy="420624"/>
          </a:xfrm>
          <a:prstGeom prst="ellipse">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inspect.png"/>
          <p:cNvPicPr>
            <a:picLocks noChangeAspect="1"/>
          </p:cNvPicPr>
          <p:nvPr/>
        </p:nvPicPr>
        <p:blipFill>
          <a:blip r:embed="rId4"/>
          <a:stretch>
            <a:fillRect/>
          </a:stretch>
        </p:blipFill>
        <p:spPr>
          <a:xfrm>
            <a:off x="5266761" y="1243401"/>
            <a:ext cx="311261" cy="311261"/>
          </a:xfrm>
          <a:prstGeom prst="rect">
            <a:avLst/>
          </a:prstGeom>
        </p:spPr>
      </p:pic>
      <p:sp>
        <p:nvSpPr>
          <p:cNvPr id="12" name="TextBox 11"/>
          <p:cNvSpPr txBox="1"/>
          <p:nvPr/>
        </p:nvSpPr>
        <p:spPr>
          <a:xfrm>
            <a:off x="5742431" y="1188720"/>
            <a:ext cx="1783080" cy="420624"/>
          </a:xfrm>
          <a:prstGeom prst="rect">
            <a:avLst/>
          </a:prstGeom>
          <a:noFill/>
        </p:spPr>
        <p:txBody>
          <a:bodyPr wrap="square" lIns="0" rIns="0" tIns="0" bIns="0" anchor="ctr">
            <a:spAutoFit/>
          </a:bodyPr>
          <a:lstStyle/>
          <a:p>
            <a:pPr algn="l">
              <a:lnSpc>
                <a:spcPct val="105000"/>
              </a:lnSpc>
            </a:pPr>
            <a:r>
              <a:rPr sz="1200" b="1" i="0">
                <a:solidFill>
                  <a:srgbClr val="065A82"/>
                </a:solidFill>
                <a:latin typeface="Calibri"/>
              </a:rPr>
              <a:t>Structure inspection</a:t>
            </a:r>
          </a:p>
        </p:txBody>
      </p:sp>
      <p:sp>
        <p:nvSpPr>
          <p:cNvPr id="13" name="Rectangle 12"/>
          <p:cNvSpPr/>
          <p:nvPr/>
        </p:nvSpPr>
        <p:spPr>
          <a:xfrm>
            <a:off x="548640" y="1847088"/>
            <a:ext cx="5486400" cy="310896"/>
          </a:xfrm>
          <a:prstGeom prst="rect">
            <a:avLst/>
          </a:prstGeom>
          <a:solidFill>
            <a:srgbClr val="0C22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1792" y="1847088"/>
            <a:ext cx="3319272" cy="310896"/>
          </a:xfrm>
          <a:prstGeom prst="rect">
            <a:avLst/>
          </a:prstGeom>
          <a:noFill/>
        </p:spPr>
        <p:txBody>
          <a:bodyPr wrap="square" lIns="0" rIns="0" tIns="0" bIns="0" anchor="ctr">
            <a:spAutoFit/>
          </a:bodyPr>
          <a:lstStyle/>
          <a:p>
            <a:pPr algn="l"/>
            <a:r>
              <a:rPr sz="1000" b="1" i="0">
                <a:solidFill>
                  <a:srgbClr val="FFFFFF"/>
                </a:solidFill>
                <a:latin typeface="Calibri"/>
              </a:rPr>
              <a:t>Vehicle</a:t>
            </a:r>
          </a:p>
        </p:txBody>
      </p:sp>
      <p:sp>
        <p:nvSpPr>
          <p:cNvPr id="15" name="TextBox 14"/>
          <p:cNvSpPr txBox="1"/>
          <p:nvPr/>
        </p:nvSpPr>
        <p:spPr>
          <a:xfrm>
            <a:off x="4050791" y="1847088"/>
            <a:ext cx="1947672" cy="310896"/>
          </a:xfrm>
          <a:prstGeom prst="rect">
            <a:avLst/>
          </a:prstGeom>
          <a:noFill/>
        </p:spPr>
        <p:txBody>
          <a:bodyPr wrap="square" lIns="0" rIns="0" tIns="0" bIns="0" anchor="ctr">
            <a:spAutoFit/>
          </a:bodyPr>
          <a:lstStyle/>
          <a:p>
            <a:pPr algn="ctr"/>
            <a:r>
              <a:rPr sz="1000" b="1" i="0">
                <a:solidFill>
                  <a:srgbClr val="FFFFFF"/>
                </a:solidFill>
                <a:latin typeface="Calibri"/>
              </a:rPr>
              <a:t>Value</a:t>
            </a:r>
          </a:p>
        </p:txBody>
      </p:sp>
      <p:sp>
        <p:nvSpPr>
          <p:cNvPr id="16" name="Rectangle 15"/>
          <p:cNvSpPr/>
          <p:nvPr/>
        </p:nvSpPr>
        <p:spPr>
          <a:xfrm>
            <a:off x="548640" y="2157984"/>
            <a:ext cx="5486400" cy="365760"/>
          </a:xfrm>
          <a:prstGeom prst="rect">
            <a:avLst/>
          </a:prstGeom>
          <a:solidFill>
            <a:srgbClr val="EDF2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21792" y="2157984"/>
            <a:ext cx="3319272" cy="365760"/>
          </a:xfrm>
          <a:prstGeom prst="rect">
            <a:avLst/>
          </a:prstGeom>
          <a:noFill/>
        </p:spPr>
        <p:txBody>
          <a:bodyPr wrap="square" lIns="0" rIns="0" tIns="0" bIns="0" anchor="ctr">
            <a:spAutoFit/>
          </a:bodyPr>
          <a:lstStyle/>
          <a:p>
            <a:pPr algn="l"/>
            <a:r>
              <a:rPr sz="1100" b="1" i="0">
                <a:solidFill>
                  <a:srgbClr val="0C2231"/>
                </a:solidFill>
                <a:latin typeface="Calibri"/>
              </a:rPr>
              <a:t>Pressure hull</a:t>
            </a:r>
          </a:p>
        </p:txBody>
      </p:sp>
      <p:sp>
        <p:nvSpPr>
          <p:cNvPr id="18" name="TextBox 17"/>
          <p:cNvSpPr txBox="1"/>
          <p:nvPr/>
        </p:nvSpPr>
        <p:spPr>
          <a:xfrm>
            <a:off x="4050791" y="2157984"/>
            <a:ext cx="1947672" cy="365760"/>
          </a:xfrm>
          <a:prstGeom prst="rect">
            <a:avLst/>
          </a:prstGeom>
          <a:noFill/>
        </p:spPr>
        <p:txBody>
          <a:bodyPr wrap="square" lIns="0" rIns="0" tIns="0" bIns="0" anchor="ctr">
            <a:spAutoFit/>
          </a:bodyPr>
          <a:lstStyle/>
          <a:p>
            <a:pPr algn="ctr"/>
            <a:r>
              <a:rPr sz="1100" b="0" i="0">
                <a:solidFill>
                  <a:srgbClr val="1F3644"/>
                </a:solidFill>
                <a:latin typeface="Courier New"/>
              </a:rPr>
              <a:t>PMMA cylinder</a:t>
            </a:r>
          </a:p>
        </p:txBody>
      </p:sp>
      <p:sp>
        <p:nvSpPr>
          <p:cNvPr id="19" name="Rectangle 18"/>
          <p:cNvSpPr/>
          <p:nvPr/>
        </p:nvSpPr>
        <p:spPr>
          <a:xfrm>
            <a:off x="548640" y="2523744"/>
            <a:ext cx="5486400" cy="365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1792" y="2523744"/>
            <a:ext cx="3319272" cy="365760"/>
          </a:xfrm>
          <a:prstGeom prst="rect">
            <a:avLst/>
          </a:prstGeom>
          <a:noFill/>
        </p:spPr>
        <p:txBody>
          <a:bodyPr wrap="square" lIns="0" rIns="0" tIns="0" bIns="0" anchor="ctr">
            <a:spAutoFit/>
          </a:bodyPr>
          <a:lstStyle/>
          <a:p>
            <a:pPr algn="l"/>
            <a:r>
              <a:rPr sz="1100" b="1" i="0">
                <a:solidFill>
                  <a:srgbClr val="0C2231"/>
                </a:solidFill>
                <a:latin typeface="Calibri"/>
              </a:rPr>
              <a:t>Battery</a:t>
            </a:r>
          </a:p>
        </p:txBody>
      </p:sp>
      <p:sp>
        <p:nvSpPr>
          <p:cNvPr id="21" name="TextBox 20"/>
          <p:cNvSpPr txBox="1"/>
          <p:nvPr/>
        </p:nvSpPr>
        <p:spPr>
          <a:xfrm>
            <a:off x="4050791" y="2523744"/>
            <a:ext cx="1947672" cy="365760"/>
          </a:xfrm>
          <a:prstGeom prst="rect">
            <a:avLst/>
          </a:prstGeom>
          <a:noFill/>
        </p:spPr>
        <p:txBody>
          <a:bodyPr wrap="square" lIns="0" rIns="0" tIns="0" bIns="0" anchor="ctr">
            <a:spAutoFit/>
          </a:bodyPr>
          <a:lstStyle/>
          <a:p>
            <a:pPr algn="ctr"/>
            <a:r>
              <a:rPr sz="1100" b="0" i="0">
                <a:solidFill>
                  <a:srgbClr val="1F3644"/>
                </a:solidFill>
                <a:latin typeface="Courier New"/>
              </a:rPr>
              <a:t>12 V / 56 A·h</a:t>
            </a:r>
          </a:p>
        </p:txBody>
      </p:sp>
      <p:sp>
        <p:nvSpPr>
          <p:cNvPr id="22" name="Rectangle 21"/>
          <p:cNvSpPr/>
          <p:nvPr/>
        </p:nvSpPr>
        <p:spPr>
          <a:xfrm>
            <a:off x="548640" y="2889504"/>
            <a:ext cx="5486400" cy="365760"/>
          </a:xfrm>
          <a:prstGeom prst="rect">
            <a:avLst/>
          </a:prstGeom>
          <a:solidFill>
            <a:srgbClr val="EDF2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21792" y="2889504"/>
            <a:ext cx="3319272" cy="365760"/>
          </a:xfrm>
          <a:prstGeom prst="rect">
            <a:avLst/>
          </a:prstGeom>
          <a:noFill/>
        </p:spPr>
        <p:txBody>
          <a:bodyPr wrap="square" lIns="0" rIns="0" tIns="0" bIns="0" anchor="ctr">
            <a:spAutoFit/>
          </a:bodyPr>
          <a:lstStyle/>
          <a:p>
            <a:pPr algn="l"/>
            <a:r>
              <a:rPr sz="1100" b="1" i="0">
                <a:solidFill>
                  <a:srgbClr val="0C2231"/>
                </a:solidFill>
                <a:latin typeface="Calibri"/>
              </a:rPr>
              <a:t>Nominal energy</a:t>
            </a:r>
          </a:p>
        </p:txBody>
      </p:sp>
      <p:sp>
        <p:nvSpPr>
          <p:cNvPr id="24" name="TextBox 23"/>
          <p:cNvSpPr txBox="1"/>
          <p:nvPr/>
        </p:nvSpPr>
        <p:spPr>
          <a:xfrm>
            <a:off x="4050791" y="2889504"/>
            <a:ext cx="1947672" cy="365760"/>
          </a:xfrm>
          <a:prstGeom prst="rect">
            <a:avLst/>
          </a:prstGeom>
          <a:noFill/>
        </p:spPr>
        <p:txBody>
          <a:bodyPr wrap="square" lIns="0" rIns="0" tIns="0" bIns="0" anchor="ctr">
            <a:spAutoFit/>
          </a:bodyPr>
          <a:lstStyle/>
          <a:p>
            <a:pPr algn="ctr"/>
            <a:r>
              <a:rPr sz="1100" b="0" i="0">
                <a:solidFill>
                  <a:srgbClr val="1F3644"/>
                </a:solidFill>
                <a:latin typeface="Courier New"/>
              </a:rPr>
              <a:t>672 W·h</a:t>
            </a:r>
          </a:p>
        </p:txBody>
      </p:sp>
      <p:sp>
        <p:nvSpPr>
          <p:cNvPr id="25" name="Rectangle 24"/>
          <p:cNvSpPr/>
          <p:nvPr/>
        </p:nvSpPr>
        <p:spPr>
          <a:xfrm>
            <a:off x="548640" y="3255264"/>
            <a:ext cx="5486400" cy="365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21792" y="3255264"/>
            <a:ext cx="3319272" cy="365760"/>
          </a:xfrm>
          <a:prstGeom prst="rect">
            <a:avLst/>
          </a:prstGeom>
          <a:noFill/>
        </p:spPr>
        <p:txBody>
          <a:bodyPr wrap="square" lIns="0" rIns="0" tIns="0" bIns="0" anchor="ctr">
            <a:spAutoFit/>
          </a:bodyPr>
          <a:lstStyle/>
          <a:p>
            <a:pPr algn="l"/>
            <a:r>
              <a:rPr sz="1100" b="1" i="0">
                <a:solidFill>
                  <a:srgbClr val="0C2231"/>
                </a:solidFill>
                <a:latin typeface="Calibri"/>
              </a:rPr>
              <a:t>Propulsion</a:t>
            </a:r>
          </a:p>
        </p:txBody>
      </p:sp>
      <p:sp>
        <p:nvSpPr>
          <p:cNvPr id="27" name="TextBox 26"/>
          <p:cNvSpPr txBox="1"/>
          <p:nvPr/>
        </p:nvSpPr>
        <p:spPr>
          <a:xfrm>
            <a:off x="4050791" y="3255264"/>
            <a:ext cx="1947672" cy="365760"/>
          </a:xfrm>
          <a:prstGeom prst="rect">
            <a:avLst/>
          </a:prstGeom>
          <a:noFill/>
        </p:spPr>
        <p:txBody>
          <a:bodyPr wrap="square" lIns="0" rIns="0" tIns="0" bIns="0" anchor="ctr">
            <a:spAutoFit/>
          </a:bodyPr>
          <a:lstStyle/>
          <a:p>
            <a:pPr algn="ctr"/>
            <a:r>
              <a:rPr sz="1100" b="0" i="0">
                <a:solidFill>
                  <a:srgbClr val="1F3644"/>
                </a:solidFill>
                <a:latin typeface="Courier New"/>
              </a:rPr>
              <a:t>2 × T60</a:t>
            </a:r>
          </a:p>
        </p:txBody>
      </p:sp>
      <p:sp>
        <p:nvSpPr>
          <p:cNvPr id="28" name="Rectangle 27"/>
          <p:cNvSpPr/>
          <p:nvPr/>
        </p:nvSpPr>
        <p:spPr>
          <a:xfrm>
            <a:off x="548640" y="3621024"/>
            <a:ext cx="5486400" cy="365760"/>
          </a:xfrm>
          <a:prstGeom prst="rect">
            <a:avLst/>
          </a:prstGeom>
          <a:solidFill>
            <a:srgbClr val="EDF2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21792" y="3621024"/>
            <a:ext cx="3319272" cy="365760"/>
          </a:xfrm>
          <a:prstGeom prst="rect">
            <a:avLst/>
          </a:prstGeom>
          <a:noFill/>
        </p:spPr>
        <p:txBody>
          <a:bodyPr wrap="square" lIns="0" rIns="0" tIns="0" bIns="0" anchor="ctr">
            <a:spAutoFit/>
          </a:bodyPr>
          <a:lstStyle/>
          <a:p>
            <a:pPr algn="l"/>
            <a:r>
              <a:rPr sz="1100" b="1" i="0">
                <a:solidFill>
                  <a:srgbClr val="0C2231"/>
                </a:solidFill>
                <a:latin typeface="Calibri"/>
              </a:rPr>
              <a:t>Motor draw (mean)</a:t>
            </a:r>
          </a:p>
        </p:txBody>
      </p:sp>
      <p:sp>
        <p:nvSpPr>
          <p:cNvPr id="30" name="TextBox 29"/>
          <p:cNvSpPr txBox="1"/>
          <p:nvPr/>
        </p:nvSpPr>
        <p:spPr>
          <a:xfrm>
            <a:off x="4050791" y="3621024"/>
            <a:ext cx="1947672" cy="365760"/>
          </a:xfrm>
          <a:prstGeom prst="rect">
            <a:avLst/>
          </a:prstGeom>
          <a:noFill/>
        </p:spPr>
        <p:txBody>
          <a:bodyPr wrap="square" lIns="0" rIns="0" tIns="0" bIns="0" anchor="ctr">
            <a:spAutoFit/>
          </a:bodyPr>
          <a:lstStyle/>
          <a:p>
            <a:pPr algn="ctr"/>
            <a:r>
              <a:rPr sz="1100" b="0" i="0">
                <a:solidFill>
                  <a:srgbClr val="1F3644"/>
                </a:solidFill>
                <a:latin typeface="Courier New"/>
              </a:rPr>
              <a:t>15 A / 180 W</a:t>
            </a:r>
          </a:p>
        </p:txBody>
      </p:sp>
      <p:sp>
        <p:nvSpPr>
          <p:cNvPr id="31" name="Rectangle 30"/>
          <p:cNvSpPr/>
          <p:nvPr/>
        </p:nvSpPr>
        <p:spPr>
          <a:xfrm>
            <a:off x="548640" y="3986783"/>
            <a:ext cx="5486400" cy="365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21792" y="3986783"/>
            <a:ext cx="3319272" cy="365760"/>
          </a:xfrm>
          <a:prstGeom prst="rect">
            <a:avLst/>
          </a:prstGeom>
          <a:noFill/>
        </p:spPr>
        <p:txBody>
          <a:bodyPr wrap="square" lIns="0" rIns="0" tIns="0" bIns="0" anchor="ctr">
            <a:spAutoFit/>
          </a:bodyPr>
          <a:lstStyle/>
          <a:p>
            <a:pPr algn="l"/>
            <a:r>
              <a:rPr sz="1100" b="1" i="0">
                <a:solidFill>
                  <a:srgbClr val="0C2231"/>
                </a:solidFill>
                <a:latin typeface="Calibri"/>
              </a:rPr>
              <a:t>Echosounder</a:t>
            </a:r>
          </a:p>
        </p:txBody>
      </p:sp>
      <p:sp>
        <p:nvSpPr>
          <p:cNvPr id="33" name="TextBox 32"/>
          <p:cNvSpPr txBox="1"/>
          <p:nvPr/>
        </p:nvSpPr>
        <p:spPr>
          <a:xfrm>
            <a:off x="4050791" y="3986783"/>
            <a:ext cx="1947672" cy="365760"/>
          </a:xfrm>
          <a:prstGeom prst="rect">
            <a:avLst/>
          </a:prstGeom>
          <a:noFill/>
        </p:spPr>
        <p:txBody>
          <a:bodyPr wrap="square" lIns="0" rIns="0" tIns="0" bIns="0" anchor="ctr">
            <a:spAutoFit/>
          </a:bodyPr>
          <a:lstStyle/>
          <a:p>
            <a:pPr algn="ctr"/>
            <a:r>
              <a:rPr sz="1100" b="0" i="0">
                <a:solidFill>
                  <a:srgbClr val="1F3644"/>
                </a:solidFill>
                <a:latin typeface="Courier New"/>
              </a:rPr>
              <a:t>Ping2, 25°</a:t>
            </a:r>
          </a:p>
        </p:txBody>
      </p:sp>
      <p:sp>
        <p:nvSpPr>
          <p:cNvPr id="34" name="Rectangle 33"/>
          <p:cNvSpPr/>
          <p:nvPr/>
        </p:nvSpPr>
        <p:spPr>
          <a:xfrm>
            <a:off x="548640" y="4352544"/>
            <a:ext cx="5486400" cy="365760"/>
          </a:xfrm>
          <a:prstGeom prst="rect">
            <a:avLst/>
          </a:prstGeom>
          <a:solidFill>
            <a:srgbClr val="EDF2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21792" y="4352544"/>
            <a:ext cx="3319272" cy="365760"/>
          </a:xfrm>
          <a:prstGeom prst="rect">
            <a:avLst/>
          </a:prstGeom>
          <a:noFill/>
        </p:spPr>
        <p:txBody>
          <a:bodyPr wrap="square" lIns="0" rIns="0" tIns="0" bIns="0" anchor="ctr">
            <a:spAutoFit/>
          </a:bodyPr>
          <a:lstStyle/>
          <a:p>
            <a:pPr algn="l"/>
            <a:r>
              <a:rPr sz="1100" b="1" i="0">
                <a:solidFill>
                  <a:srgbClr val="0C2231"/>
                </a:solidFill>
                <a:latin typeface="Calibri"/>
              </a:rPr>
              <a:t>Depth sensor</a:t>
            </a:r>
          </a:p>
        </p:txBody>
      </p:sp>
      <p:sp>
        <p:nvSpPr>
          <p:cNvPr id="36" name="TextBox 35"/>
          <p:cNvSpPr txBox="1"/>
          <p:nvPr/>
        </p:nvSpPr>
        <p:spPr>
          <a:xfrm>
            <a:off x="4050791" y="4352544"/>
            <a:ext cx="1947672" cy="365760"/>
          </a:xfrm>
          <a:prstGeom prst="rect">
            <a:avLst/>
          </a:prstGeom>
          <a:noFill/>
        </p:spPr>
        <p:txBody>
          <a:bodyPr wrap="square" lIns="0" rIns="0" tIns="0" bIns="0" anchor="ctr">
            <a:spAutoFit/>
          </a:bodyPr>
          <a:lstStyle/>
          <a:p>
            <a:pPr algn="ctr"/>
            <a:r>
              <a:rPr sz="1100" b="0" i="0">
                <a:solidFill>
                  <a:srgbClr val="1F3644"/>
                </a:solidFill>
                <a:latin typeface="Courier New"/>
              </a:rPr>
              <a:t>Bar30</a:t>
            </a:r>
          </a:p>
        </p:txBody>
      </p:sp>
      <p:sp>
        <p:nvSpPr>
          <p:cNvPr id="37" name="Rectangle 36"/>
          <p:cNvSpPr/>
          <p:nvPr/>
        </p:nvSpPr>
        <p:spPr>
          <a:xfrm>
            <a:off x="548640" y="4718304"/>
            <a:ext cx="5486400" cy="365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21792" y="4718304"/>
            <a:ext cx="3319272" cy="365760"/>
          </a:xfrm>
          <a:prstGeom prst="rect">
            <a:avLst/>
          </a:prstGeom>
          <a:noFill/>
        </p:spPr>
        <p:txBody>
          <a:bodyPr wrap="square" lIns="0" rIns="0" tIns="0" bIns="0" anchor="ctr">
            <a:spAutoFit/>
          </a:bodyPr>
          <a:lstStyle/>
          <a:p>
            <a:pPr algn="l"/>
            <a:r>
              <a:rPr sz="1100" b="1" i="0">
                <a:solidFill>
                  <a:srgbClr val="0C2231"/>
                </a:solidFill>
                <a:latin typeface="Calibri"/>
              </a:rPr>
              <a:t>Surface radio</a:t>
            </a:r>
          </a:p>
        </p:txBody>
      </p:sp>
      <p:sp>
        <p:nvSpPr>
          <p:cNvPr id="39" name="TextBox 38"/>
          <p:cNvSpPr txBox="1"/>
          <p:nvPr/>
        </p:nvSpPr>
        <p:spPr>
          <a:xfrm>
            <a:off x="4050791" y="4718304"/>
            <a:ext cx="1947672" cy="365760"/>
          </a:xfrm>
          <a:prstGeom prst="rect">
            <a:avLst/>
          </a:prstGeom>
          <a:noFill/>
        </p:spPr>
        <p:txBody>
          <a:bodyPr wrap="square" lIns="0" rIns="0" tIns="0" bIns="0" anchor="ctr">
            <a:spAutoFit/>
          </a:bodyPr>
          <a:lstStyle/>
          <a:p>
            <a:pPr algn="ctr"/>
            <a:r>
              <a:rPr sz="1100" b="0" i="0">
                <a:solidFill>
                  <a:srgbClr val="1F3644"/>
                </a:solidFill>
                <a:latin typeface="Courier New"/>
              </a:rPr>
              <a:t>nRF24, 250 m</a:t>
            </a:r>
          </a:p>
        </p:txBody>
      </p:sp>
      <p:sp>
        <p:nvSpPr>
          <p:cNvPr id="40" name="TextBox 39"/>
          <p:cNvSpPr txBox="1"/>
          <p:nvPr/>
        </p:nvSpPr>
        <p:spPr>
          <a:xfrm>
            <a:off x="548640" y="5266944"/>
            <a:ext cx="5486400" cy="310896"/>
          </a:xfrm>
          <a:prstGeom prst="rect">
            <a:avLst/>
          </a:prstGeom>
          <a:noFill/>
        </p:spPr>
        <p:txBody>
          <a:bodyPr wrap="square" lIns="0" rIns="0" tIns="0" bIns="0" anchor="t">
            <a:spAutoFit/>
          </a:bodyPr>
          <a:lstStyle/>
          <a:p>
            <a:pPr algn="l">
              <a:lnSpc>
                <a:spcPct val="110000"/>
              </a:lnSpc>
            </a:pPr>
            <a:r>
              <a:rPr sz="1050" b="0" i="1">
                <a:solidFill>
                  <a:srgbClr val="5E7686"/>
                </a:solidFill>
                <a:latin typeface="Calibri"/>
              </a:rPr>
              <a:t>Ideal motors-only endurance 56 / 15 = 3.73 h. Modelling assumption, not a measured figure.</a:t>
            </a:r>
          </a:p>
        </p:txBody>
      </p:sp>
      <p:sp>
        <p:nvSpPr>
          <p:cNvPr id="41" name="Rounded Rectangle 40"/>
          <p:cNvSpPr/>
          <p:nvPr/>
        </p:nvSpPr>
        <p:spPr>
          <a:xfrm>
            <a:off x="6446520" y="1847088"/>
            <a:ext cx="5166360" cy="3913632"/>
          </a:xfrm>
          <a:prstGeom prst="roundRect">
            <a:avLst>
              <a:gd name="adj" fmla="val 1051"/>
            </a:avLst>
          </a:prstGeom>
          <a:solidFill>
            <a:srgbClr val="E2EBF0"/>
          </a:solidFill>
          <a:ln>
            <a:noFill/>
          </a:ln>
          <a:effectLst>
            <a:outerShdw blurRad="88900" dist="12700" dir="5400000" rotWithShape="0">
              <a:srgbClr val="9FB3C0">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693408" y="1975104"/>
            <a:ext cx="4663440" cy="310896"/>
          </a:xfrm>
          <a:prstGeom prst="rect">
            <a:avLst/>
          </a:prstGeom>
          <a:noFill/>
        </p:spPr>
        <p:txBody>
          <a:bodyPr wrap="square" lIns="0" rIns="0" tIns="0" bIns="0" anchor="t">
            <a:spAutoFit/>
          </a:bodyPr>
          <a:lstStyle/>
          <a:p>
            <a:pPr algn="l"/>
            <a:r>
              <a:rPr sz="1450" b="1" i="0">
                <a:solidFill>
                  <a:srgbClr val="065A82"/>
                </a:solidFill>
                <a:latin typeface="Calibri"/>
              </a:rPr>
              <a:t>Why a fleet, in numbers</a:t>
            </a:r>
          </a:p>
        </p:txBody>
      </p:sp>
      <p:sp>
        <p:nvSpPr>
          <p:cNvPr id="43" name="TextBox 42"/>
          <p:cNvSpPr txBox="1"/>
          <p:nvPr/>
        </p:nvSpPr>
        <p:spPr>
          <a:xfrm>
            <a:off x="6693408" y="2340864"/>
            <a:ext cx="4663440" cy="274320"/>
          </a:xfrm>
          <a:prstGeom prst="rect">
            <a:avLst/>
          </a:prstGeom>
          <a:noFill/>
        </p:spPr>
        <p:txBody>
          <a:bodyPr wrap="square" lIns="0" rIns="0" tIns="0" bIns="0" anchor="t">
            <a:spAutoFit/>
          </a:bodyPr>
          <a:lstStyle/>
          <a:p>
            <a:pPr algn="l"/>
            <a:r>
              <a:rPr sz="1150" b="0" i="0">
                <a:solidFill>
                  <a:srgbClr val="1F3644"/>
                </a:solidFill>
                <a:latin typeface="Calibri"/>
              </a:rPr>
              <a:t>Single-beam footprint, h = 3 m, β = 25°:</a:t>
            </a:r>
          </a:p>
        </p:txBody>
      </p:sp>
      <p:sp>
        <p:nvSpPr>
          <p:cNvPr id="44" name="TextBox 43"/>
          <p:cNvSpPr txBox="1"/>
          <p:nvPr/>
        </p:nvSpPr>
        <p:spPr>
          <a:xfrm>
            <a:off x="6693408" y="2633472"/>
            <a:ext cx="3171139" cy="292608"/>
          </a:xfrm>
          <a:prstGeom prst="rect">
            <a:avLst/>
          </a:prstGeom>
          <a:noFill/>
        </p:spPr>
        <p:txBody>
          <a:bodyPr wrap="square" lIns="0" rIns="0" tIns="0" bIns="0" anchor="ctr">
            <a:spAutoFit/>
          </a:bodyPr>
          <a:lstStyle/>
          <a:p>
            <a:pPr algn="l"/>
            <a:r>
              <a:rPr sz="1200" b="0" i="0">
                <a:solidFill>
                  <a:srgbClr val="1F3644"/>
                </a:solidFill>
                <a:latin typeface="Courier New"/>
              </a:rPr>
              <a:t>d = 2h·tan(β/2)</a:t>
            </a:r>
          </a:p>
        </p:txBody>
      </p:sp>
      <p:sp>
        <p:nvSpPr>
          <p:cNvPr id="45" name="TextBox 44"/>
          <p:cNvSpPr txBox="1"/>
          <p:nvPr/>
        </p:nvSpPr>
        <p:spPr>
          <a:xfrm>
            <a:off x="9864547" y="2633472"/>
            <a:ext cx="1492300" cy="292608"/>
          </a:xfrm>
          <a:prstGeom prst="rect">
            <a:avLst/>
          </a:prstGeom>
          <a:noFill/>
        </p:spPr>
        <p:txBody>
          <a:bodyPr wrap="square" lIns="0" rIns="0" tIns="0" bIns="0" anchor="ctr">
            <a:spAutoFit/>
          </a:bodyPr>
          <a:lstStyle/>
          <a:p>
            <a:pPr algn="r"/>
            <a:r>
              <a:rPr sz="1300" b="1" i="0">
                <a:solidFill>
                  <a:srgbClr val="065A82"/>
                </a:solidFill>
                <a:latin typeface="Courier New"/>
              </a:rPr>
              <a:t>1.33 m</a:t>
            </a:r>
          </a:p>
        </p:txBody>
      </p:sp>
      <p:sp>
        <p:nvSpPr>
          <p:cNvPr id="46" name="TextBox 45"/>
          <p:cNvSpPr txBox="1"/>
          <p:nvPr/>
        </p:nvSpPr>
        <p:spPr>
          <a:xfrm>
            <a:off x="6693408" y="3035808"/>
            <a:ext cx="4663440" cy="274320"/>
          </a:xfrm>
          <a:prstGeom prst="rect">
            <a:avLst/>
          </a:prstGeom>
          <a:noFill/>
        </p:spPr>
        <p:txBody>
          <a:bodyPr wrap="square" lIns="0" rIns="0" tIns="0" bIns="0" anchor="t">
            <a:spAutoFit/>
          </a:bodyPr>
          <a:lstStyle/>
          <a:p>
            <a:pPr algn="l"/>
            <a:r>
              <a:rPr sz="1150" b="0" i="0">
                <a:solidFill>
                  <a:srgbClr val="1F3644"/>
                </a:solidFill>
                <a:latin typeface="Calibri"/>
              </a:rPr>
              <a:t>Track length over the 0.32 km² polygon:</a:t>
            </a:r>
          </a:p>
        </p:txBody>
      </p:sp>
      <p:sp>
        <p:nvSpPr>
          <p:cNvPr id="47" name="TextBox 46"/>
          <p:cNvSpPr txBox="1"/>
          <p:nvPr/>
        </p:nvSpPr>
        <p:spPr>
          <a:xfrm>
            <a:off x="6693408" y="3328416"/>
            <a:ext cx="3171139" cy="292608"/>
          </a:xfrm>
          <a:prstGeom prst="rect">
            <a:avLst/>
          </a:prstGeom>
          <a:noFill/>
        </p:spPr>
        <p:txBody>
          <a:bodyPr wrap="square" lIns="0" rIns="0" tIns="0" bIns="0" anchor="ctr">
            <a:spAutoFit/>
          </a:bodyPr>
          <a:lstStyle/>
          <a:p>
            <a:pPr algn="l"/>
            <a:r>
              <a:rPr sz="1200" b="0" i="0">
                <a:solidFill>
                  <a:srgbClr val="1F3644"/>
                </a:solidFill>
                <a:latin typeface="Courier New"/>
              </a:rPr>
              <a:t>full cover: 0.32 km² / 1.33 m</a:t>
            </a:r>
          </a:p>
        </p:txBody>
      </p:sp>
      <p:sp>
        <p:nvSpPr>
          <p:cNvPr id="48" name="TextBox 47"/>
          <p:cNvSpPr txBox="1"/>
          <p:nvPr/>
        </p:nvSpPr>
        <p:spPr>
          <a:xfrm>
            <a:off x="9864547" y="3328416"/>
            <a:ext cx="1492300" cy="292608"/>
          </a:xfrm>
          <a:prstGeom prst="rect">
            <a:avLst/>
          </a:prstGeom>
          <a:noFill/>
        </p:spPr>
        <p:txBody>
          <a:bodyPr wrap="square" lIns="0" rIns="0" tIns="0" bIns="0" anchor="ctr">
            <a:spAutoFit/>
          </a:bodyPr>
          <a:lstStyle/>
          <a:p>
            <a:pPr algn="r"/>
            <a:r>
              <a:rPr sz="1300" b="1" i="0">
                <a:solidFill>
                  <a:srgbClr val="065A82"/>
                </a:solidFill>
                <a:latin typeface="Courier New"/>
              </a:rPr>
              <a:t>240.6 km</a:t>
            </a:r>
          </a:p>
        </p:txBody>
      </p:sp>
      <p:sp>
        <p:nvSpPr>
          <p:cNvPr id="49" name="TextBox 48"/>
          <p:cNvSpPr txBox="1"/>
          <p:nvPr/>
        </p:nvSpPr>
        <p:spPr>
          <a:xfrm>
            <a:off x="6693408" y="3657600"/>
            <a:ext cx="3171139" cy="292608"/>
          </a:xfrm>
          <a:prstGeom prst="rect">
            <a:avLst/>
          </a:prstGeom>
          <a:noFill/>
        </p:spPr>
        <p:txBody>
          <a:bodyPr wrap="square" lIns="0" rIns="0" tIns="0" bIns="0" anchor="ctr">
            <a:spAutoFit/>
          </a:bodyPr>
          <a:lstStyle/>
          <a:p>
            <a:pPr algn="l"/>
            <a:r>
              <a:rPr sz="1200" b="0" i="0">
                <a:solidFill>
                  <a:srgbClr val="1F3644"/>
                </a:solidFill>
                <a:latin typeface="Courier New"/>
              </a:rPr>
              <a:t>recon grid: 0.32 km² / 26 m</a:t>
            </a:r>
          </a:p>
        </p:txBody>
      </p:sp>
      <p:sp>
        <p:nvSpPr>
          <p:cNvPr id="50" name="TextBox 49"/>
          <p:cNvSpPr txBox="1"/>
          <p:nvPr/>
        </p:nvSpPr>
        <p:spPr>
          <a:xfrm>
            <a:off x="9864547" y="3657600"/>
            <a:ext cx="1492300" cy="292608"/>
          </a:xfrm>
          <a:prstGeom prst="rect">
            <a:avLst/>
          </a:prstGeom>
          <a:noFill/>
        </p:spPr>
        <p:txBody>
          <a:bodyPr wrap="square" lIns="0" rIns="0" tIns="0" bIns="0" anchor="ctr">
            <a:spAutoFit/>
          </a:bodyPr>
          <a:lstStyle/>
          <a:p>
            <a:pPr algn="r"/>
            <a:r>
              <a:rPr sz="1300" b="1" i="0">
                <a:solidFill>
                  <a:srgbClr val="065A82"/>
                </a:solidFill>
                <a:latin typeface="Courier New"/>
              </a:rPr>
              <a:t>12.3 km</a:t>
            </a:r>
          </a:p>
        </p:txBody>
      </p:sp>
      <p:sp>
        <p:nvSpPr>
          <p:cNvPr id="51" name="Rounded Rectangle 50"/>
          <p:cNvSpPr/>
          <p:nvPr/>
        </p:nvSpPr>
        <p:spPr>
          <a:xfrm>
            <a:off x="6693408" y="4096512"/>
            <a:ext cx="4663440" cy="676656"/>
          </a:xfrm>
          <a:prstGeom prst="roundRect">
            <a:avLst>
              <a:gd name="adj" fmla="val 6081"/>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6858000" y="4169663"/>
            <a:ext cx="4334256" cy="530352"/>
          </a:xfrm>
          <a:prstGeom prst="rect">
            <a:avLst/>
          </a:prstGeom>
          <a:noFill/>
        </p:spPr>
        <p:txBody>
          <a:bodyPr wrap="square" lIns="0" rIns="0" tIns="0" bIns="0" anchor="ctr">
            <a:spAutoFit/>
          </a:bodyPr>
          <a:lstStyle/>
          <a:p>
            <a:pPr algn="l">
              <a:lnSpc>
                <a:spcPct val="110000"/>
              </a:lnSpc>
            </a:pPr>
            <a:r>
              <a:rPr sz="2200" b="1" i="0">
                <a:solidFill>
                  <a:srgbClr val="9E3B3E"/>
                </a:solidFill>
                <a:latin typeface="Cambria"/>
              </a:rPr>
              <a:t>19.5×</a:t>
            </a:r>
            <a:r>
              <a:rPr sz="1150" b="0" i="0">
                <a:solidFill>
                  <a:srgbClr val="1F3644"/>
                </a:solidFill>
                <a:latin typeface="Calibri"/>
              </a:rPr>
              <a:t>   fewer track-kilometres for the
reconnaissance grid</a:t>
            </a:r>
          </a:p>
        </p:txBody>
      </p:sp>
      <p:sp>
        <p:nvSpPr>
          <p:cNvPr id="53" name="TextBox 52"/>
          <p:cNvSpPr txBox="1"/>
          <p:nvPr/>
        </p:nvSpPr>
        <p:spPr>
          <a:xfrm>
            <a:off x="6693408" y="4901184"/>
            <a:ext cx="4663440" cy="822960"/>
          </a:xfrm>
          <a:prstGeom prst="rect">
            <a:avLst/>
          </a:prstGeom>
          <a:noFill/>
        </p:spPr>
        <p:txBody>
          <a:bodyPr wrap="square" lIns="0" rIns="0" tIns="0" bIns="0" anchor="t">
            <a:spAutoFit/>
          </a:bodyPr>
          <a:lstStyle/>
          <a:p>
            <a:pPr algn="l">
              <a:lnSpc>
                <a:spcPct val="115000"/>
              </a:lnSpc>
            </a:pPr>
            <a:r>
              <a:rPr sz="1150" b="0" i="0">
                <a:solidFill>
                  <a:srgbClr val="1F3644"/>
                </a:solidFill>
                <a:latin typeface="Calibri"/>
              </a:rPr>
              <a:t>Split across 5 vehicles: 2.46 km each, against 48.1 km each for full insonification. That ratio is what makes a fleet of cheap units the workable option.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146304"/>
            <a:ext cx="11094415" cy="237744"/>
          </a:xfrm>
          <a:prstGeom prst="rect">
            <a:avLst/>
          </a:prstGeom>
          <a:noFill/>
        </p:spPr>
        <p:txBody>
          <a:bodyPr wrap="square" lIns="0" rIns="0" tIns="0" bIns="0" anchor="ctr">
            <a:spAutoFit/>
          </a:bodyPr>
          <a:lstStyle/>
          <a:p>
            <a:pPr algn="l"/>
            <a:r>
              <a:rPr sz="1000" b="1" i="0" spc="140">
                <a:solidFill>
                  <a:srgbClr val="1C7293"/>
                </a:solidFill>
                <a:latin typeface="Calibri"/>
              </a:rPr>
              <a:t>COMMUNICATION CONSTRAINT</a:t>
            </a:r>
          </a:p>
        </p:txBody>
      </p:sp>
      <p:sp>
        <p:nvSpPr>
          <p:cNvPr id="3" name="TextBox 2"/>
          <p:cNvSpPr txBox="1"/>
          <p:nvPr/>
        </p:nvSpPr>
        <p:spPr>
          <a:xfrm>
            <a:off x="548640" y="384048"/>
            <a:ext cx="11094415" cy="676656"/>
          </a:xfrm>
          <a:prstGeom prst="rect">
            <a:avLst/>
          </a:prstGeom>
          <a:noFill/>
        </p:spPr>
        <p:txBody>
          <a:bodyPr wrap="square" lIns="0" rIns="0" tIns="0" bIns="0" anchor="ctr">
            <a:spAutoFit/>
          </a:bodyPr>
          <a:lstStyle/>
          <a:p>
            <a:pPr algn="l"/>
            <a:r>
              <a:rPr sz="3300" b="1" i="0">
                <a:solidFill>
                  <a:srgbClr val="0C2231"/>
                </a:solidFill>
                <a:latin typeface="Cambria"/>
              </a:rPr>
              <a:t>No usable RF link in immersion</a:t>
            </a:r>
          </a:p>
        </p:txBody>
      </p:sp>
      <p:sp>
        <p:nvSpPr>
          <p:cNvPr id="4" name="Oval 3"/>
          <p:cNvSpPr/>
          <p:nvPr/>
        </p:nvSpPr>
        <p:spPr>
          <a:xfrm>
            <a:off x="548640" y="1325880"/>
            <a:ext cx="566928" cy="566928"/>
          </a:xfrm>
          <a:prstGeom prst="ellipse">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no_radio.png"/>
          <p:cNvPicPr>
            <a:picLocks noChangeAspect="1"/>
          </p:cNvPicPr>
          <p:nvPr/>
        </p:nvPicPr>
        <p:blipFill>
          <a:blip r:embed="rId2"/>
          <a:stretch>
            <a:fillRect/>
          </a:stretch>
        </p:blipFill>
        <p:spPr>
          <a:xfrm>
            <a:off x="622340" y="1399580"/>
            <a:ext cx="419526" cy="419526"/>
          </a:xfrm>
          <a:prstGeom prst="rect">
            <a:avLst/>
          </a:prstGeom>
        </p:spPr>
      </p:pic>
      <p:sp>
        <p:nvSpPr>
          <p:cNvPr id="6" name="TextBox 5"/>
          <p:cNvSpPr txBox="1"/>
          <p:nvPr/>
        </p:nvSpPr>
        <p:spPr>
          <a:xfrm>
            <a:off x="1298448" y="1307592"/>
            <a:ext cx="5650992" cy="310896"/>
          </a:xfrm>
          <a:prstGeom prst="rect">
            <a:avLst/>
          </a:prstGeom>
          <a:noFill/>
        </p:spPr>
        <p:txBody>
          <a:bodyPr wrap="square" lIns="0" rIns="0" tIns="0" bIns="0" anchor="ctr">
            <a:spAutoFit/>
          </a:bodyPr>
          <a:lstStyle/>
          <a:p>
            <a:pPr algn="l"/>
            <a:r>
              <a:rPr sz="1450" b="1" i="0">
                <a:solidFill>
                  <a:srgbClr val="065A82"/>
                </a:solidFill>
                <a:latin typeface="Calibri"/>
              </a:rPr>
              <a:t>RF attenuation in seawater</a:t>
            </a:r>
          </a:p>
        </p:txBody>
      </p:sp>
      <p:sp>
        <p:nvSpPr>
          <p:cNvPr id="7" name="TextBox 6"/>
          <p:cNvSpPr txBox="1"/>
          <p:nvPr/>
        </p:nvSpPr>
        <p:spPr>
          <a:xfrm>
            <a:off x="1298448" y="1636776"/>
            <a:ext cx="5650992" cy="457200"/>
          </a:xfrm>
          <a:prstGeom prst="rect">
            <a:avLst/>
          </a:prstGeom>
          <a:noFill/>
        </p:spPr>
        <p:txBody>
          <a:bodyPr wrap="square" lIns="0" rIns="0" tIns="0" bIns="0" anchor="t">
            <a:spAutoFit/>
          </a:bodyPr>
          <a:lstStyle/>
          <a:p>
            <a:pPr algn="l">
              <a:lnSpc>
                <a:spcPct val="106000"/>
              </a:lnSpc>
            </a:pPr>
            <a:r>
              <a:rPr sz="1150" b="0" i="0">
                <a:solidFill>
                  <a:srgbClr val="1F3644"/>
                </a:solidFill>
                <a:latin typeface="Calibri"/>
              </a:rPr>
              <a:t>Absorption over tens of centimetres rules out Wi-Fi and mesh networking.</a:t>
            </a:r>
          </a:p>
        </p:txBody>
      </p:sp>
      <p:sp>
        <p:nvSpPr>
          <p:cNvPr id="8" name="Oval 7"/>
          <p:cNvSpPr/>
          <p:nvPr/>
        </p:nvSpPr>
        <p:spPr>
          <a:xfrm>
            <a:off x="548640" y="2286000"/>
            <a:ext cx="566928" cy="566928"/>
          </a:xfrm>
          <a:prstGeom prst="ellipse">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sub.png"/>
          <p:cNvPicPr>
            <a:picLocks noChangeAspect="1"/>
          </p:cNvPicPr>
          <p:nvPr/>
        </p:nvPicPr>
        <p:blipFill>
          <a:blip r:embed="rId3"/>
          <a:stretch>
            <a:fillRect/>
          </a:stretch>
        </p:blipFill>
        <p:spPr>
          <a:xfrm>
            <a:off x="622340" y="2359700"/>
            <a:ext cx="419526" cy="419526"/>
          </a:xfrm>
          <a:prstGeom prst="rect">
            <a:avLst/>
          </a:prstGeom>
        </p:spPr>
      </p:pic>
      <p:sp>
        <p:nvSpPr>
          <p:cNvPr id="10" name="TextBox 9"/>
          <p:cNvSpPr txBox="1"/>
          <p:nvPr/>
        </p:nvSpPr>
        <p:spPr>
          <a:xfrm>
            <a:off x="1298448" y="2267712"/>
            <a:ext cx="5650992" cy="310896"/>
          </a:xfrm>
          <a:prstGeom prst="rect">
            <a:avLst/>
          </a:prstGeom>
          <a:noFill/>
        </p:spPr>
        <p:txBody>
          <a:bodyPr wrap="square" lIns="0" rIns="0" tIns="0" bIns="0" anchor="ctr">
            <a:spAutoFit/>
          </a:bodyPr>
          <a:lstStyle/>
          <a:p>
            <a:pPr algn="l"/>
            <a:r>
              <a:rPr sz="1450" b="1" i="0">
                <a:solidFill>
                  <a:srgbClr val="065A82"/>
                </a:solidFill>
                <a:latin typeface="Calibri"/>
              </a:rPr>
              <a:t>Store-and-forward operation</a:t>
            </a:r>
          </a:p>
        </p:txBody>
      </p:sp>
      <p:sp>
        <p:nvSpPr>
          <p:cNvPr id="11" name="TextBox 10"/>
          <p:cNvSpPr txBox="1"/>
          <p:nvPr/>
        </p:nvSpPr>
        <p:spPr>
          <a:xfrm>
            <a:off x="1298448" y="2596896"/>
            <a:ext cx="5650992" cy="457200"/>
          </a:xfrm>
          <a:prstGeom prst="rect">
            <a:avLst/>
          </a:prstGeom>
          <a:noFill/>
        </p:spPr>
        <p:txBody>
          <a:bodyPr wrap="square" lIns="0" rIns="0" tIns="0" bIns="0" anchor="t">
            <a:spAutoFit/>
          </a:bodyPr>
          <a:lstStyle/>
          <a:p>
            <a:pPr algn="l">
              <a:lnSpc>
                <a:spcPct val="106000"/>
              </a:lnSpc>
            </a:pPr>
            <a:r>
              <a:rPr sz="1150" b="0" i="0">
                <a:solidFill>
                  <a:srgbClr val="1F3644"/>
                </a:solidFill>
                <a:latin typeface="Calibri"/>
              </a:rPr>
              <a:t>Each vehicle buffers its survey to microSD and exchanges at surface contacts.</a:t>
            </a:r>
          </a:p>
        </p:txBody>
      </p:sp>
      <p:sp>
        <p:nvSpPr>
          <p:cNvPr id="12" name="Rectangle 11"/>
          <p:cNvSpPr/>
          <p:nvPr/>
        </p:nvSpPr>
        <p:spPr>
          <a:xfrm>
            <a:off x="548640" y="3291840"/>
            <a:ext cx="6400800" cy="310896"/>
          </a:xfrm>
          <a:prstGeom prst="rect">
            <a:avLst/>
          </a:prstGeom>
          <a:solidFill>
            <a:srgbClr val="0C22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21792" y="3291840"/>
            <a:ext cx="2683348" cy="310896"/>
          </a:xfrm>
          <a:prstGeom prst="rect">
            <a:avLst/>
          </a:prstGeom>
          <a:noFill/>
        </p:spPr>
        <p:txBody>
          <a:bodyPr wrap="square" lIns="0" rIns="0" tIns="0" bIns="0" anchor="ctr">
            <a:spAutoFit/>
          </a:bodyPr>
          <a:lstStyle/>
          <a:p>
            <a:pPr algn="l"/>
            <a:r>
              <a:rPr sz="1000" b="1" i="0">
                <a:solidFill>
                  <a:srgbClr val="FFFFFF"/>
                </a:solidFill>
                <a:latin typeface="Calibri"/>
              </a:rPr>
              <a:t>Link parameter</a:t>
            </a:r>
          </a:p>
        </p:txBody>
      </p:sp>
      <p:sp>
        <p:nvSpPr>
          <p:cNvPr id="14" name="TextBox 13"/>
          <p:cNvSpPr txBox="1"/>
          <p:nvPr/>
        </p:nvSpPr>
        <p:spPr>
          <a:xfrm>
            <a:off x="3414868" y="3291840"/>
            <a:ext cx="1286810" cy="310896"/>
          </a:xfrm>
          <a:prstGeom prst="rect">
            <a:avLst/>
          </a:prstGeom>
          <a:noFill/>
        </p:spPr>
        <p:txBody>
          <a:bodyPr wrap="square" lIns="0" rIns="0" tIns="0" bIns="0" anchor="ctr">
            <a:spAutoFit/>
          </a:bodyPr>
          <a:lstStyle/>
          <a:p>
            <a:pPr algn="ctr"/>
            <a:r>
              <a:rPr sz="1000" b="1" i="0">
                <a:solidFill>
                  <a:srgbClr val="FFFFFF"/>
                </a:solidFill>
                <a:latin typeface="Calibri"/>
              </a:rPr>
              <a:t>Value</a:t>
            </a:r>
          </a:p>
        </p:txBody>
      </p:sp>
      <p:sp>
        <p:nvSpPr>
          <p:cNvPr id="15" name="TextBox 14"/>
          <p:cNvSpPr txBox="1"/>
          <p:nvPr/>
        </p:nvSpPr>
        <p:spPr>
          <a:xfrm>
            <a:off x="4811406" y="3291840"/>
            <a:ext cx="2101457" cy="310896"/>
          </a:xfrm>
          <a:prstGeom prst="rect">
            <a:avLst/>
          </a:prstGeom>
          <a:noFill/>
        </p:spPr>
        <p:txBody>
          <a:bodyPr wrap="square" lIns="0" rIns="0" tIns="0" bIns="0" anchor="ctr">
            <a:spAutoFit/>
          </a:bodyPr>
          <a:lstStyle/>
          <a:p>
            <a:pPr algn="ctr"/>
            <a:r>
              <a:rPr sz="1000" b="1" i="0">
                <a:solidFill>
                  <a:srgbClr val="FFFFFF"/>
                </a:solidFill>
                <a:latin typeface="Calibri"/>
              </a:rPr>
              <a:t>Note</a:t>
            </a:r>
          </a:p>
        </p:txBody>
      </p:sp>
      <p:sp>
        <p:nvSpPr>
          <p:cNvPr id="16" name="Rectangle 15"/>
          <p:cNvSpPr/>
          <p:nvPr/>
        </p:nvSpPr>
        <p:spPr>
          <a:xfrm>
            <a:off x="548640" y="3602736"/>
            <a:ext cx="6400800" cy="301752"/>
          </a:xfrm>
          <a:prstGeom prst="rect">
            <a:avLst/>
          </a:prstGeom>
          <a:solidFill>
            <a:srgbClr val="EDF2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21792" y="3602736"/>
            <a:ext cx="2683348" cy="301752"/>
          </a:xfrm>
          <a:prstGeom prst="rect">
            <a:avLst/>
          </a:prstGeom>
          <a:noFill/>
        </p:spPr>
        <p:txBody>
          <a:bodyPr wrap="square" lIns="0" rIns="0" tIns="0" bIns="0" anchor="ctr">
            <a:spAutoFit/>
          </a:bodyPr>
          <a:lstStyle/>
          <a:p>
            <a:pPr algn="l"/>
            <a:r>
              <a:rPr sz="1100" b="1" i="0">
                <a:solidFill>
                  <a:srgbClr val="0C2231"/>
                </a:solidFill>
                <a:latin typeface="Calibri"/>
              </a:rPr>
              <a:t>Surface range</a:t>
            </a:r>
          </a:p>
        </p:txBody>
      </p:sp>
      <p:sp>
        <p:nvSpPr>
          <p:cNvPr id="18" name="TextBox 17"/>
          <p:cNvSpPr txBox="1"/>
          <p:nvPr/>
        </p:nvSpPr>
        <p:spPr>
          <a:xfrm>
            <a:off x="3414868" y="3602736"/>
            <a:ext cx="1286810" cy="301752"/>
          </a:xfrm>
          <a:prstGeom prst="rect">
            <a:avLst/>
          </a:prstGeom>
          <a:noFill/>
        </p:spPr>
        <p:txBody>
          <a:bodyPr wrap="square" lIns="0" rIns="0" tIns="0" bIns="0" anchor="ctr">
            <a:spAutoFit/>
          </a:bodyPr>
          <a:lstStyle/>
          <a:p>
            <a:pPr algn="ctr"/>
            <a:r>
              <a:rPr sz="1100" b="0" i="0">
                <a:solidFill>
                  <a:srgbClr val="1F3644"/>
                </a:solidFill>
                <a:latin typeface="Courier New"/>
              </a:rPr>
              <a:t>250 m</a:t>
            </a:r>
          </a:p>
        </p:txBody>
      </p:sp>
      <p:sp>
        <p:nvSpPr>
          <p:cNvPr id="19" name="TextBox 18"/>
          <p:cNvSpPr txBox="1"/>
          <p:nvPr/>
        </p:nvSpPr>
        <p:spPr>
          <a:xfrm>
            <a:off x="4811406" y="3602736"/>
            <a:ext cx="2101457" cy="301752"/>
          </a:xfrm>
          <a:prstGeom prst="rect">
            <a:avLst/>
          </a:prstGeom>
          <a:noFill/>
        </p:spPr>
        <p:txBody>
          <a:bodyPr wrap="square" lIns="0" rIns="0" tIns="0" bIns="0" anchor="ctr">
            <a:spAutoFit/>
          </a:bodyPr>
          <a:lstStyle/>
          <a:p>
            <a:pPr algn="ctr"/>
            <a:r>
              <a:rPr sz="1100" b="0" i="0">
                <a:solidFill>
                  <a:srgbClr val="1F3644"/>
                </a:solidFill>
                <a:latin typeface="Courier New"/>
              </a:rPr>
              <a:t>nRF24, default profile</a:t>
            </a:r>
          </a:p>
        </p:txBody>
      </p:sp>
      <p:sp>
        <p:nvSpPr>
          <p:cNvPr id="20" name="Rectangle 19"/>
          <p:cNvSpPr/>
          <p:nvPr/>
        </p:nvSpPr>
        <p:spPr>
          <a:xfrm>
            <a:off x="548640" y="3904487"/>
            <a:ext cx="6400800" cy="3017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21792" y="3904487"/>
            <a:ext cx="2683348" cy="301752"/>
          </a:xfrm>
          <a:prstGeom prst="rect">
            <a:avLst/>
          </a:prstGeom>
          <a:noFill/>
        </p:spPr>
        <p:txBody>
          <a:bodyPr wrap="square" lIns="0" rIns="0" tIns="0" bIns="0" anchor="ctr">
            <a:spAutoFit/>
          </a:bodyPr>
          <a:lstStyle/>
          <a:p>
            <a:pPr algn="l"/>
            <a:r>
              <a:rPr sz="1100" b="1" i="0">
                <a:solidFill>
                  <a:srgbClr val="0C2231"/>
                </a:solidFill>
                <a:latin typeface="Calibri"/>
              </a:rPr>
              <a:t>Raw rate</a:t>
            </a:r>
          </a:p>
        </p:txBody>
      </p:sp>
      <p:sp>
        <p:nvSpPr>
          <p:cNvPr id="22" name="TextBox 21"/>
          <p:cNvSpPr txBox="1"/>
          <p:nvPr/>
        </p:nvSpPr>
        <p:spPr>
          <a:xfrm>
            <a:off x="3414868" y="3904487"/>
            <a:ext cx="1286810" cy="301752"/>
          </a:xfrm>
          <a:prstGeom prst="rect">
            <a:avLst/>
          </a:prstGeom>
          <a:noFill/>
        </p:spPr>
        <p:txBody>
          <a:bodyPr wrap="square" lIns="0" rIns="0" tIns="0" bIns="0" anchor="ctr">
            <a:spAutoFit/>
          </a:bodyPr>
          <a:lstStyle/>
          <a:p>
            <a:pPr algn="ctr"/>
            <a:r>
              <a:rPr sz="1100" b="0" i="0">
                <a:solidFill>
                  <a:srgbClr val="1F3644"/>
                </a:solidFill>
                <a:latin typeface="Courier New"/>
              </a:rPr>
              <a:t>1 Mbit/s</a:t>
            </a:r>
          </a:p>
        </p:txBody>
      </p:sp>
      <p:sp>
        <p:nvSpPr>
          <p:cNvPr id="23" name="TextBox 22"/>
          <p:cNvSpPr txBox="1"/>
          <p:nvPr/>
        </p:nvSpPr>
        <p:spPr>
          <a:xfrm>
            <a:off x="4811406" y="3904487"/>
            <a:ext cx="2101457" cy="301752"/>
          </a:xfrm>
          <a:prstGeom prst="rect">
            <a:avLst/>
          </a:prstGeom>
          <a:noFill/>
        </p:spPr>
        <p:txBody>
          <a:bodyPr wrap="square" lIns="0" rIns="0" tIns="0" bIns="0" anchor="ctr">
            <a:spAutoFit/>
          </a:bodyPr>
          <a:lstStyle/>
          <a:p>
            <a:pPr algn="ctr"/>
            <a:r>
              <a:rPr sz="1100" b="0" i="0">
                <a:solidFill>
                  <a:srgbClr val="1F3644"/>
                </a:solidFill>
                <a:latin typeface="Courier New"/>
              </a:rPr>
              <a:t>physical layer</a:t>
            </a:r>
          </a:p>
        </p:txBody>
      </p:sp>
      <p:sp>
        <p:nvSpPr>
          <p:cNvPr id="24" name="Rectangle 23"/>
          <p:cNvSpPr/>
          <p:nvPr/>
        </p:nvSpPr>
        <p:spPr>
          <a:xfrm>
            <a:off x="548640" y="4206240"/>
            <a:ext cx="6400800" cy="301752"/>
          </a:xfrm>
          <a:prstGeom prst="rect">
            <a:avLst/>
          </a:prstGeom>
          <a:solidFill>
            <a:srgbClr val="EDF2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21792" y="4206240"/>
            <a:ext cx="2683348" cy="301752"/>
          </a:xfrm>
          <a:prstGeom prst="rect">
            <a:avLst/>
          </a:prstGeom>
          <a:noFill/>
        </p:spPr>
        <p:txBody>
          <a:bodyPr wrap="square" lIns="0" rIns="0" tIns="0" bIns="0" anchor="ctr">
            <a:spAutoFit/>
          </a:bodyPr>
          <a:lstStyle/>
          <a:p>
            <a:pPr algn="l"/>
            <a:r>
              <a:rPr sz="1100" b="1" i="0">
                <a:solidFill>
                  <a:srgbClr val="0C2231"/>
                </a:solidFill>
                <a:latin typeface="Calibri"/>
              </a:rPr>
              <a:t>Packet loss</a:t>
            </a:r>
          </a:p>
        </p:txBody>
      </p:sp>
      <p:sp>
        <p:nvSpPr>
          <p:cNvPr id="26" name="TextBox 25"/>
          <p:cNvSpPr txBox="1"/>
          <p:nvPr/>
        </p:nvSpPr>
        <p:spPr>
          <a:xfrm>
            <a:off x="3414868" y="4206240"/>
            <a:ext cx="1286810" cy="301752"/>
          </a:xfrm>
          <a:prstGeom prst="rect">
            <a:avLst/>
          </a:prstGeom>
          <a:noFill/>
        </p:spPr>
        <p:txBody>
          <a:bodyPr wrap="square" lIns="0" rIns="0" tIns="0" bIns="0" anchor="ctr">
            <a:spAutoFit/>
          </a:bodyPr>
          <a:lstStyle/>
          <a:p>
            <a:pPr algn="ctr"/>
            <a:r>
              <a:rPr sz="1100" b="0" i="0">
                <a:solidFill>
                  <a:srgbClr val="1F3644"/>
                </a:solidFill>
                <a:latin typeface="Courier New"/>
              </a:rPr>
              <a:t>3 %</a:t>
            </a:r>
          </a:p>
        </p:txBody>
      </p:sp>
      <p:sp>
        <p:nvSpPr>
          <p:cNvPr id="27" name="TextBox 26"/>
          <p:cNvSpPr txBox="1"/>
          <p:nvPr/>
        </p:nvSpPr>
        <p:spPr>
          <a:xfrm>
            <a:off x="4811406" y="4206240"/>
            <a:ext cx="2101457" cy="301752"/>
          </a:xfrm>
          <a:prstGeom prst="rect">
            <a:avLst/>
          </a:prstGeom>
          <a:noFill/>
        </p:spPr>
        <p:txBody>
          <a:bodyPr wrap="square" lIns="0" rIns="0" tIns="0" bIns="0" anchor="ctr">
            <a:spAutoFit/>
          </a:bodyPr>
          <a:lstStyle/>
          <a:p>
            <a:pPr algn="ctr"/>
            <a:r>
              <a:rPr sz="1100" b="0" i="0">
                <a:solidFill>
                  <a:srgbClr val="1F3644"/>
                </a:solidFill>
                <a:latin typeface="Courier New"/>
              </a:rPr>
              <a:t>modelled</a:t>
            </a:r>
          </a:p>
        </p:txBody>
      </p:sp>
      <p:sp>
        <p:nvSpPr>
          <p:cNvPr id="28" name="Rectangle 27"/>
          <p:cNvSpPr/>
          <p:nvPr/>
        </p:nvSpPr>
        <p:spPr>
          <a:xfrm>
            <a:off x="548640" y="4507992"/>
            <a:ext cx="6400800" cy="3017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21792" y="4507992"/>
            <a:ext cx="2683348" cy="301752"/>
          </a:xfrm>
          <a:prstGeom prst="rect">
            <a:avLst/>
          </a:prstGeom>
          <a:noFill/>
        </p:spPr>
        <p:txBody>
          <a:bodyPr wrap="square" lIns="0" rIns="0" tIns="0" bIns="0" anchor="ctr">
            <a:spAutoFit/>
          </a:bodyPr>
          <a:lstStyle/>
          <a:p>
            <a:pPr algn="l"/>
            <a:r>
              <a:rPr sz="1100" b="1" i="0">
                <a:solidFill>
                  <a:srgbClr val="0C2231"/>
                </a:solidFill>
                <a:latin typeface="Calibri"/>
              </a:rPr>
              <a:t>Telemetry period</a:t>
            </a:r>
          </a:p>
        </p:txBody>
      </p:sp>
      <p:sp>
        <p:nvSpPr>
          <p:cNvPr id="30" name="TextBox 29"/>
          <p:cNvSpPr txBox="1"/>
          <p:nvPr/>
        </p:nvSpPr>
        <p:spPr>
          <a:xfrm>
            <a:off x="3414868" y="4507992"/>
            <a:ext cx="1286810" cy="301752"/>
          </a:xfrm>
          <a:prstGeom prst="rect">
            <a:avLst/>
          </a:prstGeom>
          <a:noFill/>
        </p:spPr>
        <p:txBody>
          <a:bodyPr wrap="square" lIns="0" rIns="0" tIns="0" bIns="0" anchor="ctr">
            <a:spAutoFit/>
          </a:bodyPr>
          <a:lstStyle/>
          <a:p>
            <a:pPr algn="ctr"/>
            <a:r>
              <a:rPr sz="1100" b="0" i="0">
                <a:solidFill>
                  <a:srgbClr val="1F3644"/>
                </a:solidFill>
                <a:latin typeface="Courier New"/>
              </a:rPr>
              <a:t>5 s</a:t>
            </a:r>
          </a:p>
        </p:txBody>
      </p:sp>
      <p:sp>
        <p:nvSpPr>
          <p:cNvPr id="31" name="TextBox 30"/>
          <p:cNvSpPr txBox="1"/>
          <p:nvPr/>
        </p:nvSpPr>
        <p:spPr>
          <a:xfrm>
            <a:off x="4811406" y="4507992"/>
            <a:ext cx="2101457" cy="301752"/>
          </a:xfrm>
          <a:prstGeom prst="rect">
            <a:avLst/>
          </a:prstGeom>
          <a:noFill/>
        </p:spPr>
        <p:txBody>
          <a:bodyPr wrap="square" lIns="0" rIns="0" tIns="0" bIns="0" anchor="ctr">
            <a:spAutoFit/>
          </a:bodyPr>
          <a:lstStyle/>
          <a:p>
            <a:pPr algn="ctr"/>
            <a:r>
              <a:rPr sz="1100" b="0" i="0">
                <a:solidFill>
                  <a:srgbClr val="1F3644"/>
                </a:solidFill>
                <a:latin typeface="Courier New"/>
              </a:rPr>
              <a:t>per vehicle</a:t>
            </a:r>
          </a:p>
        </p:txBody>
      </p:sp>
      <p:sp>
        <p:nvSpPr>
          <p:cNvPr id="32" name="Rectangle 31"/>
          <p:cNvSpPr/>
          <p:nvPr/>
        </p:nvSpPr>
        <p:spPr>
          <a:xfrm>
            <a:off x="548640" y="4809744"/>
            <a:ext cx="6400800" cy="301752"/>
          </a:xfrm>
          <a:prstGeom prst="rect">
            <a:avLst/>
          </a:prstGeom>
          <a:solidFill>
            <a:srgbClr val="EDF2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21792" y="4809744"/>
            <a:ext cx="2683348" cy="301752"/>
          </a:xfrm>
          <a:prstGeom prst="rect">
            <a:avLst/>
          </a:prstGeom>
          <a:noFill/>
        </p:spPr>
        <p:txBody>
          <a:bodyPr wrap="square" lIns="0" rIns="0" tIns="0" bIns="0" anchor="ctr">
            <a:spAutoFit/>
          </a:bodyPr>
          <a:lstStyle/>
          <a:p>
            <a:pPr algn="l"/>
            <a:r>
              <a:rPr sz="1100" b="1" i="0">
                <a:solidFill>
                  <a:srgbClr val="0C2231"/>
                </a:solidFill>
                <a:latin typeface="Calibri"/>
              </a:rPr>
              <a:t>Fleet offered load</a:t>
            </a:r>
          </a:p>
        </p:txBody>
      </p:sp>
      <p:sp>
        <p:nvSpPr>
          <p:cNvPr id="34" name="TextBox 33"/>
          <p:cNvSpPr txBox="1"/>
          <p:nvPr/>
        </p:nvSpPr>
        <p:spPr>
          <a:xfrm>
            <a:off x="3414868" y="4809744"/>
            <a:ext cx="1286810" cy="301752"/>
          </a:xfrm>
          <a:prstGeom prst="rect">
            <a:avLst/>
          </a:prstGeom>
          <a:noFill/>
        </p:spPr>
        <p:txBody>
          <a:bodyPr wrap="square" lIns="0" rIns="0" tIns="0" bIns="0" anchor="ctr">
            <a:spAutoFit/>
          </a:bodyPr>
          <a:lstStyle/>
          <a:p>
            <a:pPr algn="ctr"/>
            <a:r>
              <a:rPr sz="1100" b="0" i="0">
                <a:solidFill>
                  <a:srgbClr val="1F3644"/>
                </a:solidFill>
                <a:latin typeface="Courier New"/>
              </a:rPr>
              <a:t>256 bit/s</a:t>
            </a:r>
          </a:p>
        </p:txBody>
      </p:sp>
      <p:sp>
        <p:nvSpPr>
          <p:cNvPr id="35" name="TextBox 34"/>
          <p:cNvSpPr txBox="1"/>
          <p:nvPr/>
        </p:nvSpPr>
        <p:spPr>
          <a:xfrm>
            <a:off x="4811406" y="4809744"/>
            <a:ext cx="2101457" cy="301752"/>
          </a:xfrm>
          <a:prstGeom prst="rect">
            <a:avLst/>
          </a:prstGeom>
          <a:noFill/>
        </p:spPr>
        <p:txBody>
          <a:bodyPr wrap="square" lIns="0" rIns="0" tIns="0" bIns="0" anchor="ctr">
            <a:spAutoFit/>
          </a:bodyPr>
          <a:lstStyle/>
          <a:p>
            <a:pPr algn="ctr"/>
            <a:r>
              <a:rPr sz="1100" b="0" i="0">
                <a:solidFill>
                  <a:srgbClr val="1F3644"/>
                </a:solidFill>
                <a:latin typeface="Courier New"/>
              </a:rPr>
              <a:t>5 × 32 B / 5 s</a:t>
            </a:r>
          </a:p>
        </p:txBody>
      </p:sp>
      <p:sp>
        <p:nvSpPr>
          <p:cNvPr id="36" name="Rectangle 35"/>
          <p:cNvSpPr/>
          <p:nvPr/>
        </p:nvSpPr>
        <p:spPr>
          <a:xfrm>
            <a:off x="548640" y="5111496"/>
            <a:ext cx="6400800" cy="3017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21792" y="5111496"/>
            <a:ext cx="2683348" cy="301752"/>
          </a:xfrm>
          <a:prstGeom prst="rect">
            <a:avLst/>
          </a:prstGeom>
          <a:noFill/>
        </p:spPr>
        <p:txBody>
          <a:bodyPr wrap="square" lIns="0" rIns="0" tIns="0" bIns="0" anchor="ctr">
            <a:spAutoFit/>
          </a:bodyPr>
          <a:lstStyle/>
          <a:p>
            <a:pPr algn="l"/>
            <a:r>
              <a:rPr sz="1100" b="1" i="0">
                <a:solidFill>
                  <a:srgbClr val="0C2231"/>
                </a:solidFill>
                <a:latin typeface="Calibri"/>
              </a:rPr>
              <a:t>Channel occupancy</a:t>
            </a:r>
          </a:p>
        </p:txBody>
      </p:sp>
      <p:sp>
        <p:nvSpPr>
          <p:cNvPr id="38" name="TextBox 37"/>
          <p:cNvSpPr txBox="1"/>
          <p:nvPr/>
        </p:nvSpPr>
        <p:spPr>
          <a:xfrm>
            <a:off x="3414868" y="5111496"/>
            <a:ext cx="1286810" cy="301752"/>
          </a:xfrm>
          <a:prstGeom prst="rect">
            <a:avLst/>
          </a:prstGeom>
          <a:noFill/>
        </p:spPr>
        <p:txBody>
          <a:bodyPr wrap="square" lIns="0" rIns="0" tIns="0" bIns="0" anchor="ctr">
            <a:spAutoFit/>
          </a:bodyPr>
          <a:lstStyle/>
          <a:p>
            <a:pPr algn="ctr"/>
            <a:r>
              <a:rPr sz="1100" b="1" i="0">
                <a:solidFill>
                  <a:srgbClr val="9E3B3E"/>
                </a:solidFill>
                <a:latin typeface="Courier New"/>
              </a:rPr>
              <a:t>0.026 %</a:t>
            </a:r>
          </a:p>
        </p:txBody>
      </p:sp>
      <p:sp>
        <p:nvSpPr>
          <p:cNvPr id="39" name="TextBox 38"/>
          <p:cNvSpPr txBox="1"/>
          <p:nvPr/>
        </p:nvSpPr>
        <p:spPr>
          <a:xfrm>
            <a:off x="4811406" y="5111496"/>
            <a:ext cx="2101457" cy="301752"/>
          </a:xfrm>
          <a:prstGeom prst="rect">
            <a:avLst/>
          </a:prstGeom>
          <a:noFill/>
        </p:spPr>
        <p:txBody>
          <a:bodyPr wrap="square" lIns="0" rIns="0" tIns="0" bIns="0" anchor="ctr">
            <a:spAutoFit/>
          </a:bodyPr>
          <a:lstStyle/>
          <a:p>
            <a:pPr algn="ctr"/>
            <a:r>
              <a:rPr sz="1100" b="0" i="0">
                <a:solidFill>
                  <a:srgbClr val="1F3644"/>
                </a:solidFill>
                <a:latin typeface="Courier New"/>
              </a:rPr>
              <a:t>of the 1 Mbit/s link</a:t>
            </a:r>
          </a:p>
        </p:txBody>
      </p:sp>
      <p:sp>
        <p:nvSpPr>
          <p:cNvPr id="40" name="TextBox 39"/>
          <p:cNvSpPr txBox="1"/>
          <p:nvPr/>
        </p:nvSpPr>
        <p:spPr>
          <a:xfrm>
            <a:off x="548640" y="5577840"/>
            <a:ext cx="6400800" cy="566928"/>
          </a:xfrm>
          <a:prstGeom prst="rect">
            <a:avLst/>
          </a:prstGeom>
          <a:noFill/>
        </p:spPr>
        <p:txBody>
          <a:bodyPr wrap="square" lIns="0" rIns="0" tIns="0" bIns="0" anchor="t">
            <a:spAutoFit/>
          </a:bodyPr>
          <a:lstStyle/>
          <a:p>
            <a:pPr algn="l">
              <a:lnSpc>
                <a:spcPct val="115000"/>
              </a:lnSpc>
            </a:pPr>
            <a:r>
              <a:rPr sz="1200" b="0" i="0">
                <a:solidFill>
                  <a:srgbClr val="1F3644"/>
                </a:solidFill>
                <a:latin typeface="Calibri"/>
              </a:rPr>
              <a:t>The radio is not the bottleneck: the fleet offers 256 bit/s against a 1 Mbit/s channel. The binding constraint is the surface window, not throughput.</a:t>
            </a:r>
          </a:p>
        </p:txBody>
      </p:sp>
      <p:sp>
        <p:nvSpPr>
          <p:cNvPr id="41" name="Rounded Rectangle 40"/>
          <p:cNvSpPr/>
          <p:nvPr/>
        </p:nvSpPr>
        <p:spPr>
          <a:xfrm>
            <a:off x="7772400" y="1417320"/>
            <a:ext cx="1371600" cy="411480"/>
          </a:xfrm>
          <a:prstGeom prst="roundRect">
            <a:avLst>
              <a:gd name="adj" fmla="val 10000"/>
            </a:avLst>
          </a:prstGeom>
          <a:solidFill>
            <a:srgbClr val="EDF2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772400" y="1417320"/>
            <a:ext cx="1371600" cy="411480"/>
          </a:xfrm>
          <a:prstGeom prst="rect">
            <a:avLst/>
          </a:prstGeom>
          <a:noFill/>
        </p:spPr>
        <p:txBody>
          <a:bodyPr wrap="square" lIns="0" rIns="0" tIns="0" bIns="0" anchor="ctr">
            <a:spAutoFit/>
          </a:bodyPr>
          <a:lstStyle/>
          <a:p>
            <a:pPr algn="ctr"/>
            <a:r>
              <a:rPr sz="1150" b="1" i="0">
                <a:solidFill>
                  <a:srgbClr val="065A82"/>
                </a:solidFill>
                <a:latin typeface="Calibri"/>
              </a:rPr>
              <a:t>AUV</a:t>
            </a:r>
          </a:p>
        </p:txBody>
      </p:sp>
      <p:sp>
        <p:nvSpPr>
          <p:cNvPr id="43" name="Rounded Rectangle 42"/>
          <p:cNvSpPr/>
          <p:nvPr/>
        </p:nvSpPr>
        <p:spPr>
          <a:xfrm>
            <a:off x="10058400" y="1417320"/>
            <a:ext cx="1371600" cy="411480"/>
          </a:xfrm>
          <a:prstGeom prst="roundRect">
            <a:avLst>
              <a:gd name="adj" fmla="val 10000"/>
            </a:avLst>
          </a:prstGeom>
          <a:solidFill>
            <a:srgbClr val="0C22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10058400" y="1417320"/>
            <a:ext cx="1371600" cy="411480"/>
          </a:xfrm>
          <a:prstGeom prst="rect">
            <a:avLst/>
          </a:prstGeom>
          <a:noFill/>
        </p:spPr>
        <p:txBody>
          <a:bodyPr wrap="square" lIns="0" rIns="0" tIns="0" bIns="0" anchor="ctr">
            <a:spAutoFit/>
          </a:bodyPr>
          <a:lstStyle/>
          <a:p>
            <a:pPr algn="ctr"/>
            <a:r>
              <a:rPr sz="1150" b="1" i="0">
                <a:solidFill>
                  <a:srgbClr val="FFFFFF"/>
                </a:solidFill>
                <a:latin typeface="Calibri"/>
              </a:rPr>
              <a:t>Base</a:t>
            </a:r>
          </a:p>
        </p:txBody>
      </p:sp>
      <p:sp>
        <p:nvSpPr>
          <p:cNvPr id="45" name="Rectangle 44"/>
          <p:cNvSpPr/>
          <p:nvPr/>
        </p:nvSpPr>
        <p:spPr>
          <a:xfrm>
            <a:off x="9235440" y="1604772"/>
            <a:ext cx="82296" cy="32004"/>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9409176" y="1604772"/>
            <a:ext cx="82296" cy="32004"/>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9582912" y="1604772"/>
            <a:ext cx="82296" cy="32004"/>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9756648" y="1604772"/>
            <a:ext cx="82296" cy="32004"/>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9930384" y="1604772"/>
            <a:ext cx="82296" cy="32004"/>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8961120" y="1097280"/>
            <a:ext cx="1280160" cy="274320"/>
          </a:xfrm>
          <a:prstGeom prst="rect">
            <a:avLst/>
          </a:prstGeom>
          <a:noFill/>
        </p:spPr>
        <p:txBody>
          <a:bodyPr wrap="square" lIns="0" rIns="0" tIns="0" bIns="0" anchor="t">
            <a:spAutoFit/>
          </a:bodyPr>
          <a:lstStyle/>
          <a:p>
            <a:pPr algn="ctr"/>
            <a:r>
              <a:rPr sz="1000" b="1" i="0">
                <a:solidFill>
                  <a:srgbClr val="1C7293"/>
                </a:solidFill>
                <a:latin typeface="Calibri"/>
              </a:rPr>
              <a:t>250 m</a:t>
            </a:r>
          </a:p>
        </p:txBody>
      </p:sp>
      <p:sp>
        <p:nvSpPr>
          <p:cNvPr id="51" name="Rectangle 50"/>
          <p:cNvSpPr/>
          <p:nvPr/>
        </p:nvSpPr>
        <p:spPr>
          <a:xfrm>
            <a:off x="7589520" y="2029968"/>
            <a:ext cx="4023360" cy="36576"/>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7589520" y="2066543"/>
            <a:ext cx="4023360" cy="3291840"/>
          </a:xfrm>
          <a:prstGeom prst="rect">
            <a:avLst/>
          </a:prstGeom>
          <a:solidFill>
            <a:srgbClr val="D8E7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7699248" y="2487168"/>
            <a:ext cx="182880" cy="22860"/>
          </a:xfrm>
          <a:prstGeom prst="rect">
            <a:avLst/>
          </a:prstGeom>
          <a:solidFill>
            <a:srgbClr val="7FA8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8046720" y="2487168"/>
            <a:ext cx="182880" cy="22860"/>
          </a:xfrm>
          <a:prstGeom prst="rect">
            <a:avLst/>
          </a:prstGeom>
          <a:solidFill>
            <a:srgbClr val="7FA8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8394192" y="2487168"/>
            <a:ext cx="182880" cy="22860"/>
          </a:xfrm>
          <a:prstGeom prst="rect">
            <a:avLst/>
          </a:prstGeom>
          <a:solidFill>
            <a:srgbClr val="7FA8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8741664" y="2487168"/>
            <a:ext cx="182880" cy="22860"/>
          </a:xfrm>
          <a:prstGeom prst="rect">
            <a:avLst/>
          </a:prstGeom>
          <a:solidFill>
            <a:srgbClr val="7FA8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ectangle 56"/>
          <p:cNvSpPr/>
          <p:nvPr/>
        </p:nvSpPr>
        <p:spPr>
          <a:xfrm>
            <a:off x="9089136" y="2487168"/>
            <a:ext cx="182880" cy="22860"/>
          </a:xfrm>
          <a:prstGeom prst="rect">
            <a:avLst/>
          </a:prstGeom>
          <a:solidFill>
            <a:srgbClr val="7FA8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9436608" y="2487168"/>
            <a:ext cx="182880" cy="22860"/>
          </a:xfrm>
          <a:prstGeom prst="rect">
            <a:avLst/>
          </a:prstGeom>
          <a:solidFill>
            <a:srgbClr val="7FA8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ectangle 58"/>
          <p:cNvSpPr/>
          <p:nvPr/>
        </p:nvSpPr>
        <p:spPr>
          <a:xfrm>
            <a:off x="9784080" y="2487168"/>
            <a:ext cx="182880" cy="22860"/>
          </a:xfrm>
          <a:prstGeom prst="rect">
            <a:avLst/>
          </a:prstGeom>
          <a:solidFill>
            <a:srgbClr val="7FA8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ectangle 59"/>
          <p:cNvSpPr/>
          <p:nvPr/>
        </p:nvSpPr>
        <p:spPr>
          <a:xfrm>
            <a:off x="10131552" y="2487168"/>
            <a:ext cx="182880" cy="22860"/>
          </a:xfrm>
          <a:prstGeom prst="rect">
            <a:avLst/>
          </a:prstGeom>
          <a:solidFill>
            <a:srgbClr val="7FA8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10479024" y="2487168"/>
            <a:ext cx="182880" cy="22860"/>
          </a:xfrm>
          <a:prstGeom prst="rect">
            <a:avLst/>
          </a:prstGeom>
          <a:solidFill>
            <a:srgbClr val="7FA8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ectangle 61"/>
          <p:cNvSpPr/>
          <p:nvPr/>
        </p:nvSpPr>
        <p:spPr>
          <a:xfrm>
            <a:off x="10826496" y="2487168"/>
            <a:ext cx="182880" cy="22860"/>
          </a:xfrm>
          <a:prstGeom prst="rect">
            <a:avLst/>
          </a:prstGeom>
          <a:solidFill>
            <a:srgbClr val="7FA8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Rectangle 62"/>
          <p:cNvSpPr/>
          <p:nvPr/>
        </p:nvSpPr>
        <p:spPr>
          <a:xfrm>
            <a:off x="11173967" y="2487168"/>
            <a:ext cx="182880" cy="22860"/>
          </a:xfrm>
          <a:prstGeom prst="rect">
            <a:avLst/>
          </a:prstGeom>
          <a:solidFill>
            <a:srgbClr val="7FA8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7699248" y="2560320"/>
            <a:ext cx="1463040" cy="256032"/>
          </a:xfrm>
          <a:prstGeom prst="rect">
            <a:avLst/>
          </a:prstGeom>
          <a:noFill/>
        </p:spPr>
        <p:txBody>
          <a:bodyPr wrap="square" lIns="0" rIns="0" tIns="0" bIns="0" anchor="t">
            <a:spAutoFit/>
          </a:bodyPr>
          <a:lstStyle/>
          <a:p>
            <a:pPr algn="l"/>
            <a:r>
              <a:rPr sz="1000" b="1" i="0">
                <a:solidFill>
                  <a:srgbClr val="065A82"/>
                </a:solidFill>
                <a:latin typeface="Calibri"/>
              </a:rPr>
              <a:t>0.5 m</a:t>
            </a:r>
          </a:p>
        </p:txBody>
      </p:sp>
      <p:sp>
        <p:nvSpPr>
          <p:cNvPr id="65" name="Rounded Rectangle 64"/>
          <p:cNvSpPr/>
          <p:nvPr/>
        </p:nvSpPr>
        <p:spPr>
          <a:xfrm>
            <a:off x="8046720" y="3429000"/>
            <a:ext cx="1554480" cy="457200"/>
          </a:xfrm>
          <a:prstGeom prst="roundRect">
            <a:avLst>
              <a:gd name="adj" fmla="val 9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8046720" y="3429000"/>
            <a:ext cx="1554480" cy="457200"/>
          </a:xfrm>
          <a:prstGeom prst="rect">
            <a:avLst/>
          </a:prstGeom>
          <a:noFill/>
        </p:spPr>
        <p:txBody>
          <a:bodyPr wrap="square" lIns="0" rIns="0" tIns="0" bIns="0" anchor="ctr">
            <a:spAutoFit/>
          </a:bodyPr>
          <a:lstStyle/>
          <a:p>
            <a:pPr algn="ctr"/>
            <a:r>
              <a:rPr sz="1150" b="1" i="0">
                <a:solidFill>
                  <a:srgbClr val="065A82"/>
                </a:solidFill>
                <a:latin typeface="Calibri"/>
              </a:rPr>
              <a:t>AUV</a:t>
            </a:r>
          </a:p>
        </p:txBody>
      </p:sp>
      <p:sp>
        <p:nvSpPr>
          <p:cNvPr id="67" name="Oval 66"/>
          <p:cNvSpPr/>
          <p:nvPr/>
        </p:nvSpPr>
        <p:spPr>
          <a:xfrm>
            <a:off x="9966960" y="3429000"/>
            <a:ext cx="457200" cy="457200"/>
          </a:xfrm>
          <a:prstGeom prst="ellipse">
            <a:avLst/>
          </a:prstGeom>
          <a:solidFill>
            <a:srgbClr val="9E3B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8" name="Picture 67" descr="no_radio.png"/>
          <p:cNvPicPr>
            <a:picLocks noChangeAspect="1"/>
          </p:cNvPicPr>
          <p:nvPr/>
        </p:nvPicPr>
        <p:blipFill>
          <a:blip r:embed="rId2"/>
          <a:stretch>
            <a:fillRect/>
          </a:stretch>
        </p:blipFill>
        <p:spPr>
          <a:xfrm>
            <a:off x="10026396" y="3488436"/>
            <a:ext cx="338328" cy="338328"/>
          </a:xfrm>
          <a:prstGeom prst="rect">
            <a:avLst/>
          </a:prstGeom>
        </p:spPr>
      </p:pic>
      <p:sp>
        <p:nvSpPr>
          <p:cNvPr id="69" name="TextBox 68"/>
          <p:cNvSpPr txBox="1"/>
          <p:nvPr/>
        </p:nvSpPr>
        <p:spPr>
          <a:xfrm>
            <a:off x="7863840" y="4160520"/>
            <a:ext cx="3474720" cy="1005840"/>
          </a:xfrm>
          <a:prstGeom prst="rect">
            <a:avLst/>
          </a:prstGeom>
          <a:noFill/>
        </p:spPr>
        <p:txBody>
          <a:bodyPr wrap="square" lIns="0" rIns="0" tIns="0" bIns="0" anchor="t">
            <a:spAutoFit/>
          </a:bodyPr>
          <a:lstStyle/>
          <a:p>
            <a:pPr algn="l">
              <a:lnSpc>
                <a:spcPct val="115000"/>
              </a:lnSpc>
            </a:pPr>
            <a:r>
              <a:rPr sz="1150" b="0" i="0">
                <a:solidFill>
                  <a:srgbClr val="065A82"/>
                </a:solidFill>
                <a:latin typeface="Calibri"/>
              </a:rPr>
              <a:t>Below 0.5 m depth the adjacency is zero. Samples are timestamped and held on microSD until the next surface contact, then merged at the rendezvous.</a:t>
            </a:r>
          </a:p>
        </p:txBody>
      </p:sp>
      <p:sp>
        <p:nvSpPr>
          <p:cNvPr id="70" name="TextBox 69"/>
          <p:cNvSpPr txBox="1"/>
          <p:nvPr/>
        </p:nvSpPr>
        <p:spPr>
          <a:xfrm>
            <a:off x="7589520" y="5486400"/>
            <a:ext cx="4023360" cy="274320"/>
          </a:xfrm>
          <a:prstGeom prst="rect">
            <a:avLst/>
          </a:prstGeom>
          <a:noFill/>
        </p:spPr>
        <p:txBody>
          <a:bodyPr wrap="square" lIns="0" rIns="0" tIns="0" bIns="0" anchor="t">
            <a:spAutoFit/>
          </a:bodyPr>
          <a:lstStyle/>
          <a:p>
            <a:pPr algn="ctr">
              <a:lnSpc>
                <a:spcPct val="105000"/>
              </a:lnSpc>
            </a:pPr>
            <a:r>
              <a:rPr sz="950" b="0" i="1">
                <a:solidFill>
                  <a:srgbClr val="5E7686"/>
                </a:solidFill>
                <a:latin typeface="Calibri"/>
              </a:rPr>
              <a:t>Link condition applied in the simulator</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146304"/>
            <a:ext cx="11094415" cy="237744"/>
          </a:xfrm>
          <a:prstGeom prst="rect">
            <a:avLst/>
          </a:prstGeom>
          <a:noFill/>
        </p:spPr>
        <p:txBody>
          <a:bodyPr wrap="square" lIns="0" rIns="0" tIns="0" bIns="0" anchor="ctr">
            <a:spAutoFit/>
          </a:bodyPr>
          <a:lstStyle/>
          <a:p>
            <a:pPr algn="l"/>
            <a:r>
              <a:rPr sz="1000" b="1" i="0" spc="140">
                <a:solidFill>
                  <a:srgbClr val="1C7293"/>
                </a:solidFill>
                <a:latin typeface="Calibri"/>
              </a:rPr>
              <a:t>SCOPE</a:t>
            </a:r>
          </a:p>
        </p:txBody>
      </p:sp>
      <p:sp>
        <p:nvSpPr>
          <p:cNvPr id="3" name="TextBox 2"/>
          <p:cNvSpPr txBox="1"/>
          <p:nvPr/>
        </p:nvSpPr>
        <p:spPr>
          <a:xfrm>
            <a:off x="548640" y="384048"/>
            <a:ext cx="11094415" cy="676656"/>
          </a:xfrm>
          <a:prstGeom prst="rect">
            <a:avLst/>
          </a:prstGeom>
          <a:noFill/>
        </p:spPr>
        <p:txBody>
          <a:bodyPr wrap="square" lIns="0" rIns="0" tIns="0" bIns="0" anchor="ctr">
            <a:spAutoFit/>
          </a:bodyPr>
          <a:lstStyle/>
          <a:p>
            <a:pPr algn="l"/>
            <a:r>
              <a:rPr sz="3300" b="1" i="0">
                <a:solidFill>
                  <a:srgbClr val="0C2231"/>
                </a:solidFill>
                <a:latin typeface="Cambria"/>
              </a:rPr>
              <a:t>Planned scope and delivered scope</a:t>
            </a:r>
          </a:p>
        </p:txBody>
      </p:sp>
      <p:sp>
        <p:nvSpPr>
          <p:cNvPr id="4" name="Oval 3"/>
          <p:cNvSpPr/>
          <p:nvPr/>
        </p:nvSpPr>
        <p:spPr>
          <a:xfrm>
            <a:off x="548640" y="1600200"/>
            <a:ext cx="621792" cy="621792"/>
          </a:xfrm>
          <a:prstGeom prst="ellipse">
            <a:avLst/>
          </a:prstGeom>
          <a:solidFill>
            <a:srgbClr val="2E7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check.png"/>
          <p:cNvPicPr>
            <a:picLocks noChangeAspect="1"/>
          </p:cNvPicPr>
          <p:nvPr/>
        </p:nvPicPr>
        <p:blipFill>
          <a:blip r:embed="rId2"/>
          <a:stretch>
            <a:fillRect/>
          </a:stretch>
        </p:blipFill>
        <p:spPr>
          <a:xfrm>
            <a:off x="629472" y="1681032"/>
            <a:ext cx="460126" cy="460126"/>
          </a:xfrm>
          <a:prstGeom prst="rect">
            <a:avLst/>
          </a:prstGeom>
        </p:spPr>
      </p:pic>
      <p:sp>
        <p:nvSpPr>
          <p:cNvPr id="6" name="TextBox 5"/>
          <p:cNvSpPr txBox="1"/>
          <p:nvPr/>
        </p:nvSpPr>
        <p:spPr>
          <a:xfrm>
            <a:off x="548640" y="2368296"/>
            <a:ext cx="3529584" cy="548640"/>
          </a:xfrm>
          <a:prstGeom prst="rect">
            <a:avLst/>
          </a:prstGeom>
          <a:noFill/>
        </p:spPr>
        <p:txBody>
          <a:bodyPr wrap="square" lIns="0" rIns="0" tIns="0" bIns="0" anchor="t">
            <a:spAutoFit/>
          </a:bodyPr>
          <a:lstStyle/>
          <a:p>
            <a:pPr algn="l">
              <a:lnSpc>
                <a:spcPct val="106000"/>
              </a:lnSpc>
            </a:pPr>
            <a:r>
              <a:rPr sz="1500" b="1" i="0">
                <a:solidFill>
                  <a:srgbClr val="0C2231"/>
                </a:solidFill>
                <a:latin typeface="Calibri"/>
              </a:rPr>
              <a:t>Schematic and routing</a:t>
            </a:r>
          </a:p>
        </p:txBody>
      </p:sp>
      <p:sp>
        <p:nvSpPr>
          <p:cNvPr id="7" name="TextBox 6"/>
          <p:cNvSpPr txBox="1"/>
          <p:nvPr/>
        </p:nvSpPr>
        <p:spPr>
          <a:xfrm>
            <a:off x="548640" y="2843784"/>
            <a:ext cx="3529584" cy="502920"/>
          </a:xfrm>
          <a:prstGeom prst="rect">
            <a:avLst/>
          </a:prstGeom>
          <a:noFill/>
        </p:spPr>
        <p:txBody>
          <a:bodyPr wrap="square" lIns="0" rIns="0" tIns="0" bIns="0" anchor="t">
            <a:spAutoFit/>
          </a:bodyPr>
          <a:lstStyle/>
          <a:p>
            <a:pPr algn="l">
              <a:lnSpc>
                <a:spcPct val="106000"/>
              </a:lnSpc>
            </a:pPr>
            <a:r>
              <a:rPr sz="1150" b="0" i="0">
                <a:solidFill>
                  <a:srgbClr val="5E7686"/>
                </a:solidFill>
                <a:latin typeface="Calibri"/>
              </a:rPr>
              <a:t>Corrected, reviewed, production file generated</a:t>
            </a:r>
          </a:p>
        </p:txBody>
      </p:sp>
      <p:sp>
        <p:nvSpPr>
          <p:cNvPr id="8" name="Oval 7"/>
          <p:cNvSpPr/>
          <p:nvPr/>
        </p:nvSpPr>
        <p:spPr>
          <a:xfrm>
            <a:off x="4315968" y="1600200"/>
            <a:ext cx="621792" cy="621792"/>
          </a:xfrm>
          <a:prstGeom prst="ellipse">
            <a:avLst/>
          </a:prstGeom>
          <a:solidFill>
            <a:srgbClr val="2E7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check.png"/>
          <p:cNvPicPr>
            <a:picLocks noChangeAspect="1"/>
          </p:cNvPicPr>
          <p:nvPr/>
        </p:nvPicPr>
        <p:blipFill>
          <a:blip r:embed="rId2"/>
          <a:stretch>
            <a:fillRect/>
          </a:stretch>
        </p:blipFill>
        <p:spPr>
          <a:xfrm>
            <a:off x="4396800" y="1681032"/>
            <a:ext cx="460126" cy="460126"/>
          </a:xfrm>
          <a:prstGeom prst="rect">
            <a:avLst/>
          </a:prstGeom>
        </p:spPr>
      </p:pic>
      <p:sp>
        <p:nvSpPr>
          <p:cNvPr id="10" name="TextBox 9"/>
          <p:cNvSpPr txBox="1"/>
          <p:nvPr/>
        </p:nvSpPr>
        <p:spPr>
          <a:xfrm>
            <a:off x="4315968" y="2368296"/>
            <a:ext cx="3529584" cy="548640"/>
          </a:xfrm>
          <a:prstGeom prst="rect">
            <a:avLst/>
          </a:prstGeom>
          <a:noFill/>
        </p:spPr>
        <p:txBody>
          <a:bodyPr wrap="square" lIns="0" rIns="0" tIns="0" bIns="0" anchor="t">
            <a:spAutoFit/>
          </a:bodyPr>
          <a:lstStyle/>
          <a:p>
            <a:pPr algn="l">
              <a:lnSpc>
                <a:spcPct val="106000"/>
              </a:lnSpc>
            </a:pPr>
            <a:r>
              <a:rPr sz="1500" b="1" i="0">
                <a:solidFill>
                  <a:srgbClr val="0C2231"/>
                </a:solidFill>
                <a:latin typeface="Calibri"/>
              </a:rPr>
              <a:t>Production file</a:t>
            </a:r>
          </a:p>
        </p:txBody>
      </p:sp>
      <p:sp>
        <p:nvSpPr>
          <p:cNvPr id="11" name="TextBox 10"/>
          <p:cNvSpPr txBox="1"/>
          <p:nvPr/>
        </p:nvSpPr>
        <p:spPr>
          <a:xfrm>
            <a:off x="4315968" y="2843784"/>
            <a:ext cx="3529584" cy="502920"/>
          </a:xfrm>
          <a:prstGeom prst="rect">
            <a:avLst/>
          </a:prstGeom>
          <a:noFill/>
        </p:spPr>
        <p:txBody>
          <a:bodyPr wrap="square" lIns="0" rIns="0" tIns="0" bIns="0" anchor="t">
            <a:spAutoFit/>
          </a:bodyPr>
          <a:lstStyle/>
          <a:p>
            <a:pPr algn="l">
              <a:lnSpc>
                <a:spcPct val="106000"/>
              </a:lnSpc>
            </a:pPr>
            <a:r>
              <a:rPr sz="1150" b="0" i="0">
                <a:solidFill>
                  <a:srgbClr val="5E7686"/>
                </a:solidFill>
                <a:latin typeface="Calibri"/>
              </a:rPr>
              <a:t>Gerbers, BOM, CPL — 5 boards ordered 23 June</a:t>
            </a:r>
          </a:p>
        </p:txBody>
      </p:sp>
      <p:sp>
        <p:nvSpPr>
          <p:cNvPr id="12" name="Oval 11"/>
          <p:cNvSpPr/>
          <p:nvPr/>
        </p:nvSpPr>
        <p:spPr>
          <a:xfrm>
            <a:off x="8083296" y="1600200"/>
            <a:ext cx="621792" cy="621792"/>
          </a:xfrm>
          <a:prstGeom prst="ellipse">
            <a:avLst/>
          </a:prstGeom>
          <a:solidFill>
            <a:srgbClr val="B078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tilde.png"/>
          <p:cNvPicPr>
            <a:picLocks noChangeAspect="1"/>
          </p:cNvPicPr>
          <p:nvPr/>
        </p:nvPicPr>
        <p:blipFill>
          <a:blip r:embed="rId3"/>
          <a:stretch>
            <a:fillRect/>
          </a:stretch>
        </p:blipFill>
        <p:spPr>
          <a:xfrm>
            <a:off x="8164128" y="1681032"/>
            <a:ext cx="460126" cy="460126"/>
          </a:xfrm>
          <a:prstGeom prst="rect">
            <a:avLst/>
          </a:prstGeom>
        </p:spPr>
      </p:pic>
      <p:sp>
        <p:nvSpPr>
          <p:cNvPr id="14" name="TextBox 13"/>
          <p:cNvSpPr txBox="1"/>
          <p:nvPr/>
        </p:nvSpPr>
        <p:spPr>
          <a:xfrm>
            <a:off x="8083296" y="2368296"/>
            <a:ext cx="3529584" cy="548640"/>
          </a:xfrm>
          <a:prstGeom prst="rect">
            <a:avLst/>
          </a:prstGeom>
          <a:noFill/>
        </p:spPr>
        <p:txBody>
          <a:bodyPr wrap="square" lIns="0" rIns="0" tIns="0" bIns="0" anchor="t">
            <a:spAutoFit/>
          </a:bodyPr>
          <a:lstStyle/>
          <a:p>
            <a:pPr algn="l">
              <a:lnSpc>
                <a:spcPct val="106000"/>
              </a:lnSpc>
            </a:pPr>
            <a:r>
              <a:rPr sz="1500" b="1" i="0">
                <a:solidFill>
                  <a:srgbClr val="0C2231"/>
                </a:solidFill>
                <a:latin typeface="Calibri"/>
              </a:rPr>
              <a:t>Embedded software</a:t>
            </a:r>
          </a:p>
        </p:txBody>
      </p:sp>
      <p:sp>
        <p:nvSpPr>
          <p:cNvPr id="15" name="TextBox 14"/>
          <p:cNvSpPr txBox="1"/>
          <p:nvPr/>
        </p:nvSpPr>
        <p:spPr>
          <a:xfrm>
            <a:off x="8083296" y="2843784"/>
            <a:ext cx="3529584" cy="502920"/>
          </a:xfrm>
          <a:prstGeom prst="rect">
            <a:avLst/>
          </a:prstGeom>
          <a:noFill/>
        </p:spPr>
        <p:txBody>
          <a:bodyPr wrap="square" lIns="0" rIns="0" tIns="0" bIns="0" anchor="t">
            <a:spAutoFit/>
          </a:bodyPr>
          <a:lstStyle/>
          <a:p>
            <a:pPr algn="l">
              <a:lnSpc>
                <a:spcPct val="106000"/>
              </a:lnSpc>
            </a:pPr>
            <a:r>
              <a:rPr sz="1150" b="0" i="0">
                <a:solidFill>
                  <a:srgbClr val="5E7686"/>
                </a:solidFill>
                <a:latin typeface="Calibri"/>
              </a:rPr>
              <a:t>Architecture and drivers on the target MCU</a:t>
            </a:r>
          </a:p>
        </p:txBody>
      </p:sp>
      <p:sp>
        <p:nvSpPr>
          <p:cNvPr id="16" name="Oval 15"/>
          <p:cNvSpPr/>
          <p:nvPr/>
        </p:nvSpPr>
        <p:spPr>
          <a:xfrm>
            <a:off x="548640" y="3566160"/>
            <a:ext cx="621792" cy="621792"/>
          </a:xfrm>
          <a:prstGeom prst="ellipse">
            <a:avLst/>
          </a:prstGeom>
          <a:solidFill>
            <a:srgbClr val="B078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tilde.png"/>
          <p:cNvPicPr>
            <a:picLocks noChangeAspect="1"/>
          </p:cNvPicPr>
          <p:nvPr/>
        </p:nvPicPr>
        <p:blipFill>
          <a:blip r:embed="rId3"/>
          <a:stretch>
            <a:fillRect/>
          </a:stretch>
        </p:blipFill>
        <p:spPr>
          <a:xfrm>
            <a:off x="629472" y="3646992"/>
            <a:ext cx="460126" cy="460126"/>
          </a:xfrm>
          <a:prstGeom prst="rect">
            <a:avLst/>
          </a:prstGeom>
        </p:spPr>
      </p:pic>
      <p:sp>
        <p:nvSpPr>
          <p:cNvPr id="18" name="TextBox 17"/>
          <p:cNvSpPr txBox="1"/>
          <p:nvPr/>
        </p:nvSpPr>
        <p:spPr>
          <a:xfrm>
            <a:off x="548640" y="4334256"/>
            <a:ext cx="3529584" cy="548640"/>
          </a:xfrm>
          <a:prstGeom prst="rect">
            <a:avLst/>
          </a:prstGeom>
          <a:noFill/>
        </p:spPr>
        <p:txBody>
          <a:bodyPr wrap="square" lIns="0" rIns="0" tIns="0" bIns="0" anchor="t">
            <a:spAutoFit/>
          </a:bodyPr>
          <a:lstStyle/>
          <a:p>
            <a:pPr algn="l">
              <a:lnSpc>
                <a:spcPct val="106000"/>
              </a:lnSpc>
            </a:pPr>
            <a:r>
              <a:rPr sz="1500" b="1" i="0">
                <a:solidFill>
                  <a:srgbClr val="0C2231"/>
                </a:solidFill>
                <a:latin typeface="Calibri"/>
              </a:rPr>
              <a:t>Swarm control</a:t>
            </a:r>
          </a:p>
        </p:txBody>
      </p:sp>
      <p:sp>
        <p:nvSpPr>
          <p:cNvPr id="19" name="TextBox 18"/>
          <p:cNvSpPr txBox="1"/>
          <p:nvPr/>
        </p:nvSpPr>
        <p:spPr>
          <a:xfrm>
            <a:off x="548640" y="4809744"/>
            <a:ext cx="3529584" cy="502920"/>
          </a:xfrm>
          <a:prstGeom prst="rect">
            <a:avLst/>
          </a:prstGeom>
          <a:noFill/>
        </p:spPr>
        <p:txBody>
          <a:bodyPr wrap="square" lIns="0" rIns="0" tIns="0" bIns="0" anchor="t">
            <a:spAutoFit/>
          </a:bodyPr>
          <a:lstStyle/>
          <a:p>
            <a:pPr algn="l">
              <a:lnSpc>
                <a:spcPct val="106000"/>
              </a:lnSpc>
            </a:pPr>
            <a:r>
              <a:rPr sz="1150" b="0" i="0">
                <a:solidFill>
                  <a:srgbClr val="5E7686"/>
                </a:solidFill>
                <a:latin typeface="Calibri"/>
              </a:rPr>
              <a:t>Deterministic simulator, five AUV</a:t>
            </a:r>
          </a:p>
        </p:txBody>
      </p:sp>
      <p:sp>
        <p:nvSpPr>
          <p:cNvPr id="20" name="Oval 19"/>
          <p:cNvSpPr/>
          <p:nvPr/>
        </p:nvSpPr>
        <p:spPr>
          <a:xfrm>
            <a:off x="4315968" y="3566160"/>
            <a:ext cx="621792" cy="621792"/>
          </a:xfrm>
          <a:prstGeom prst="ellipse">
            <a:avLst/>
          </a:prstGeom>
          <a:solidFill>
            <a:srgbClr val="2E7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check.png"/>
          <p:cNvPicPr>
            <a:picLocks noChangeAspect="1"/>
          </p:cNvPicPr>
          <p:nvPr/>
        </p:nvPicPr>
        <p:blipFill>
          <a:blip r:embed="rId2"/>
          <a:stretch>
            <a:fillRect/>
          </a:stretch>
        </p:blipFill>
        <p:spPr>
          <a:xfrm>
            <a:off x="4396800" y="3646992"/>
            <a:ext cx="460126" cy="460126"/>
          </a:xfrm>
          <a:prstGeom prst="rect">
            <a:avLst/>
          </a:prstGeom>
        </p:spPr>
      </p:pic>
      <p:sp>
        <p:nvSpPr>
          <p:cNvPr id="22" name="TextBox 21"/>
          <p:cNvSpPr txBox="1"/>
          <p:nvPr/>
        </p:nvSpPr>
        <p:spPr>
          <a:xfrm>
            <a:off x="4315968" y="4334256"/>
            <a:ext cx="3529584" cy="548640"/>
          </a:xfrm>
          <a:prstGeom prst="rect">
            <a:avLst/>
          </a:prstGeom>
          <a:noFill/>
        </p:spPr>
        <p:txBody>
          <a:bodyPr wrap="square" lIns="0" rIns="0" tIns="0" bIns="0" anchor="t">
            <a:spAutoFit/>
          </a:bodyPr>
          <a:lstStyle/>
          <a:p>
            <a:pPr algn="l">
              <a:lnSpc>
                <a:spcPct val="106000"/>
              </a:lnSpc>
            </a:pPr>
            <a:r>
              <a:rPr sz="1500" b="1" i="0">
                <a:solidFill>
                  <a:srgbClr val="0C2231"/>
                </a:solidFill>
                <a:latin typeface="Calibri"/>
              </a:rPr>
              <a:t>Protocol bench</a:t>
            </a:r>
          </a:p>
        </p:txBody>
      </p:sp>
      <p:sp>
        <p:nvSpPr>
          <p:cNvPr id="23" name="TextBox 22"/>
          <p:cNvSpPr txBox="1"/>
          <p:nvPr/>
        </p:nvSpPr>
        <p:spPr>
          <a:xfrm>
            <a:off x="4315968" y="4809744"/>
            <a:ext cx="3529584" cy="502920"/>
          </a:xfrm>
          <a:prstGeom prst="rect">
            <a:avLst/>
          </a:prstGeom>
          <a:noFill/>
        </p:spPr>
        <p:txBody>
          <a:bodyPr wrap="square" lIns="0" rIns="0" tIns="0" bIns="0" anchor="t">
            <a:spAutoFit/>
          </a:bodyPr>
          <a:lstStyle/>
          <a:p>
            <a:pPr algn="l">
              <a:lnSpc>
                <a:spcPct val="106000"/>
              </a:lnSpc>
            </a:pPr>
            <a:r>
              <a:rPr sz="1150" b="0" i="0">
                <a:solidFill>
                  <a:srgbClr val="5E7686"/>
                </a:solidFill>
                <a:latin typeface="Calibri"/>
              </a:rPr>
              <a:t>ESP32 and Raspberry Pi, bidirectional</a:t>
            </a:r>
          </a:p>
        </p:txBody>
      </p:sp>
      <p:sp>
        <p:nvSpPr>
          <p:cNvPr id="24" name="Oval 23"/>
          <p:cNvSpPr/>
          <p:nvPr/>
        </p:nvSpPr>
        <p:spPr>
          <a:xfrm>
            <a:off x="8083296" y="3566160"/>
            <a:ext cx="621792" cy="621792"/>
          </a:xfrm>
          <a:prstGeom prst="ellipse">
            <a:avLst/>
          </a:prstGeom>
          <a:solidFill>
            <a:srgbClr val="9E3B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5" name="Picture 24" descr="cross.png"/>
          <p:cNvPicPr>
            <a:picLocks noChangeAspect="1"/>
          </p:cNvPicPr>
          <p:nvPr/>
        </p:nvPicPr>
        <p:blipFill>
          <a:blip r:embed="rId4"/>
          <a:stretch>
            <a:fillRect/>
          </a:stretch>
        </p:blipFill>
        <p:spPr>
          <a:xfrm>
            <a:off x="8164128" y="3646992"/>
            <a:ext cx="460126" cy="460126"/>
          </a:xfrm>
          <a:prstGeom prst="rect">
            <a:avLst/>
          </a:prstGeom>
        </p:spPr>
      </p:pic>
      <p:sp>
        <p:nvSpPr>
          <p:cNvPr id="26" name="TextBox 25"/>
          <p:cNvSpPr txBox="1"/>
          <p:nvPr/>
        </p:nvSpPr>
        <p:spPr>
          <a:xfrm>
            <a:off x="8083296" y="4334256"/>
            <a:ext cx="3529584" cy="548640"/>
          </a:xfrm>
          <a:prstGeom prst="rect">
            <a:avLst/>
          </a:prstGeom>
          <a:noFill/>
        </p:spPr>
        <p:txBody>
          <a:bodyPr wrap="square" lIns="0" rIns="0" tIns="0" bIns="0" anchor="t">
            <a:spAutoFit/>
          </a:bodyPr>
          <a:lstStyle/>
          <a:p>
            <a:pPr algn="l">
              <a:lnSpc>
                <a:spcPct val="106000"/>
              </a:lnSpc>
            </a:pPr>
            <a:r>
              <a:rPr sz="1500" b="1" i="0">
                <a:solidFill>
                  <a:srgbClr val="0C2231"/>
                </a:solidFill>
                <a:latin typeface="Calibri"/>
              </a:rPr>
              <a:t>Tank and field trials</a:t>
            </a:r>
          </a:p>
        </p:txBody>
      </p:sp>
      <p:sp>
        <p:nvSpPr>
          <p:cNvPr id="27" name="TextBox 26"/>
          <p:cNvSpPr txBox="1"/>
          <p:nvPr/>
        </p:nvSpPr>
        <p:spPr>
          <a:xfrm>
            <a:off x="8083296" y="4809744"/>
            <a:ext cx="3529584" cy="502920"/>
          </a:xfrm>
          <a:prstGeom prst="rect">
            <a:avLst/>
          </a:prstGeom>
          <a:noFill/>
        </p:spPr>
        <p:txBody>
          <a:bodyPr wrap="square" lIns="0" rIns="0" tIns="0" bIns="0" anchor="t">
            <a:spAutoFit/>
          </a:bodyPr>
          <a:lstStyle/>
          <a:p>
            <a:pPr algn="l">
              <a:lnSpc>
                <a:spcPct val="106000"/>
              </a:lnSpc>
            </a:pPr>
            <a:r>
              <a:rPr sz="1150" b="0" i="0">
                <a:solidFill>
                  <a:srgbClr val="5E7686"/>
                </a:solidFill>
                <a:latin typeface="Calibri"/>
              </a:rPr>
              <a:t>Outside the internship window</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146304"/>
            <a:ext cx="11094415" cy="237744"/>
          </a:xfrm>
          <a:prstGeom prst="rect">
            <a:avLst/>
          </a:prstGeom>
          <a:noFill/>
        </p:spPr>
        <p:txBody>
          <a:bodyPr wrap="square" lIns="0" rIns="0" tIns="0" bIns="0" anchor="ctr">
            <a:spAutoFit/>
          </a:bodyPr>
          <a:lstStyle/>
          <a:p>
            <a:pPr algn="l"/>
            <a:r>
              <a:rPr sz="1000" b="1" i="0" spc="140">
                <a:solidFill>
                  <a:srgbClr val="1C7293"/>
                </a:solidFill>
                <a:latin typeface="Calibri"/>
              </a:rPr>
              <a:t>ELECTRONICS</a:t>
            </a:r>
          </a:p>
        </p:txBody>
      </p:sp>
      <p:sp>
        <p:nvSpPr>
          <p:cNvPr id="3" name="TextBox 2"/>
          <p:cNvSpPr txBox="1"/>
          <p:nvPr/>
        </p:nvSpPr>
        <p:spPr>
          <a:xfrm>
            <a:off x="548640" y="384048"/>
            <a:ext cx="11094415" cy="676656"/>
          </a:xfrm>
          <a:prstGeom prst="rect">
            <a:avLst/>
          </a:prstGeom>
          <a:noFill/>
        </p:spPr>
        <p:txBody>
          <a:bodyPr wrap="square" lIns="0" rIns="0" tIns="0" bIns="0" anchor="ctr">
            <a:spAutoFit/>
          </a:bodyPr>
          <a:lstStyle/>
          <a:p>
            <a:pPr algn="l"/>
            <a:r>
              <a:rPr sz="3300" b="1" i="0">
                <a:solidFill>
                  <a:srgbClr val="0C2231"/>
                </a:solidFill>
                <a:latin typeface="Cambria"/>
              </a:rPr>
              <a:t>System architecture and interconnection</a:t>
            </a:r>
          </a:p>
        </p:txBody>
      </p:sp>
      <p:sp>
        <p:nvSpPr>
          <p:cNvPr id="4" name="TextBox 3"/>
          <p:cNvSpPr txBox="1"/>
          <p:nvPr/>
        </p:nvSpPr>
        <p:spPr>
          <a:xfrm>
            <a:off x="548640" y="1188720"/>
            <a:ext cx="1554480" cy="457200"/>
          </a:xfrm>
          <a:prstGeom prst="rect">
            <a:avLst/>
          </a:prstGeom>
          <a:noFill/>
        </p:spPr>
        <p:txBody>
          <a:bodyPr wrap="square" lIns="0" rIns="0" tIns="0" bIns="0" anchor="ctr">
            <a:spAutoFit/>
          </a:bodyPr>
          <a:lstStyle/>
          <a:p>
            <a:pPr algn="l"/>
            <a:r>
              <a:rPr sz="1000" b="1" i="0" spc="120">
                <a:solidFill>
                  <a:srgbClr val="5E7686"/>
                </a:solidFill>
                <a:latin typeface="Calibri"/>
              </a:rPr>
              <a:t>POWER</a:t>
            </a:r>
          </a:p>
        </p:txBody>
      </p:sp>
      <p:sp>
        <p:nvSpPr>
          <p:cNvPr id="5" name="Rounded Rectangle 4"/>
          <p:cNvSpPr/>
          <p:nvPr/>
        </p:nvSpPr>
        <p:spPr>
          <a:xfrm>
            <a:off x="2221992" y="1152144"/>
            <a:ext cx="1700784" cy="548640"/>
          </a:xfrm>
          <a:prstGeom prst="roundRect">
            <a:avLst>
              <a:gd name="adj" fmla="val 7500"/>
            </a:avLst>
          </a:prstGeom>
          <a:solidFill>
            <a:srgbClr val="EDF2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221992" y="1197864"/>
            <a:ext cx="1700784" cy="256032"/>
          </a:xfrm>
          <a:prstGeom prst="rect">
            <a:avLst/>
          </a:prstGeom>
          <a:noFill/>
        </p:spPr>
        <p:txBody>
          <a:bodyPr wrap="square" lIns="0" rIns="0" tIns="0" bIns="0" anchor="ctr">
            <a:spAutoFit/>
          </a:bodyPr>
          <a:lstStyle/>
          <a:p>
            <a:pPr algn="ctr"/>
            <a:r>
              <a:rPr sz="1250" b="1" i="0">
                <a:solidFill>
                  <a:srgbClr val="065A82"/>
                </a:solidFill>
                <a:latin typeface="Calibri"/>
              </a:rPr>
              <a:t>+BATT</a:t>
            </a:r>
          </a:p>
        </p:txBody>
      </p:sp>
      <p:sp>
        <p:nvSpPr>
          <p:cNvPr id="7" name="TextBox 6"/>
          <p:cNvSpPr txBox="1"/>
          <p:nvPr/>
        </p:nvSpPr>
        <p:spPr>
          <a:xfrm>
            <a:off x="2221992" y="1435608"/>
            <a:ext cx="1700784" cy="237744"/>
          </a:xfrm>
          <a:prstGeom prst="rect">
            <a:avLst/>
          </a:prstGeom>
          <a:noFill/>
        </p:spPr>
        <p:txBody>
          <a:bodyPr wrap="square" lIns="0" rIns="0" tIns="0" bIns="0" anchor="ctr">
            <a:spAutoFit/>
          </a:bodyPr>
          <a:lstStyle/>
          <a:p>
            <a:pPr algn="ctr"/>
            <a:r>
              <a:rPr sz="1000" b="0" i="0">
                <a:solidFill>
                  <a:srgbClr val="5E7686"/>
                </a:solidFill>
                <a:latin typeface="Calibri"/>
              </a:rPr>
              <a:t>12 V</a:t>
            </a:r>
          </a:p>
        </p:txBody>
      </p:sp>
      <p:sp>
        <p:nvSpPr>
          <p:cNvPr id="8" name="TextBox 7"/>
          <p:cNvSpPr txBox="1"/>
          <p:nvPr/>
        </p:nvSpPr>
        <p:spPr>
          <a:xfrm>
            <a:off x="3922776" y="1152144"/>
            <a:ext cx="384048" cy="548640"/>
          </a:xfrm>
          <a:prstGeom prst="rect">
            <a:avLst/>
          </a:prstGeom>
          <a:noFill/>
        </p:spPr>
        <p:txBody>
          <a:bodyPr wrap="square" lIns="0" rIns="0" tIns="0" bIns="0" anchor="ctr">
            <a:spAutoFit/>
          </a:bodyPr>
          <a:lstStyle/>
          <a:p>
            <a:pPr algn="ctr"/>
            <a:r>
              <a:rPr sz="1500" b="1" i="0">
                <a:solidFill>
                  <a:srgbClr val="E0A33E"/>
                </a:solidFill>
                <a:latin typeface="Calibri"/>
              </a:rPr>
              <a:t>→</a:t>
            </a:r>
          </a:p>
        </p:txBody>
      </p:sp>
      <p:sp>
        <p:nvSpPr>
          <p:cNvPr id="9" name="Rounded Rectangle 8"/>
          <p:cNvSpPr/>
          <p:nvPr/>
        </p:nvSpPr>
        <p:spPr>
          <a:xfrm>
            <a:off x="4306824" y="1152144"/>
            <a:ext cx="1700784" cy="548640"/>
          </a:xfrm>
          <a:prstGeom prst="roundRect">
            <a:avLst>
              <a:gd name="adj" fmla="val 7500"/>
            </a:avLst>
          </a:prstGeom>
          <a:solidFill>
            <a:srgbClr val="EDF2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306824" y="1197864"/>
            <a:ext cx="1700784" cy="256032"/>
          </a:xfrm>
          <a:prstGeom prst="rect">
            <a:avLst/>
          </a:prstGeom>
          <a:noFill/>
        </p:spPr>
        <p:txBody>
          <a:bodyPr wrap="square" lIns="0" rIns="0" tIns="0" bIns="0" anchor="ctr">
            <a:spAutoFit/>
          </a:bodyPr>
          <a:lstStyle/>
          <a:p>
            <a:pPr algn="ctr"/>
            <a:r>
              <a:rPr sz="1250" b="1" i="0">
                <a:solidFill>
                  <a:srgbClr val="065A82"/>
                </a:solidFill>
                <a:latin typeface="Calibri"/>
              </a:rPr>
              <a:t>LM74700</a:t>
            </a:r>
          </a:p>
        </p:txBody>
      </p:sp>
      <p:sp>
        <p:nvSpPr>
          <p:cNvPr id="11" name="TextBox 10"/>
          <p:cNvSpPr txBox="1"/>
          <p:nvPr/>
        </p:nvSpPr>
        <p:spPr>
          <a:xfrm>
            <a:off x="4306824" y="1435608"/>
            <a:ext cx="1700784" cy="237744"/>
          </a:xfrm>
          <a:prstGeom prst="rect">
            <a:avLst/>
          </a:prstGeom>
          <a:noFill/>
        </p:spPr>
        <p:txBody>
          <a:bodyPr wrap="square" lIns="0" rIns="0" tIns="0" bIns="0" anchor="ctr">
            <a:spAutoFit/>
          </a:bodyPr>
          <a:lstStyle/>
          <a:p>
            <a:pPr algn="ctr"/>
            <a:r>
              <a:rPr sz="1000" b="0" i="0">
                <a:solidFill>
                  <a:srgbClr val="5E7686"/>
                </a:solidFill>
                <a:latin typeface="Calibri"/>
              </a:rPr>
              <a:t>reverse / inrush</a:t>
            </a:r>
          </a:p>
        </p:txBody>
      </p:sp>
      <p:sp>
        <p:nvSpPr>
          <p:cNvPr id="12" name="TextBox 11"/>
          <p:cNvSpPr txBox="1"/>
          <p:nvPr/>
        </p:nvSpPr>
        <p:spPr>
          <a:xfrm>
            <a:off x="6007608" y="1152144"/>
            <a:ext cx="384048" cy="548640"/>
          </a:xfrm>
          <a:prstGeom prst="rect">
            <a:avLst/>
          </a:prstGeom>
          <a:noFill/>
        </p:spPr>
        <p:txBody>
          <a:bodyPr wrap="square" lIns="0" rIns="0" tIns="0" bIns="0" anchor="ctr">
            <a:spAutoFit/>
          </a:bodyPr>
          <a:lstStyle/>
          <a:p>
            <a:pPr algn="ctr"/>
            <a:r>
              <a:rPr sz="1500" b="1" i="0">
                <a:solidFill>
                  <a:srgbClr val="E0A33E"/>
                </a:solidFill>
                <a:latin typeface="Calibri"/>
              </a:rPr>
              <a:t>→</a:t>
            </a:r>
          </a:p>
        </p:txBody>
      </p:sp>
      <p:sp>
        <p:nvSpPr>
          <p:cNvPr id="13" name="Rounded Rectangle 12"/>
          <p:cNvSpPr/>
          <p:nvPr/>
        </p:nvSpPr>
        <p:spPr>
          <a:xfrm>
            <a:off x="6391656" y="1152144"/>
            <a:ext cx="1700784" cy="548640"/>
          </a:xfrm>
          <a:prstGeom prst="roundRect">
            <a:avLst>
              <a:gd name="adj" fmla="val 7500"/>
            </a:avLst>
          </a:prstGeom>
          <a:solidFill>
            <a:srgbClr val="EDF2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91656" y="1197864"/>
            <a:ext cx="1700784" cy="256032"/>
          </a:xfrm>
          <a:prstGeom prst="rect">
            <a:avLst/>
          </a:prstGeom>
          <a:noFill/>
        </p:spPr>
        <p:txBody>
          <a:bodyPr wrap="square" lIns="0" rIns="0" tIns="0" bIns="0" anchor="ctr">
            <a:spAutoFit/>
          </a:bodyPr>
          <a:lstStyle/>
          <a:p>
            <a:pPr algn="ctr"/>
            <a:r>
              <a:rPr sz="1250" b="1" i="0">
                <a:solidFill>
                  <a:srgbClr val="065A82"/>
                </a:solidFill>
                <a:latin typeface="Calibri"/>
              </a:rPr>
              <a:t>AP63205</a:t>
            </a:r>
          </a:p>
        </p:txBody>
      </p:sp>
      <p:sp>
        <p:nvSpPr>
          <p:cNvPr id="15" name="TextBox 14"/>
          <p:cNvSpPr txBox="1"/>
          <p:nvPr/>
        </p:nvSpPr>
        <p:spPr>
          <a:xfrm>
            <a:off x="6391656" y="1435608"/>
            <a:ext cx="1700784" cy="237744"/>
          </a:xfrm>
          <a:prstGeom prst="rect">
            <a:avLst/>
          </a:prstGeom>
          <a:noFill/>
        </p:spPr>
        <p:txBody>
          <a:bodyPr wrap="square" lIns="0" rIns="0" tIns="0" bIns="0" anchor="ctr">
            <a:spAutoFit/>
          </a:bodyPr>
          <a:lstStyle/>
          <a:p>
            <a:pPr algn="ctr"/>
            <a:r>
              <a:rPr sz="1000" b="0" i="0">
                <a:solidFill>
                  <a:srgbClr val="5E7686"/>
                </a:solidFill>
                <a:latin typeface="Calibri"/>
              </a:rPr>
              <a:t>5 V rail</a:t>
            </a:r>
          </a:p>
        </p:txBody>
      </p:sp>
      <p:sp>
        <p:nvSpPr>
          <p:cNvPr id="16" name="TextBox 15"/>
          <p:cNvSpPr txBox="1"/>
          <p:nvPr/>
        </p:nvSpPr>
        <p:spPr>
          <a:xfrm>
            <a:off x="8092440" y="1152144"/>
            <a:ext cx="384048" cy="548640"/>
          </a:xfrm>
          <a:prstGeom prst="rect">
            <a:avLst/>
          </a:prstGeom>
          <a:noFill/>
        </p:spPr>
        <p:txBody>
          <a:bodyPr wrap="square" lIns="0" rIns="0" tIns="0" bIns="0" anchor="ctr">
            <a:spAutoFit/>
          </a:bodyPr>
          <a:lstStyle/>
          <a:p>
            <a:pPr algn="ctr"/>
            <a:r>
              <a:rPr sz="1500" b="1" i="0">
                <a:solidFill>
                  <a:srgbClr val="E0A33E"/>
                </a:solidFill>
                <a:latin typeface="Calibri"/>
              </a:rPr>
              <a:t>→</a:t>
            </a:r>
          </a:p>
        </p:txBody>
      </p:sp>
      <p:sp>
        <p:nvSpPr>
          <p:cNvPr id="17" name="Rounded Rectangle 16"/>
          <p:cNvSpPr/>
          <p:nvPr/>
        </p:nvSpPr>
        <p:spPr>
          <a:xfrm>
            <a:off x="8476488" y="1152144"/>
            <a:ext cx="1700784" cy="548640"/>
          </a:xfrm>
          <a:prstGeom prst="roundRect">
            <a:avLst>
              <a:gd name="adj" fmla="val 7500"/>
            </a:avLst>
          </a:prstGeom>
          <a:solidFill>
            <a:srgbClr val="EDF2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76488" y="1197864"/>
            <a:ext cx="1700784" cy="256032"/>
          </a:xfrm>
          <a:prstGeom prst="rect">
            <a:avLst/>
          </a:prstGeom>
          <a:noFill/>
        </p:spPr>
        <p:txBody>
          <a:bodyPr wrap="square" lIns="0" rIns="0" tIns="0" bIns="0" anchor="ctr">
            <a:spAutoFit/>
          </a:bodyPr>
          <a:lstStyle/>
          <a:p>
            <a:pPr algn="ctr"/>
            <a:r>
              <a:rPr sz="1250" b="1" i="0">
                <a:solidFill>
                  <a:srgbClr val="065A82"/>
                </a:solidFill>
                <a:latin typeface="Calibri"/>
              </a:rPr>
              <a:t>AP63203</a:t>
            </a:r>
          </a:p>
        </p:txBody>
      </p:sp>
      <p:sp>
        <p:nvSpPr>
          <p:cNvPr id="19" name="TextBox 18"/>
          <p:cNvSpPr txBox="1"/>
          <p:nvPr/>
        </p:nvSpPr>
        <p:spPr>
          <a:xfrm>
            <a:off x="8476488" y="1435608"/>
            <a:ext cx="1700784" cy="237744"/>
          </a:xfrm>
          <a:prstGeom prst="rect">
            <a:avLst/>
          </a:prstGeom>
          <a:noFill/>
        </p:spPr>
        <p:txBody>
          <a:bodyPr wrap="square" lIns="0" rIns="0" tIns="0" bIns="0" anchor="ctr">
            <a:spAutoFit/>
          </a:bodyPr>
          <a:lstStyle/>
          <a:p>
            <a:pPr algn="ctr"/>
            <a:r>
              <a:rPr sz="1000" b="0" i="0">
                <a:solidFill>
                  <a:srgbClr val="5E7686"/>
                </a:solidFill>
                <a:latin typeface="Calibri"/>
              </a:rPr>
              <a:t>3.3 V rail</a:t>
            </a:r>
          </a:p>
        </p:txBody>
      </p:sp>
      <p:sp>
        <p:nvSpPr>
          <p:cNvPr id="20" name="Rectangle 19"/>
          <p:cNvSpPr/>
          <p:nvPr/>
        </p:nvSpPr>
        <p:spPr>
          <a:xfrm>
            <a:off x="9316821" y="1700784"/>
            <a:ext cx="20116" cy="237744"/>
          </a:xfrm>
          <a:prstGeom prst="rect">
            <a:avLst/>
          </a:prstGeom>
          <a:solidFill>
            <a:srgbClr val="9FB8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080760" y="1928469"/>
            <a:ext cx="3246119" cy="20116"/>
          </a:xfrm>
          <a:prstGeom prst="rect">
            <a:avLst/>
          </a:prstGeom>
          <a:solidFill>
            <a:srgbClr val="9FB8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070701" y="1938528"/>
            <a:ext cx="20116" cy="219455"/>
          </a:xfrm>
          <a:prstGeom prst="rect">
            <a:avLst/>
          </a:prstGeom>
          <a:solidFill>
            <a:srgbClr val="9FB8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4617720" y="2157984"/>
            <a:ext cx="2926080" cy="1920240"/>
          </a:xfrm>
          <a:prstGeom prst="roundRect">
            <a:avLst>
              <a:gd name="adj" fmla="val 2142"/>
            </a:avLst>
          </a:prstGeom>
          <a:solidFill>
            <a:srgbClr val="0C2231"/>
          </a:solidFill>
          <a:ln>
            <a:noFill/>
          </a:ln>
          <a:effectLst>
            <a:outerShdw blurRad="88900" dist="12700" dir="5400000" rotWithShape="0">
              <a:srgbClr val="9FB3C0">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709160" y="2322576"/>
            <a:ext cx="2743200" cy="329184"/>
          </a:xfrm>
          <a:prstGeom prst="rect">
            <a:avLst/>
          </a:prstGeom>
          <a:noFill/>
        </p:spPr>
        <p:txBody>
          <a:bodyPr wrap="square" lIns="0" rIns="0" tIns="0" bIns="0" anchor="ctr">
            <a:spAutoFit/>
          </a:bodyPr>
          <a:lstStyle/>
          <a:p>
            <a:pPr algn="ctr"/>
            <a:r>
              <a:rPr sz="1650" b="1" i="0">
                <a:solidFill>
                  <a:srgbClr val="FFFFFF"/>
                </a:solidFill>
                <a:latin typeface="Cambria"/>
              </a:rPr>
              <a:t>STM32F765VITx</a:t>
            </a:r>
          </a:p>
        </p:txBody>
      </p:sp>
      <p:sp>
        <p:nvSpPr>
          <p:cNvPr id="25" name="TextBox 24"/>
          <p:cNvSpPr txBox="1"/>
          <p:nvPr/>
        </p:nvSpPr>
        <p:spPr>
          <a:xfrm>
            <a:off x="4709160" y="2688336"/>
            <a:ext cx="2743200" cy="786384"/>
          </a:xfrm>
          <a:prstGeom prst="rect">
            <a:avLst/>
          </a:prstGeom>
          <a:noFill/>
        </p:spPr>
        <p:txBody>
          <a:bodyPr wrap="square" lIns="0" rIns="0" tIns="0" bIns="0" anchor="t">
            <a:spAutoFit/>
          </a:bodyPr>
          <a:lstStyle/>
          <a:p>
            <a:pPr algn="ctr">
              <a:lnSpc>
                <a:spcPct val="130000"/>
              </a:lnSpc>
            </a:pPr>
            <a:r>
              <a:rPr sz="1150" b="0" i="0">
                <a:solidFill>
                  <a:srgbClr val="AFC4D2"/>
                </a:solidFill>
                <a:latin typeface="Calibri"/>
              </a:rPr>
              <a:t>Cortex-M7 at 216 MHz</a:t>
            </a:r>
          </a:p>
          <a:p>
            <a:pPr algn="ctr">
              <a:lnSpc>
                <a:spcPct val="130000"/>
              </a:lnSpc>
            </a:pPr>
            <a:r>
              <a:rPr sz="1150" b="0" i="0">
                <a:solidFill>
                  <a:srgbClr val="AFC4D2"/>
                </a:solidFill>
                <a:latin typeface="Calibri"/>
              </a:rPr>
              <a:t>STM32Cube and FreeRTOS</a:t>
            </a:r>
          </a:p>
          <a:p>
            <a:pPr algn="ctr">
              <a:lnSpc>
                <a:spcPct val="130000"/>
              </a:lnSpc>
            </a:pPr>
            <a:r>
              <a:rPr sz="1150" b="0" i="0">
                <a:solidFill>
                  <a:srgbClr val="AFC4D2"/>
                </a:solidFill>
                <a:latin typeface="Calibri"/>
              </a:rPr>
              <a:t>sensor task at 10 Hz</a:t>
            </a:r>
          </a:p>
        </p:txBody>
      </p:sp>
      <p:sp>
        <p:nvSpPr>
          <p:cNvPr id="26" name="Rounded Rectangle 25"/>
          <p:cNvSpPr/>
          <p:nvPr/>
        </p:nvSpPr>
        <p:spPr>
          <a:xfrm>
            <a:off x="5120640" y="3621024"/>
            <a:ext cx="1920240" cy="228600"/>
          </a:xfrm>
          <a:prstGeom prst="roundRect">
            <a:avLst>
              <a:gd name="adj" fmla="val 50000"/>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120640" y="3621024"/>
            <a:ext cx="1920240" cy="228600"/>
          </a:xfrm>
          <a:prstGeom prst="rect">
            <a:avLst/>
          </a:prstGeom>
          <a:noFill/>
        </p:spPr>
        <p:txBody>
          <a:bodyPr wrap="square" lIns="0" rIns="0" tIns="0" bIns="0" anchor="ctr">
            <a:spAutoFit/>
          </a:bodyPr>
          <a:lstStyle/>
          <a:p>
            <a:pPr algn="ctr"/>
            <a:r>
              <a:rPr sz="750" b="1" i="0" spc="70">
                <a:solidFill>
                  <a:srgbClr val="FFFFFF"/>
                </a:solidFill>
                <a:latin typeface="Calibri"/>
              </a:rPr>
              <a:t>116 PARTS · 2 LAYERS · 94.8 CM²</a:t>
            </a:r>
          </a:p>
        </p:txBody>
      </p:sp>
      <p:sp>
        <p:nvSpPr>
          <p:cNvPr id="28" name="Rounded Rectangle 27"/>
          <p:cNvSpPr/>
          <p:nvPr/>
        </p:nvSpPr>
        <p:spPr>
          <a:xfrm>
            <a:off x="548640" y="2212848"/>
            <a:ext cx="3383280" cy="868680"/>
          </a:xfrm>
          <a:prstGeom prst="roundRect">
            <a:avLst>
              <a:gd name="adj" fmla="val 4736"/>
            </a:avLst>
          </a:prstGeom>
          <a:solidFill>
            <a:srgbClr val="E2EB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31520" y="2331720"/>
            <a:ext cx="3017520" cy="274320"/>
          </a:xfrm>
          <a:prstGeom prst="rect">
            <a:avLst/>
          </a:prstGeom>
          <a:noFill/>
        </p:spPr>
        <p:txBody>
          <a:bodyPr wrap="square" lIns="0" rIns="0" tIns="0" bIns="0" anchor="ctr">
            <a:spAutoFit/>
          </a:bodyPr>
          <a:lstStyle/>
          <a:p>
            <a:pPr algn="l"/>
            <a:r>
              <a:rPr sz="1250" b="1" i="0">
                <a:solidFill>
                  <a:srgbClr val="065A82"/>
                </a:solidFill>
                <a:latin typeface="Calibri"/>
              </a:rPr>
              <a:t>I²C2 — inertial and environment</a:t>
            </a:r>
          </a:p>
        </p:txBody>
      </p:sp>
      <p:sp>
        <p:nvSpPr>
          <p:cNvPr id="30" name="TextBox 29"/>
          <p:cNvSpPr txBox="1"/>
          <p:nvPr/>
        </p:nvSpPr>
        <p:spPr>
          <a:xfrm>
            <a:off x="731520" y="2624328"/>
            <a:ext cx="3017520" cy="365759"/>
          </a:xfrm>
          <a:prstGeom prst="rect">
            <a:avLst/>
          </a:prstGeom>
          <a:noFill/>
        </p:spPr>
        <p:txBody>
          <a:bodyPr wrap="square" lIns="0" rIns="0" tIns="0" bIns="0" anchor="t">
            <a:spAutoFit/>
          </a:bodyPr>
          <a:lstStyle/>
          <a:p>
            <a:pPr algn="l">
              <a:lnSpc>
                <a:spcPct val="112000"/>
              </a:lnSpc>
            </a:pPr>
            <a:r>
              <a:rPr sz="1100" b="0" i="0">
                <a:solidFill>
                  <a:srgbClr val="1F3644"/>
                </a:solidFill>
                <a:latin typeface="Calibri"/>
              </a:rPr>
              <a:t>LSM6DSO accel/gyro · LIS2MDL</a:t>
            </a:r>
          </a:p>
          <a:p>
            <a:pPr algn="l">
              <a:lnSpc>
                <a:spcPct val="112000"/>
              </a:lnSpc>
            </a:pPr>
            <a:r>
              <a:rPr sz="1100" b="0" i="0">
                <a:solidFill>
                  <a:srgbClr val="1F3644"/>
                </a:solidFill>
                <a:latin typeface="Calibri"/>
              </a:rPr>
              <a:t>magnetometer · LPS22HB barometer</a:t>
            </a:r>
          </a:p>
        </p:txBody>
      </p:sp>
      <p:sp>
        <p:nvSpPr>
          <p:cNvPr id="31" name="Rounded Rectangle 30"/>
          <p:cNvSpPr/>
          <p:nvPr/>
        </p:nvSpPr>
        <p:spPr>
          <a:xfrm>
            <a:off x="548640" y="3218688"/>
            <a:ext cx="3383280" cy="777240"/>
          </a:xfrm>
          <a:prstGeom prst="roundRect">
            <a:avLst>
              <a:gd name="adj" fmla="val 5294"/>
            </a:avLst>
          </a:prstGeom>
          <a:solidFill>
            <a:srgbClr val="E2EB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31520" y="3337560"/>
            <a:ext cx="3017520" cy="274320"/>
          </a:xfrm>
          <a:prstGeom prst="rect">
            <a:avLst/>
          </a:prstGeom>
          <a:noFill/>
        </p:spPr>
        <p:txBody>
          <a:bodyPr wrap="square" lIns="0" rIns="0" tIns="0" bIns="0" anchor="ctr">
            <a:spAutoFit/>
          </a:bodyPr>
          <a:lstStyle/>
          <a:p>
            <a:pPr algn="l"/>
            <a:r>
              <a:rPr sz="1250" b="1" i="0">
                <a:solidFill>
                  <a:srgbClr val="065A82"/>
                </a:solidFill>
                <a:latin typeface="Calibri"/>
              </a:rPr>
              <a:t>I²C1 — external connector</a:t>
            </a:r>
          </a:p>
        </p:txBody>
      </p:sp>
      <p:sp>
        <p:nvSpPr>
          <p:cNvPr id="33" name="TextBox 32"/>
          <p:cNvSpPr txBox="1"/>
          <p:nvPr/>
        </p:nvSpPr>
        <p:spPr>
          <a:xfrm>
            <a:off x="731520" y="3630168"/>
            <a:ext cx="3017520" cy="274319"/>
          </a:xfrm>
          <a:prstGeom prst="rect">
            <a:avLst/>
          </a:prstGeom>
          <a:noFill/>
        </p:spPr>
        <p:txBody>
          <a:bodyPr wrap="square" lIns="0" rIns="0" tIns="0" bIns="0" anchor="t">
            <a:spAutoFit/>
          </a:bodyPr>
          <a:lstStyle/>
          <a:p>
            <a:pPr algn="l">
              <a:lnSpc>
                <a:spcPct val="112000"/>
              </a:lnSpc>
            </a:pPr>
            <a:r>
              <a:rPr sz="1100" b="0" i="0">
                <a:solidFill>
                  <a:srgbClr val="1F3644"/>
                </a:solidFill>
                <a:latin typeface="Calibri"/>
              </a:rPr>
              <a:t>Bar30 depth and pressure sensor</a:t>
            </a:r>
          </a:p>
        </p:txBody>
      </p:sp>
      <p:sp>
        <p:nvSpPr>
          <p:cNvPr id="34" name="Rectangle 33"/>
          <p:cNvSpPr/>
          <p:nvPr/>
        </p:nvSpPr>
        <p:spPr>
          <a:xfrm>
            <a:off x="3931920" y="2641701"/>
            <a:ext cx="685800" cy="20116"/>
          </a:xfrm>
          <a:prstGeom prst="rect">
            <a:avLst/>
          </a:prstGeom>
          <a:solidFill>
            <a:srgbClr val="9FB8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3931920" y="3601821"/>
            <a:ext cx="685800" cy="20116"/>
          </a:xfrm>
          <a:prstGeom prst="rect">
            <a:avLst/>
          </a:prstGeom>
          <a:solidFill>
            <a:srgbClr val="9FB8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ounded Rectangle 35"/>
          <p:cNvSpPr/>
          <p:nvPr/>
        </p:nvSpPr>
        <p:spPr>
          <a:xfrm>
            <a:off x="8229600" y="2157984"/>
            <a:ext cx="3383280" cy="713232"/>
          </a:xfrm>
          <a:prstGeom prst="roundRect">
            <a:avLst>
              <a:gd name="adj" fmla="val 5769"/>
            </a:avLst>
          </a:prstGeom>
          <a:solidFill>
            <a:srgbClr val="E2EB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412480" y="2276856"/>
            <a:ext cx="3017520" cy="274320"/>
          </a:xfrm>
          <a:prstGeom prst="rect">
            <a:avLst/>
          </a:prstGeom>
          <a:noFill/>
        </p:spPr>
        <p:txBody>
          <a:bodyPr wrap="square" lIns="0" rIns="0" tIns="0" bIns="0" anchor="ctr">
            <a:spAutoFit/>
          </a:bodyPr>
          <a:lstStyle/>
          <a:p>
            <a:pPr algn="l"/>
            <a:r>
              <a:rPr sz="1250" b="1" i="0">
                <a:solidFill>
                  <a:srgbClr val="065A82"/>
                </a:solidFill>
                <a:latin typeface="Calibri"/>
              </a:rPr>
              <a:t>SPI1 — radio</a:t>
            </a:r>
          </a:p>
        </p:txBody>
      </p:sp>
      <p:sp>
        <p:nvSpPr>
          <p:cNvPr id="38" name="TextBox 37"/>
          <p:cNvSpPr txBox="1"/>
          <p:nvPr/>
        </p:nvSpPr>
        <p:spPr>
          <a:xfrm>
            <a:off x="8412480" y="2569464"/>
            <a:ext cx="3017520" cy="210311"/>
          </a:xfrm>
          <a:prstGeom prst="rect">
            <a:avLst/>
          </a:prstGeom>
          <a:noFill/>
        </p:spPr>
        <p:txBody>
          <a:bodyPr wrap="square" lIns="0" rIns="0" tIns="0" bIns="0" anchor="t">
            <a:spAutoFit/>
          </a:bodyPr>
          <a:lstStyle/>
          <a:p>
            <a:pPr algn="l">
              <a:lnSpc>
                <a:spcPct val="112000"/>
              </a:lnSpc>
            </a:pPr>
            <a:r>
              <a:rPr sz="1100" b="0" i="0">
                <a:solidFill>
                  <a:srgbClr val="1F3644"/>
                </a:solidFill>
                <a:latin typeface="Calibri"/>
              </a:rPr>
              <a:t>nRF24L01+ with CE, CSN and IRQ</a:t>
            </a:r>
          </a:p>
        </p:txBody>
      </p:sp>
      <p:sp>
        <p:nvSpPr>
          <p:cNvPr id="39" name="Rounded Rectangle 38"/>
          <p:cNvSpPr/>
          <p:nvPr/>
        </p:nvSpPr>
        <p:spPr>
          <a:xfrm>
            <a:off x="8229600" y="2962656"/>
            <a:ext cx="3383280" cy="713232"/>
          </a:xfrm>
          <a:prstGeom prst="roundRect">
            <a:avLst>
              <a:gd name="adj" fmla="val 5769"/>
            </a:avLst>
          </a:prstGeom>
          <a:solidFill>
            <a:srgbClr val="E2EB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412480" y="3081528"/>
            <a:ext cx="3017520" cy="274320"/>
          </a:xfrm>
          <a:prstGeom prst="rect">
            <a:avLst/>
          </a:prstGeom>
          <a:noFill/>
        </p:spPr>
        <p:txBody>
          <a:bodyPr wrap="square" lIns="0" rIns="0" tIns="0" bIns="0" anchor="ctr">
            <a:spAutoFit/>
          </a:bodyPr>
          <a:lstStyle/>
          <a:p>
            <a:pPr algn="l"/>
            <a:r>
              <a:rPr sz="1250" b="1" i="0">
                <a:solidFill>
                  <a:srgbClr val="065A82"/>
                </a:solidFill>
                <a:latin typeface="Calibri"/>
              </a:rPr>
              <a:t>SDMMC — storage</a:t>
            </a:r>
          </a:p>
        </p:txBody>
      </p:sp>
      <p:sp>
        <p:nvSpPr>
          <p:cNvPr id="41" name="TextBox 40"/>
          <p:cNvSpPr txBox="1"/>
          <p:nvPr/>
        </p:nvSpPr>
        <p:spPr>
          <a:xfrm>
            <a:off x="8412480" y="3374136"/>
            <a:ext cx="3017520" cy="210311"/>
          </a:xfrm>
          <a:prstGeom prst="rect">
            <a:avLst/>
          </a:prstGeom>
          <a:noFill/>
        </p:spPr>
        <p:txBody>
          <a:bodyPr wrap="square" lIns="0" rIns="0" tIns="0" bIns="0" anchor="t">
            <a:spAutoFit/>
          </a:bodyPr>
          <a:lstStyle/>
          <a:p>
            <a:pPr algn="l">
              <a:lnSpc>
                <a:spcPct val="112000"/>
              </a:lnSpc>
            </a:pPr>
            <a:r>
              <a:rPr sz="1100" b="0" i="0">
                <a:solidFill>
                  <a:srgbClr val="1F3644"/>
                </a:solidFill>
                <a:latin typeface="Calibri"/>
              </a:rPr>
              <a:t>microSD with card-detect contact</a:t>
            </a:r>
          </a:p>
        </p:txBody>
      </p:sp>
      <p:sp>
        <p:nvSpPr>
          <p:cNvPr id="42" name="Rounded Rectangle 41"/>
          <p:cNvSpPr/>
          <p:nvPr/>
        </p:nvSpPr>
        <p:spPr>
          <a:xfrm>
            <a:off x="8229600" y="3767328"/>
            <a:ext cx="3383280" cy="713232"/>
          </a:xfrm>
          <a:prstGeom prst="roundRect">
            <a:avLst>
              <a:gd name="adj" fmla="val 5769"/>
            </a:avLst>
          </a:prstGeom>
          <a:solidFill>
            <a:srgbClr val="E2EB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8412480" y="3886200"/>
            <a:ext cx="3017520" cy="274320"/>
          </a:xfrm>
          <a:prstGeom prst="rect">
            <a:avLst/>
          </a:prstGeom>
          <a:noFill/>
        </p:spPr>
        <p:txBody>
          <a:bodyPr wrap="square" lIns="0" rIns="0" tIns="0" bIns="0" anchor="ctr">
            <a:spAutoFit/>
          </a:bodyPr>
          <a:lstStyle/>
          <a:p>
            <a:pPr algn="l"/>
            <a:r>
              <a:rPr sz="1250" b="1" i="0">
                <a:solidFill>
                  <a:srgbClr val="065A82"/>
                </a:solidFill>
                <a:latin typeface="Calibri"/>
              </a:rPr>
              <a:t>UART — navigation aids</a:t>
            </a:r>
          </a:p>
        </p:txBody>
      </p:sp>
      <p:sp>
        <p:nvSpPr>
          <p:cNvPr id="44" name="TextBox 43"/>
          <p:cNvSpPr txBox="1"/>
          <p:nvPr/>
        </p:nvSpPr>
        <p:spPr>
          <a:xfrm>
            <a:off x="8412480" y="4178808"/>
            <a:ext cx="3017520" cy="210311"/>
          </a:xfrm>
          <a:prstGeom prst="rect">
            <a:avLst/>
          </a:prstGeom>
          <a:noFill/>
        </p:spPr>
        <p:txBody>
          <a:bodyPr wrap="square" lIns="0" rIns="0" tIns="0" bIns="0" anchor="t">
            <a:spAutoFit/>
          </a:bodyPr>
          <a:lstStyle/>
          <a:p>
            <a:pPr algn="l">
              <a:lnSpc>
                <a:spcPct val="112000"/>
              </a:lnSpc>
            </a:pPr>
            <a:r>
              <a:rPr sz="1100" b="0" i="0">
                <a:solidFill>
                  <a:srgbClr val="1F3644"/>
                </a:solidFill>
                <a:latin typeface="Calibri"/>
              </a:rPr>
              <a:t>GNSS receiver · Ping2 echosounder</a:t>
            </a:r>
          </a:p>
        </p:txBody>
      </p:sp>
      <p:sp>
        <p:nvSpPr>
          <p:cNvPr id="45" name="Rectangle 44"/>
          <p:cNvSpPr/>
          <p:nvPr/>
        </p:nvSpPr>
        <p:spPr>
          <a:xfrm>
            <a:off x="7543800" y="2504541"/>
            <a:ext cx="685800" cy="20116"/>
          </a:xfrm>
          <a:prstGeom prst="rect">
            <a:avLst/>
          </a:prstGeom>
          <a:solidFill>
            <a:srgbClr val="9FB8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7543800" y="3309213"/>
            <a:ext cx="685800" cy="20116"/>
          </a:xfrm>
          <a:prstGeom prst="rect">
            <a:avLst/>
          </a:prstGeom>
          <a:solidFill>
            <a:srgbClr val="9FB8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7543800" y="4113885"/>
            <a:ext cx="685800" cy="20116"/>
          </a:xfrm>
          <a:prstGeom prst="rect">
            <a:avLst/>
          </a:prstGeom>
          <a:solidFill>
            <a:srgbClr val="9FB8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6070701" y="4078224"/>
            <a:ext cx="20116" cy="493776"/>
          </a:xfrm>
          <a:prstGeom prst="rect">
            <a:avLst/>
          </a:prstGeom>
          <a:solidFill>
            <a:srgbClr val="9FB8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2313432" y="4561941"/>
            <a:ext cx="7534656" cy="20116"/>
          </a:xfrm>
          <a:prstGeom prst="rect">
            <a:avLst/>
          </a:prstGeom>
          <a:solidFill>
            <a:srgbClr val="9FB8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2303373" y="4572000"/>
            <a:ext cx="20116" cy="146304"/>
          </a:xfrm>
          <a:prstGeom prst="rect">
            <a:avLst/>
          </a:prstGeom>
          <a:solidFill>
            <a:srgbClr val="9FB8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ounded Rectangle 50"/>
          <p:cNvSpPr/>
          <p:nvPr/>
        </p:nvSpPr>
        <p:spPr>
          <a:xfrm>
            <a:off x="548640" y="4718304"/>
            <a:ext cx="3529584" cy="777240"/>
          </a:xfrm>
          <a:prstGeom prst="roundRect">
            <a:avLst>
              <a:gd name="adj" fmla="val 5294"/>
            </a:avLst>
          </a:prstGeom>
          <a:solidFill>
            <a:srgbClr val="EDF2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731520" y="4837176"/>
            <a:ext cx="3163824" cy="274320"/>
          </a:xfrm>
          <a:prstGeom prst="rect">
            <a:avLst/>
          </a:prstGeom>
          <a:noFill/>
        </p:spPr>
        <p:txBody>
          <a:bodyPr wrap="square" lIns="0" rIns="0" tIns="0" bIns="0" anchor="ctr">
            <a:spAutoFit/>
          </a:bodyPr>
          <a:lstStyle/>
          <a:p>
            <a:pPr algn="l"/>
            <a:r>
              <a:rPr sz="1250" b="1" i="0">
                <a:solidFill>
                  <a:srgbClr val="065A82"/>
                </a:solidFill>
                <a:latin typeface="Calibri"/>
              </a:rPr>
              <a:t>PWM — propulsion</a:t>
            </a:r>
          </a:p>
        </p:txBody>
      </p:sp>
      <p:sp>
        <p:nvSpPr>
          <p:cNvPr id="53" name="TextBox 52"/>
          <p:cNvSpPr txBox="1"/>
          <p:nvPr/>
        </p:nvSpPr>
        <p:spPr>
          <a:xfrm>
            <a:off x="731520" y="5129784"/>
            <a:ext cx="3163824" cy="274319"/>
          </a:xfrm>
          <a:prstGeom prst="rect">
            <a:avLst/>
          </a:prstGeom>
          <a:noFill/>
        </p:spPr>
        <p:txBody>
          <a:bodyPr wrap="square" lIns="0" rIns="0" tIns="0" bIns="0" anchor="t">
            <a:spAutoFit/>
          </a:bodyPr>
          <a:lstStyle/>
          <a:p>
            <a:pPr algn="l">
              <a:lnSpc>
                <a:spcPct val="112000"/>
              </a:lnSpc>
            </a:pPr>
            <a:r>
              <a:rPr sz="1100" b="0" i="0">
                <a:solidFill>
                  <a:srgbClr val="1F3644"/>
                </a:solidFill>
                <a:latin typeface="Calibri"/>
              </a:rPr>
              <a:t>Two ESC channels driving the T60 thrusters</a:t>
            </a:r>
          </a:p>
        </p:txBody>
      </p:sp>
      <p:sp>
        <p:nvSpPr>
          <p:cNvPr id="54" name="Rectangle 53"/>
          <p:cNvSpPr/>
          <p:nvPr/>
        </p:nvSpPr>
        <p:spPr>
          <a:xfrm>
            <a:off x="6070701" y="4572000"/>
            <a:ext cx="20116" cy="146304"/>
          </a:xfrm>
          <a:prstGeom prst="rect">
            <a:avLst/>
          </a:prstGeom>
          <a:solidFill>
            <a:srgbClr val="9FB8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ounded Rectangle 54"/>
          <p:cNvSpPr/>
          <p:nvPr/>
        </p:nvSpPr>
        <p:spPr>
          <a:xfrm>
            <a:off x="4315968" y="4718304"/>
            <a:ext cx="3529584" cy="777240"/>
          </a:xfrm>
          <a:prstGeom prst="roundRect">
            <a:avLst>
              <a:gd name="adj" fmla="val 5294"/>
            </a:avLst>
          </a:prstGeom>
          <a:solidFill>
            <a:srgbClr val="EDF2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4498848" y="4837176"/>
            <a:ext cx="3163824" cy="274320"/>
          </a:xfrm>
          <a:prstGeom prst="rect">
            <a:avLst/>
          </a:prstGeom>
          <a:noFill/>
        </p:spPr>
        <p:txBody>
          <a:bodyPr wrap="square" lIns="0" rIns="0" tIns="0" bIns="0" anchor="ctr">
            <a:spAutoFit/>
          </a:bodyPr>
          <a:lstStyle/>
          <a:p>
            <a:pPr algn="l"/>
            <a:r>
              <a:rPr sz="1250" b="1" i="0">
                <a:solidFill>
                  <a:srgbClr val="065A82"/>
                </a:solidFill>
                <a:latin typeface="Calibri"/>
              </a:rPr>
              <a:t>GPIO — signalling</a:t>
            </a:r>
          </a:p>
        </p:txBody>
      </p:sp>
      <p:sp>
        <p:nvSpPr>
          <p:cNvPr id="57" name="TextBox 56"/>
          <p:cNvSpPr txBox="1"/>
          <p:nvPr/>
        </p:nvSpPr>
        <p:spPr>
          <a:xfrm>
            <a:off x="4498848" y="5129784"/>
            <a:ext cx="3163824" cy="274319"/>
          </a:xfrm>
          <a:prstGeom prst="rect">
            <a:avLst/>
          </a:prstGeom>
          <a:noFill/>
        </p:spPr>
        <p:txBody>
          <a:bodyPr wrap="square" lIns="0" rIns="0" tIns="0" bIns="0" anchor="t">
            <a:spAutoFit/>
          </a:bodyPr>
          <a:lstStyle/>
          <a:p>
            <a:pPr algn="l">
              <a:lnSpc>
                <a:spcPct val="112000"/>
              </a:lnSpc>
            </a:pPr>
            <a:r>
              <a:rPr sz="1100" b="0" i="0">
                <a:solidFill>
                  <a:srgbClr val="1F3644"/>
                </a:solidFill>
                <a:latin typeface="Calibri"/>
              </a:rPr>
              <a:t>SK6812 RGB via SN74LV1T34 level shifter</a:t>
            </a:r>
          </a:p>
        </p:txBody>
      </p:sp>
      <p:sp>
        <p:nvSpPr>
          <p:cNvPr id="58" name="Rectangle 57"/>
          <p:cNvSpPr/>
          <p:nvPr/>
        </p:nvSpPr>
        <p:spPr>
          <a:xfrm>
            <a:off x="9838029" y="4572000"/>
            <a:ext cx="20116" cy="146304"/>
          </a:xfrm>
          <a:prstGeom prst="rect">
            <a:avLst/>
          </a:prstGeom>
          <a:solidFill>
            <a:srgbClr val="9FB8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ounded Rectangle 58"/>
          <p:cNvSpPr/>
          <p:nvPr/>
        </p:nvSpPr>
        <p:spPr>
          <a:xfrm>
            <a:off x="8083296" y="4718304"/>
            <a:ext cx="3529584" cy="777240"/>
          </a:xfrm>
          <a:prstGeom prst="roundRect">
            <a:avLst>
              <a:gd name="adj" fmla="val 5294"/>
            </a:avLst>
          </a:prstGeom>
          <a:solidFill>
            <a:srgbClr val="EDF2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8266175" y="4837176"/>
            <a:ext cx="3163824" cy="274320"/>
          </a:xfrm>
          <a:prstGeom prst="rect">
            <a:avLst/>
          </a:prstGeom>
          <a:noFill/>
        </p:spPr>
        <p:txBody>
          <a:bodyPr wrap="square" lIns="0" rIns="0" tIns="0" bIns="0" anchor="ctr">
            <a:spAutoFit/>
          </a:bodyPr>
          <a:lstStyle/>
          <a:p>
            <a:pPr algn="l"/>
            <a:r>
              <a:rPr sz="1250" b="1" i="0">
                <a:solidFill>
                  <a:srgbClr val="065A82"/>
                </a:solidFill>
                <a:latin typeface="Calibri"/>
              </a:rPr>
              <a:t>ADC and GPIO — housekeeping</a:t>
            </a:r>
          </a:p>
        </p:txBody>
      </p:sp>
      <p:sp>
        <p:nvSpPr>
          <p:cNvPr id="61" name="TextBox 60"/>
          <p:cNvSpPr txBox="1"/>
          <p:nvPr/>
        </p:nvSpPr>
        <p:spPr>
          <a:xfrm>
            <a:off x="8266175" y="5129784"/>
            <a:ext cx="3163824" cy="274319"/>
          </a:xfrm>
          <a:prstGeom prst="rect">
            <a:avLst/>
          </a:prstGeom>
          <a:noFill/>
        </p:spPr>
        <p:txBody>
          <a:bodyPr wrap="square" lIns="0" rIns="0" tIns="0" bIns="0" anchor="t">
            <a:spAutoFit/>
          </a:bodyPr>
          <a:lstStyle/>
          <a:p>
            <a:pPr algn="l">
              <a:lnSpc>
                <a:spcPct val="112000"/>
              </a:lnSpc>
            </a:pPr>
            <a:r>
              <a:rPr sz="1100" b="0" i="0">
                <a:solidFill>
                  <a:srgbClr val="1F3644"/>
                </a:solidFill>
                <a:latin typeface="Calibri"/>
              </a:rPr>
              <a:t>Battery · US1881 magnetic contact · leak</a:t>
            </a:r>
          </a:p>
        </p:txBody>
      </p:sp>
      <p:sp>
        <p:nvSpPr>
          <p:cNvPr id="62" name="Rectangle 61"/>
          <p:cNvSpPr/>
          <p:nvPr/>
        </p:nvSpPr>
        <p:spPr>
          <a:xfrm>
            <a:off x="548640" y="5669280"/>
            <a:ext cx="11064240" cy="274320"/>
          </a:xfrm>
          <a:prstGeom prst="rect">
            <a:avLst/>
          </a:prstGeom>
          <a:solidFill>
            <a:srgbClr val="0C22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621792" y="5669280"/>
            <a:ext cx="2081210" cy="274320"/>
          </a:xfrm>
          <a:prstGeom prst="rect">
            <a:avLst/>
          </a:prstGeom>
          <a:noFill/>
        </p:spPr>
        <p:txBody>
          <a:bodyPr wrap="square" lIns="0" rIns="0" tIns="0" bIns="0" anchor="ctr">
            <a:spAutoFit/>
          </a:bodyPr>
          <a:lstStyle/>
          <a:p>
            <a:pPr algn="l"/>
            <a:r>
              <a:rPr sz="950" b="1" i="0">
                <a:solidFill>
                  <a:srgbClr val="FFFFFF"/>
                </a:solidFill>
                <a:latin typeface="Calibri"/>
              </a:rPr>
              <a:t>Buck converter</a:t>
            </a:r>
          </a:p>
        </p:txBody>
      </p:sp>
      <p:sp>
        <p:nvSpPr>
          <p:cNvPr id="64" name="TextBox 63"/>
          <p:cNvSpPr txBox="1"/>
          <p:nvPr/>
        </p:nvSpPr>
        <p:spPr>
          <a:xfrm>
            <a:off x="2812730" y="5669280"/>
            <a:ext cx="985741" cy="274320"/>
          </a:xfrm>
          <a:prstGeom prst="rect">
            <a:avLst/>
          </a:prstGeom>
          <a:noFill/>
        </p:spPr>
        <p:txBody>
          <a:bodyPr wrap="square" lIns="0" rIns="0" tIns="0" bIns="0" anchor="ctr">
            <a:spAutoFit/>
          </a:bodyPr>
          <a:lstStyle/>
          <a:p>
            <a:pPr algn="ctr"/>
            <a:r>
              <a:rPr sz="950" b="1" i="0">
                <a:solidFill>
                  <a:srgbClr val="FFFFFF"/>
                </a:solidFill>
                <a:latin typeface="Calibri"/>
              </a:rPr>
              <a:t>L</a:t>
            </a:r>
          </a:p>
        </p:txBody>
      </p:sp>
      <p:sp>
        <p:nvSpPr>
          <p:cNvPr id="65" name="TextBox 64"/>
          <p:cNvSpPr txBox="1"/>
          <p:nvPr/>
        </p:nvSpPr>
        <p:spPr>
          <a:xfrm>
            <a:off x="3908199" y="5669280"/>
            <a:ext cx="766647" cy="274320"/>
          </a:xfrm>
          <a:prstGeom prst="rect">
            <a:avLst/>
          </a:prstGeom>
          <a:noFill/>
        </p:spPr>
        <p:txBody>
          <a:bodyPr wrap="square" lIns="0" rIns="0" tIns="0" bIns="0" anchor="ctr">
            <a:spAutoFit/>
          </a:bodyPr>
          <a:lstStyle/>
          <a:p>
            <a:pPr algn="ctr"/>
            <a:r>
              <a:rPr sz="950" b="1" i="0">
                <a:solidFill>
                  <a:srgbClr val="FFFFFF"/>
                </a:solidFill>
                <a:latin typeface="Calibri"/>
              </a:rPr>
              <a:t>D</a:t>
            </a:r>
          </a:p>
        </p:txBody>
      </p:sp>
      <p:sp>
        <p:nvSpPr>
          <p:cNvPr id="66" name="TextBox 65"/>
          <p:cNvSpPr txBox="1"/>
          <p:nvPr/>
        </p:nvSpPr>
        <p:spPr>
          <a:xfrm>
            <a:off x="4784575" y="5669280"/>
            <a:ext cx="985741" cy="274320"/>
          </a:xfrm>
          <a:prstGeom prst="rect">
            <a:avLst/>
          </a:prstGeom>
          <a:noFill/>
        </p:spPr>
        <p:txBody>
          <a:bodyPr wrap="square" lIns="0" rIns="0" tIns="0" bIns="0" anchor="ctr">
            <a:spAutoFit/>
          </a:bodyPr>
          <a:lstStyle/>
          <a:p>
            <a:pPr algn="ctr"/>
            <a:r>
              <a:rPr sz="950" b="1" i="0">
                <a:solidFill>
                  <a:srgbClr val="FFFFFF"/>
                </a:solidFill>
                <a:latin typeface="Calibri"/>
              </a:rPr>
              <a:t>f_sw</a:t>
            </a:r>
          </a:p>
        </p:txBody>
      </p:sp>
      <p:sp>
        <p:nvSpPr>
          <p:cNvPr id="67" name="TextBox 66"/>
          <p:cNvSpPr txBox="1"/>
          <p:nvPr/>
        </p:nvSpPr>
        <p:spPr>
          <a:xfrm>
            <a:off x="5880044" y="5669280"/>
            <a:ext cx="985741" cy="274320"/>
          </a:xfrm>
          <a:prstGeom prst="rect">
            <a:avLst/>
          </a:prstGeom>
          <a:noFill/>
        </p:spPr>
        <p:txBody>
          <a:bodyPr wrap="square" lIns="0" rIns="0" tIns="0" bIns="0" anchor="ctr">
            <a:spAutoFit/>
          </a:bodyPr>
          <a:lstStyle/>
          <a:p>
            <a:pPr algn="ctr"/>
            <a:r>
              <a:rPr sz="950" b="1" i="0">
                <a:solidFill>
                  <a:srgbClr val="FFFFFF"/>
                </a:solidFill>
                <a:latin typeface="Calibri"/>
              </a:rPr>
              <a:t>ΔI_L</a:t>
            </a:r>
          </a:p>
        </p:txBody>
      </p:sp>
      <p:sp>
        <p:nvSpPr>
          <p:cNvPr id="68" name="TextBox 67"/>
          <p:cNvSpPr txBox="1"/>
          <p:nvPr/>
        </p:nvSpPr>
        <p:spPr>
          <a:xfrm>
            <a:off x="6975513" y="5669280"/>
            <a:ext cx="1095288" cy="274320"/>
          </a:xfrm>
          <a:prstGeom prst="rect">
            <a:avLst/>
          </a:prstGeom>
          <a:noFill/>
        </p:spPr>
        <p:txBody>
          <a:bodyPr wrap="square" lIns="0" rIns="0" tIns="0" bIns="0" anchor="ctr">
            <a:spAutoFit/>
          </a:bodyPr>
          <a:lstStyle/>
          <a:p>
            <a:pPr algn="ctr"/>
            <a:r>
              <a:rPr sz="950" b="1" i="0">
                <a:solidFill>
                  <a:srgbClr val="FFFFFF"/>
                </a:solidFill>
                <a:latin typeface="Calibri"/>
              </a:rPr>
              <a:t>ΔI / I_out</a:t>
            </a:r>
          </a:p>
        </p:txBody>
      </p:sp>
      <p:sp>
        <p:nvSpPr>
          <p:cNvPr id="69" name="TextBox 68"/>
          <p:cNvSpPr txBox="1"/>
          <p:nvPr/>
        </p:nvSpPr>
        <p:spPr>
          <a:xfrm>
            <a:off x="8180530" y="5669280"/>
            <a:ext cx="1204835" cy="274320"/>
          </a:xfrm>
          <a:prstGeom prst="rect">
            <a:avLst/>
          </a:prstGeom>
          <a:noFill/>
        </p:spPr>
        <p:txBody>
          <a:bodyPr wrap="square" lIns="0" rIns="0" tIns="0" bIns="0" anchor="ctr">
            <a:spAutoFit/>
          </a:bodyPr>
          <a:lstStyle/>
          <a:p>
            <a:pPr algn="ctr"/>
            <a:r>
              <a:rPr sz="950" b="1" i="0">
                <a:solidFill>
                  <a:srgbClr val="FFFFFF"/>
                </a:solidFill>
                <a:latin typeface="Calibri"/>
              </a:rPr>
              <a:t>I_pk at 2 A</a:t>
            </a:r>
          </a:p>
        </p:txBody>
      </p:sp>
      <p:sp>
        <p:nvSpPr>
          <p:cNvPr id="70" name="TextBox 69"/>
          <p:cNvSpPr txBox="1"/>
          <p:nvPr/>
        </p:nvSpPr>
        <p:spPr>
          <a:xfrm>
            <a:off x="9495093" y="5669280"/>
            <a:ext cx="985741" cy="274320"/>
          </a:xfrm>
          <a:prstGeom prst="rect">
            <a:avLst/>
          </a:prstGeom>
          <a:noFill/>
        </p:spPr>
        <p:txBody>
          <a:bodyPr wrap="square" lIns="0" rIns="0" tIns="0" bIns="0" anchor="ctr">
            <a:spAutoFit/>
          </a:bodyPr>
          <a:lstStyle/>
          <a:p>
            <a:pPr algn="ctr"/>
            <a:r>
              <a:rPr sz="950" b="1" i="0">
                <a:solidFill>
                  <a:srgbClr val="FFFFFF"/>
                </a:solidFill>
                <a:latin typeface="Calibri"/>
              </a:rPr>
              <a:t>I_sat</a:t>
            </a:r>
          </a:p>
        </p:txBody>
      </p:sp>
      <p:sp>
        <p:nvSpPr>
          <p:cNvPr id="71" name="TextBox 70"/>
          <p:cNvSpPr txBox="1"/>
          <p:nvPr/>
        </p:nvSpPr>
        <p:spPr>
          <a:xfrm>
            <a:off x="10590562" y="5669280"/>
            <a:ext cx="985741" cy="274320"/>
          </a:xfrm>
          <a:prstGeom prst="rect">
            <a:avLst/>
          </a:prstGeom>
          <a:noFill/>
        </p:spPr>
        <p:txBody>
          <a:bodyPr wrap="square" lIns="0" rIns="0" tIns="0" bIns="0" anchor="ctr">
            <a:spAutoFit/>
          </a:bodyPr>
          <a:lstStyle/>
          <a:p>
            <a:pPr algn="ctr"/>
            <a:r>
              <a:rPr sz="950" b="1" i="0">
                <a:solidFill>
                  <a:srgbClr val="FFFFFF"/>
                </a:solidFill>
                <a:latin typeface="Calibri"/>
              </a:rPr>
              <a:t>Margin</a:t>
            </a:r>
          </a:p>
        </p:txBody>
      </p:sp>
      <p:sp>
        <p:nvSpPr>
          <p:cNvPr id="72" name="Rectangle 71"/>
          <p:cNvSpPr/>
          <p:nvPr/>
        </p:nvSpPr>
        <p:spPr>
          <a:xfrm>
            <a:off x="548640" y="5943600"/>
            <a:ext cx="11064240" cy="274320"/>
          </a:xfrm>
          <a:prstGeom prst="rect">
            <a:avLst/>
          </a:prstGeom>
          <a:solidFill>
            <a:srgbClr val="EDF2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621792" y="5943600"/>
            <a:ext cx="2081210" cy="274320"/>
          </a:xfrm>
          <a:prstGeom prst="rect">
            <a:avLst/>
          </a:prstGeom>
          <a:noFill/>
        </p:spPr>
        <p:txBody>
          <a:bodyPr wrap="square" lIns="0" rIns="0" tIns="0" bIns="0" anchor="ctr">
            <a:spAutoFit/>
          </a:bodyPr>
          <a:lstStyle/>
          <a:p>
            <a:pPr algn="l"/>
            <a:r>
              <a:rPr sz="1050" b="1" i="0">
                <a:solidFill>
                  <a:srgbClr val="0C2231"/>
                </a:solidFill>
                <a:latin typeface="Calibri"/>
              </a:rPr>
              <a:t>L1 — AP63205, 5 V</a:t>
            </a:r>
          </a:p>
        </p:txBody>
      </p:sp>
      <p:sp>
        <p:nvSpPr>
          <p:cNvPr id="74" name="TextBox 73"/>
          <p:cNvSpPr txBox="1"/>
          <p:nvPr/>
        </p:nvSpPr>
        <p:spPr>
          <a:xfrm>
            <a:off x="2812730" y="5943600"/>
            <a:ext cx="985741" cy="274320"/>
          </a:xfrm>
          <a:prstGeom prst="rect">
            <a:avLst/>
          </a:prstGeom>
          <a:noFill/>
        </p:spPr>
        <p:txBody>
          <a:bodyPr wrap="square" lIns="0" rIns="0" tIns="0" bIns="0" anchor="ctr">
            <a:spAutoFit/>
          </a:bodyPr>
          <a:lstStyle/>
          <a:p>
            <a:pPr algn="ctr"/>
            <a:r>
              <a:rPr sz="1050" b="0" i="0">
                <a:solidFill>
                  <a:srgbClr val="1F3644"/>
                </a:solidFill>
                <a:latin typeface="Courier New"/>
              </a:rPr>
              <a:t>4.7 µH</a:t>
            </a:r>
          </a:p>
        </p:txBody>
      </p:sp>
      <p:sp>
        <p:nvSpPr>
          <p:cNvPr id="75" name="TextBox 74"/>
          <p:cNvSpPr txBox="1"/>
          <p:nvPr/>
        </p:nvSpPr>
        <p:spPr>
          <a:xfrm>
            <a:off x="3908199" y="5943600"/>
            <a:ext cx="766647" cy="274320"/>
          </a:xfrm>
          <a:prstGeom prst="rect">
            <a:avLst/>
          </a:prstGeom>
          <a:noFill/>
        </p:spPr>
        <p:txBody>
          <a:bodyPr wrap="square" lIns="0" rIns="0" tIns="0" bIns="0" anchor="ctr">
            <a:spAutoFit/>
          </a:bodyPr>
          <a:lstStyle/>
          <a:p>
            <a:pPr algn="ctr"/>
            <a:r>
              <a:rPr sz="1050" b="0" i="0">
                <a:solidFill>
                  <a:srgbClr val="1F3644"/>
                </a:solidFill>
                <a:latin typeface="Courier New"/>
              </a:rPr>
              <a:t>0.42</a:t>
            </a:r>
          </a:p>
        </p:txBody>
      </p:sp>
      <p:sp>
        <p:nvSpPr>
          <p:cNvPr id="76" name="TextBox 75"/>
          <p:cNvSpPr txBox="1"/>
          <p:nvPr/>
        </p:nvSpPr>
        <p:spPr>
          <a:xfrm>
            <a:off x="4784575" y="5943600"/>
            <a:ext cx="985741" cy="274320"/>
          </a:xfrm>
          <a:prstGeom prst="rect">
            <a:avLst/>
          </a:prstGeom>
          <a:noFill/>
        </p:spPr>
        <p:txBody>
          <a:bodyPr wrap="square" lIns="0" rIns="0" tIns="0" bIns="0" anchor="ctr">
            <a:spAutoFit/>
          </a:bodyPr>
          <a:lstStyle/>
          <a:p>
            <a:pPr algn="ctr"/>
            <a:r>
              <a:rPr sz="1050" b="0" i="0">
                <a:solidFill>
                  <a:srgbClr val="1F3644"/>
                </a:solidFill>
                <a:latin typeface="Courier New"/>
              </a:rPr>
              <a:t>1.1 MHz</a:t>
            </a:r>
          </a:p>
        </p:txBody>
      </p:sp>
      <p:sp>
        <p:nvSpPr>
          <p:cNvPr id="77" name="TextBox 76"/>
          <p:cNvSpPr txBox="1"/>
          <p:nvPr/>
        </p:nvSpPr>
        <p:spPr>
          <a:xfrm>
            <a:off x="5880044" y="5943600"/>
            <a:ext cx="985741" cy="274320"/>
          </a:xfrm>
          <a:prstGeom prst="rect">
            <a:avLst/>
          </a:prstGeom>
          <a:noFill/>
        </p:spPr>
        <p:txBody>
          <a:bodyPr wrap="square" lIns="0" rIns="0" tIns="0" bIns="0" anchor="ctr">
            <a:spAutoFit/>
          </a:bodyPr>
          <a:lstStyle/>
          <a:p>
            <a:pPr algn="ctr"/>
            <a:r>
              <a:rPr sz="1050" b="0" i="0">
                <a:solidFill>
                  <a:srgbClr val="1F3644"/>
                </a:solidFill>
                <a:latin typeface="Courier New"/>
              </a:rPr>
              <a:t>0.56 A</a:t>
            </a:r>
          </a:p>
        </p:txBody>
      </p:sp>
      <p:sp>
        <p:nvSpPr>
          <p:cNvPr id="78" name="TextBox 77"/>
          <p:cNvSpPr txBox="1"/>
          <p:nvPr/>
        </p:nvSpPr>
        <p:spPr>
          <a:xfrm>
            <a:off x="6975513" y="5943600"/>
            <a:ext cx="1095288" cy="274320"/>
          </a:xfrm>
          <a:prstGeom prst="rect">
            <a:avLst/>
          </a:prstGeom>
          <a:noFill/>
        </p:spPr>
        <p:txBody>
          <a:bodyPr wrap="square" lIns="0" rIns="0" tIns="0" bIns="0" anchor="ctr">
            <a:spAutoFit/>
          </a:bodyPr>
          <a:lstStyle/>
          <a:p>
            <a:pPr algn="ctr"/>
            <a:r>
              <a:rPr sz="1050" b="0" i="0">
                <a:solidFill>
                  <a:srgbClr val="1F3644"/>
                </a:solidFill>
                <a:latin typeface="Courier New"/>
              </a:rPr>
              <a:t>28.2 %</a:t>
            </a:r>
          </a:p>
        </p:txBody>
      </p:sp>
      <p:sp>
        <p:nvSpPr>
          <p:cNvPr id="79" name="TextBox 78"/>
          <p:cNvSpPr txBox="1"/>
          <p:nvPr/>
        </p:nvSpPr>
        <p:spPr>
          <a:xfrm>
            <a:off x="8180530" y="5943600"/>
            <a:ext cx="1204835" cy="274320"/>
          </a:xfrm>
          <a:prstGeom prst="rect">
            <a:avLst/>
          </a:prstGeom>
          <a:noFill/>
        </p:spPr>
        <p:txBody>
          <a:bodyPr wrap="square" lIns="0" rIns="0" tIns="0" bIns="0" anchor="ctr">
            <a:spAutoFit/>
          </a:bodyPr>
          <a:lstStyle/>
          <a:p>
            <a:pPr algn="ctr"/>
            <a:r>
              <a:rPr sz="1050" b="0" i="0">
                <a:solidFill>
                  <a:srgbClr val="1F3644"/>
                </a:solidFill>
                <a:latin typeface="Courier New"/>
              </a:rPr>
              <a:t>2.28 A</a:t>
            </a:r>
          </a:p>
        </p:txBody>
      </p:sp>
      <p:sp>
        <p:nvSpPr>
          <p:cNvPr id="80" name="TextBox 79"/>
          <p:cNvSpPr txBox="1"/>
          <p:nvPr/>
        </p:nvSpPr>
        <p:spPr>
          <a:xfrm>
            <a:off x="9495093" y="5943600"/>
            <a:ext cx="985741" cy="274320"/>
          </a:xfrm>
          <a:prstGeom prst="rect">
            <a:avLst/>
          </a:prstGeom>
          <a:noFill/>
        </p:spPr>
        <p:txBody>
          <a:bodyPr wrap="square" lIns="0" rIns="0" tIns="0" bIns="0" anchor="ctr">
            <a:spAutoFit/>
          </a:bodyPr>
          <a:lstStyle/>
          <a:p>
            <a:pPr algn="ctr"/>
            <a:r>
              <a:rPr sz="1050" b="0" i="0">
                <a:solidFill>
                  <a:srgbClr val="1F3644"/>
                </a:solidFill>
                <a:latin typeface="Courier New"/>
              </a:rPr>
              <a:t>2.5 A</a:t>
            </a:r>
          </a:p>
        </p:txBody>
      </p:sp>
      <p:sp>
        <p:nvSpPr>
          <p:cNvPr id="81" name="TextBox 80"/>
          <p:cNvSpPr txBox="1"/>
          <p:nvPr/>
        </p:nvSpPr>
        <p:spPr>
          <a:xfrm>
            <a:off x="10590562" y="5943600"/>
            <a:ext cx="985741" cy="274320"/>
          </a:xfrm>
          <a:prstGeom prst="rect">
            <a:avLst/>
          </a:prstGeom>
          <a:noFill/>
        </p:spPr>
        <p:txBody>
          <a:bodyPr wrap="square" lIns="0" rIns="0" tIns="0" bIns="0" anchor="ctr">
            <a:spAutoFit/>
          </a:bodyPr>
          <a:lstStyle/>
          <a:p>
            <a:pPr algn="ctr"/>
            <a:r>
              <a:rPr sz="1050" b="1" i="0">
                <a:solidFill>
                  <a:srgbClr val="9E3B3E"/>
                </a:solidFill>
                <a:latin typeface="Courier New"/>
              </a:rPr>
              <a:t>8.7 %</a:t>
            </a:r>
          </a:p>
        </p:txBody>
      </p:sp>
      <p:sp>
        <p:nvSpPr>
          <p:cNvPr id="82" name="Rectangle 81"/>
          <p:cNvSpPr/>
          <p:nvPr/>
        </p:nvSpPr>
        <p:spPr>
          <a:xfrm>
            <a:off x="548640" y="6217920"/>
            <a:ext cx="11064240" cy="274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TextBox 82"/>
          <p:cNvSpPr txBox="1"/>
          <p:nvPr/>
        </p:nvSpPr>
        <p:spPr>
          <a:xfrm>
            <a:off x="621792" y="6217920"/>
            <a:ext cx="2081210" cy="274320"/>
          </a:xfrm>
          <a:prstGeom prst="rect">
            <a:avLst/>
          </a:prstGeom>
          <a:noFill/>
        </p:spPr>
        <p:txBody>
          <a:bodyPr wrap="square" lIns="0" rIns="0" tIns="0" bIns="0" anchor="ctr">
            <a:spAutoFit/>
          </a:bodyPr>
          <a:lstStyle/>
          <a:p>
            <a:pPr algn="l"/>
            <a:r>
              <a:rPr sz="1050" b="1" i="0">
                <a:solidFill>
                  <a:srgbClr val="0C2231"/>
                </a:solidFill>
                <a:latin typeface="Calibri"/>
              </a:rPr>
              <a:t>L2 — AP63203, 3.3 V</a:t>
            </a:r>
          </a:p>
        </p:txBody>
      </p:sp>
      <p:sp>
        <p:nvSpPr>
          <p:cNvPr id="84" name="TextBox 83"/>
          <p:cNvSpPr txBox="1"/>
          <p:nvPr/>
        </p:nvSpPr>
        <p:spPr>
          <a:xfrm>
            <a:off x="2812730" y="6217920"/>
            <a:ext cx="985741" cy="274320"/>
          </a:xfrm>
          <a:prstGeom prst="rect">
            <a:avLst/>
          </a:prstGeom>
          <a:noFill/>
        </p:spPr>
        <p:txBody>
          <a:bodyPr wrap="square" lIns="0" rIns="0" tIns="0" bIns="0" anchor="ctr">
            <a:spAutoFit/>
          </a:bodyPr>
          <a:lstStyle/>
          <a:p>
            <a:pPr algn="ctr"/>
            <a:r>
              <a:rPr sz="1050" b="0" i="0">
                <a:solidFill>
                  <a:srgbClr val="1F3644"/>
                </a:solidFill>
                <a:latin typeface="Courier New"/>
              </a:rPr>
              <a:t>3.3 µH</a:t>
            </a:r>
          </a:p>
        </p:txBody>
      </p:sp>
      <p:sp>
        <p:nvSpPr>
          <p:cNvPr id="85" name="TextBox 84"/>
          <p:cNvSpPr txBox="1"/>
          <p:nvPr/>
        </p:nvSpPr>
        <p:spPr>
          <a:xfrm>
            <a:off x="3908199" y="6217920"/>
            <a:ext cx="766647" cy="274320"/>
          </a:xfrm>
          <a:prstGeom prst="rect">
            <a:avLst/>
          </a:prstGeom>
          <a:noFill/>
        </p:spPr>
        <p:txBody>
          <a:bodyPr wrap="square" lIns="0" rIns="0" tIns="0" bIns="0" anchor="ctr">
            <a:spAutoFit/>
          </a:bodyPr>
          <a:lstStyle/>
          <a:p>
            <a:pPr algn="ctr"/>
            <a:r>
              <a:rPr sz="1050" b="0" i="0">
                <a:solidFill>
                  <a:srgbClr val="1F3644"/>
                </a:solidFill>
                <a:latin typeface="Courier New"/>
              </a:rPr>
              <a:t>0.66</a:t>
            </a:r>
          </a:p>
        </p:txBody>
      </p:sp>
      <p:sp>
        <p:nvSpPr>
          <p:cNvPr id="86" name="TextBox 85"/>
          <p:cNvSpPr txBox="1"/>
          <p:nvPr/>
        </p:nvSpPr>
        <p:spPr>
          <a:xfrm>
            <a:off x="4784575" y="6217920"/>
            <a:ext cx="985741" cy="274320"/>
          </a:xfrm>
          <a:prstGeom prst="rect">
            <a:avLst/>
          </a:prstGeom>
          <a:noFill/>
        </p:spPr>
        <p:txBody>
          <a:bodyPr wrap="square" lIns="0" rIns="0" tIns="0" bIns="0" anchor="ctr">
            <a:spAutoFit/>
          </a:bodyPr>
          <a:lstStyle/>
          <a:p>
            <a:pPr algn="ctr"/>
            <a:r>
              <a:rPr sz="1050" b="0" i="0">
                <a:solidFill>
                  <a:srgbClr val="1F3644"/>
                </a:solidFill>
                <a:latin typeface="Courier New"/>
              </a:rPr>
              <a:t>1.1 MHz</a:t>
            </a:r>
          </a:p>
        </p:txBody>
      </p:sp>
      <p:sp>
        <p:nvSpPr>
          <p:cNvPr id="87" name="TextBox 86"/>
          <p:cNvSpPr txBox="1"/>
          <p:nvPr/>
        </p:nvSpPr>
        <p:spPr>
          <a:xfrm>
            <a:off x="5880044" y="6217920"/>
            <a:ext cx="985741" cy="274320"/>
          </a:xfrm>
          <a:prstGeom prst="rect">
            <a:avLst/>
          </a:prstGeom>
          <a:noFill/>
        </p:spPr>
        <p:txBody>
          <a:bodyPr wrap="square" lIns="0" rIns="0" tIns="0" bIns="0" anchor="ctr">
            <a:spAutoFit/>
          </a:bodyPr>
          <a:lstStyle/>
          <a:p>
            <a:pPr algn="ctr"/>
            <a:r>
              <a:rPr sz="1050" b="0" i="0">
                <a:solidFill>
                  <a:srgbClr val="1F3644"/>
                </a:solidFill>
                <a:latin typeface="Courier New"/>
              </a:rPr>
              <a:t>0.31 A</a:t>
            </a:r>
          </a:p>
        </p:txBody>
      </p:sp>
      <p:sp>
        <p:nvSpPr>
          <p:cNvPr id="88" name="TextBox 87"/>
          <p:cNvSpPr txBox="1"/>
          <p:nvPr/>
        </p:nvSpPr>
        <p:spPr>
          <a:xfrm>
            <a:off x="6975513" y="6217920"/>
            <a:ext cx="1095288" cy="274320"/>
          </a:xfrm>
          <a:prstGeom prst="rect">
            <a:avLst/>
          </a:prstGeom>
          <a:noFill/>
        </p:spPr>
        <p:txBody>
          <a:bodyPr wrap="square" lIns="0" rIns="0" tIns="0" bIns="0" anchor="ctr">
            <a:spAutoFit/>
          </a:bodyPr>
          <a:lstStyle/>
          <a:p>
            <a:pPr algn="ctr"/>
            <a:r>
              <a:rPr sz="1050" b="0" i="0">
                <a:solidFill>
                  <a:srgbClr val="1F3644"/>
                </a:solidFill>
                <a:latin typeface="Courier New"/>
              </a:rPr>
              <a:t>15.5 %</a:t>
            </a:r>
          </a:p>
        </p:txBody>
      </p:sp>
      <p:sp>
        <p:nvSpPr>
          <p:cNvPr id="89" name="TextBox 88"/>
          <p:cNvSpPr txBox="1"/>
          <p:nvPr/>
        </p:nvSpPr>
        <p:spPr>
          <a:xfrm>
            <a:off x="8180530" y="6217920"/>
            <a:ext cx="1204835" cy="274320"/>
          </a:xfrm>
          <a:prstGeom prst="rect">
            <a:avLst/>
          </a:prstGeom>
          <a:noFill/>
        </p:spPr>
        <p:txBody>
          <a:bodyPr wrap="square" lIns="0" rIns="0" tIns="0" bIns="0" anchor="ctr">
            <a:spAutoFit/>
          </a:bodyPr>
          <a:lstStyle/>
          <a:p>
            <a:pPr algn="ctr"/>
            <a:r>
              <a:rPr sz="1050" b="0" i="0">
                <a:solidFill>
                  <a:srgbClr val="1F3644"/>
                </a:solidFill>
                <a:latin typeface="Courier New"/>
              </a:rPr>
              <a:t>2.16 A</a:t>
            </a:r>
          </a:p>
        </p:txBody>
      </p:sp>
      <p:sp>
        <p:nvSpPr>
          <p:cNvPr id="90" name="TextBox 89"/>
          <p:cNvSpPr txBox="1"/>
          <p:nvPr/>
        </p:nvSpPr>
        <p:spPr>
          <a:xfrm>
            <a:off x="9495093" y="6217920"/>
            <a:ext cx="985741" cy="274320"/>
          </a:xfrm>
          <a:prstGeom prst="rect">
            <a:avLst/>
          </a:prstGeom>
          <a:noFill/>
        </p:spPr>
        <p:txBody>
          <a:bodyPr wrap="square" lIns="0" rIns="0" tIns="0" bIns="0" anchor="ctr">
            <a:spAutoFit/>
          </a:bodyPr>
          <a:lstStyle/>
          <a:p>
            <a:pPr algn="ctr"/>
            <a:r>
              <a:rPr sz="1050" b="0" i="0">
                <a:solidFill>
                  <a:srgbClr val="1F3644"/>
                </a:solidFill>
                <a:latin typeface="Courier New"/>
              </a:rPr>
              <a:t>3.0 A</a:t>
            </a:r>
          </a:p>
        </p:txBody>
      </p:sp>
      <p:sp>
        <p:nvSpPr>
          <p:cNvPr id="91" name="TextBox 90"/>
          <p:cNvSpPr txBox="1"/>
          <p:nvPr/>
        </p:nvSpPr>
        <p:spPr>
          <a:xfrm>
            <a:off x="10590562" y="6217920"/>
            <a:ext cx="985741" cy="274320"/>
          </a:xfrm>
          <a:prstGeom prst="rect">
            <a:avLst/>
          </a:prstGeom>
          <a:noFill/>
        </p:spPr>
        <p:txBody>
          <a:bodyPr wrap="square" lIns="0" rIns="0" tIns="0" bIns="0" anchor="ctr">
            <a:spAutoFit/>
          </a:bodyPr>
          <a:lstStyle/>
          <a:p>
            <a:pPr algn="ctr"/>
            <a:r>
              <a:rPr sz="1050" b="0" i="0">
                <a:solidFill>
                  <a:srgbClr val="1F3644"/>
                </a:solidFill>
                <a:latin typeface="Courier New"/>
              </a:rPr>
              <a:t>28.2 %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146304"/>
            <a:ext cx="11094415" cy="237744"/>
          </a:xfrm>
          <a:prstGeom prst="rect">
            <a:avLst/>
          </a:prstGeom>
          <a:noFill/>
        </p:spPr>
        <p:txBody>
          <a:bodyPr wrap="square" lIns="0" rIns="0" tIns="0" bIns="0" anchor="ctr">
            <a:spAutoFit/>
          </a:bodyPr>
          <a:lstStyle/>
          <a:p>
            <a:pPr algn="l"/>
            <a:r>
              <a:rPr sz="1000" b="1" i="0" spc="140">
                <a:solidFill>
                  <a:srgbClr val="1C7293"/>
                </a:solidFill>
                <a:latin typeface="Calibri"/>
              </a:rPr>
              <a:t>EMBEDDED SOFTWARE</a:t>
            </a:r>
          </a:p>
        </p:txBody>
      </p:sp>
      <p:sp>
        <p:nvSpPr>
          <p:cNvPr id="3" name="TextBox 2"/>
          <p:cNvSpPr txBox="1"/>
          <p:nvPr/>
        </p:nvSpPr>
        <p:spPr>
          <a:xfrm>
            <a:off x="548640" y="384048"/>
            <a:ext cx="11094415" cy="676656"/>
          </a:xfrm>
          <a:prstGeom prst="rect">
            <a:avLst/>
          </a:prstGeom>
          <a:noFill/>
        </p:spPr>
        <p:txBody>
          <a:bodyPr wrap="square" lIns="0" rIns="0" tIns="0" bIns="0" anchor="ctr">
            <a:spAutoFit/>
          </a:bodyPr>
          <a:lstStyle/>
          <a:p>
            <a:pPr algn="l"/>
            <a:r>
              <a:rPr sz="3300" b="1" i="0">
                <a:solidFill>
                  <a:srgbClr val="0C2231"/>
                </a:solidFill>
                <a:latin typeface="Cambria"/>
              </a:rPr>
              <a:t>Firmware structure and task budget</a:t>
            </a:r>
          </a:p>
        </p:txBody>
      </p:sp>
      <p:sp>
        <p:nvSpPr>
          <p:cNvPr id="4" name="Rectangle 3"/>
          <p:cNvSpPr/>
          <p:nvPr/>
        </p:nvSpPr>
        <p:spPr>
          <a:xfrm>
            <a:off x="548640" y="1325880"/>
            <a:ext cx="6309360" cy="310896"/>
          </a:xfrm>
          <a:prstGeom prst="rect">
            <a:avLst/>
          </a:prstGeom>
          <a:solidFill>
            <a:srgbClr val="0C22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21792" y="1325880"/>
            <a:ext cx="2280181" cy="310896"/>
          </a:xfrm>
          <a:prstGeom prst="rect">
            <a:avLst/>
          </a:prstGeom>
          <a:noFill/>
        </p:spPr>
        <p:txBody>
          <a:bodyPr wrap="square" lIns="0" rIns="0" tIns="0" bIns="0" anchor="ctr">
            <a:spAutoFit/>
          </a:bodyPr>
          <a:lstStyle/>
          <a:p>
            <a:pPr algn="l"/>
            <a:r>
              <a:rPr sz="1000" b="1" i="0">
                <a:solidFill>
                  <a:srgbClr val="FFFFFF"/>
                </a:solidFill>
                <a:latin typeface="Calibri"/>
              </a:rPr>
              <a:t>Module group</a:t>
            </a:r>
          </a:p>
        </p:txBody>
      </p:sp>
      <p:sp>
        <p:nvSpPr>
          <p:cNvPr id="6" name="TextBox 5"/>
          <p:cNvSpPr txBox="1"/>
          <p:nvPr/>
        </p:nvSpPr>
        <p:spPr>
          <a:xfrm>
            <a:off x="3011701" y="1325880"/>
            <a:ext cx="2471373" cy="310896"/>
          </a:xfrm>
          <a:prstGeom prst="rect">
            <a:avLst/>
          </a:prstGeom>
          <a:noFill/>
        </p:spPr>
        <p:txBody>
          <a:bodyPr wrap="square" lIns="0" rIns="0" tIns="0" bIns="0" anchor="ctr">
            <a:spAutoFit/>
          </a:bodyPr>
          <a:lstStyle/>
          <a:p>
            <a:pPr algn="ctr"/>
            <a:r>
              <a:rPr sz="1000" b="1" i="0">
                <a:solidFill>
                  <a:srgbClr val="FFFFFF"/>
                </a:solidFill>
                <a:latin typeface="Calibri"/>
              </a:rPr>
              <a:t>Devices</a:t>
            </a:r>
          </a:p>
        </p:txBody>
      </p:sp>
      <p:sp>
        <p:nvSpPr>
          <p:cNvPr id="7" name="TextBox 6"/>
          <p:cNvSpPr txBox="1"/>
          <p:nvPr/>
        </p:nvSpPr>
        <p:spPr>
          <a:xfrm>
            <a:off x="5592802" y="1325880"/>
            <a:ext cx="1228621" cy="310896"/>
          </a:xfrm>
          <a:prstGeom prst="rect">
            <a:avLst/>
          </a:prstGeom>
          <a:noFill/>
        </p:spPr>
        <p:txBody>
          <a:bodyPr wrap="square" lIns="0" rIns="0" tIns="0" bIns="0" anchor="ctr">
            <a:spAutoFit/>
          </a:bodyPr>
          <a:lstStyle/>
          <a:p>
            <a:pPr algn="ctr"/>
            <a:r>
              <a:rPr sz="1000" b="1" i="0">
                <a:solidFill>
                  <a:srgbClr val="FFFFFF"/>
                </a:solidFill>
                <a:latin typeface="Calibri"/>
              </a:rPr>
              <a:t>State</a:t>
            </a:r>
          </a:p>
        </p:txBody>
      </p:sp>
      <p:sp>
        <p:nvSpPr>
          <p:cNvPr id="8" name="Rectangle 7"/>
          <p:cNvSpPr/>
          <p:nvPr/>
        </p:nvSpPr>
        <p:spPr>
          <a:xfrm>
            <a:off x="548640" y="1636776"/>
            <a:ext cx="6309360" cy="457200"/>
          </a:xfrm>
          <a:prstGeom prst="rect">
            <a:avLst/>
          </a:prstGeom>
          <a:solidFill>
            <a:srgbClr val="EDF2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21792" y="1636776"/>
            <a:ext cx="2280181" cy="457200"/>
          </a:xfrm>
          <a:prstGeom prst="rect">
            <a:avLst/>
          </a:prstGeom>
          <a:noFill/>
        </p:spPr>
        <p:txBody>
          <a:bodyPr wrap="square" lIns="0" rIns="0" tIns="0" bIns="0" anchor="ctr">
            <a:spAutoFit/>
          </a:bodyPr>
          <a:lstStyle/>
          <a:p>
            <a:pPr algn="l"/>
            <a:r>
              <a:rPr sz="1100" b="1" i="0">
                <a:solidFill>
                  <a:srgbClr val="0C2231"/>
                </a:solidFill>
                <a:latin typeface="Calibri"/>
              </a:rPr>
              <a:t>Inertial and environment</a:t>
            </a:r>
          </a:p>
        </p:txBody>
      </p:sp>
      <p:sp>
        <p:nvSpPr>
          <p:cNvPr id="10" name="TextBox 9"/>
          <p:cNvSpPr txBox="1"/>
          <p:nvPr/>
        </p:nvSpPr>
        <p:spPr>
          <a:xfrm>
            <a:off x="3011701" y="1636776"/>
            <a:ext cx="2471373" cy="457200"/>
          </a:xfrm>
          <a:prstGeom prst="rect">
            <a:avLst/>
          </a:prstGeom>
          <a:noFill/>
        </p:spPr>
        <p:txBody>
          <a:bodyPr wrap="square" lIns="0" rIns="0" tIns="0" bIns="0" anchor="ctr">
            <a:spAutoFit/>
          </a:bodyPr>
          <a:lstStyle/>
          <a:p>
            <a:pPr algn="ctr"/>
            <a:r>
              <a:rPr sz="1100" b="0" i="0">
                <a:solidFill>
                  <a:srgbClr val="1F3644"/>
                </a:solidFill>
                <a:latin typeface="Courier New"/>
              </a:rPr>
              <a:t>LSM6DSO, LIS2MDL, LPS22HB</a:t>
            </a:r>
          </a:p>
        </p:txBody>
      </p:sp>
      <p:sp>
        <p:nvSpPr>
          <p:cNvPr id="11" name="TextBox 10"/>
          <p:cNvSpPr txBox="1"/>
          <p:nvPr/>
        </p:nvSpPr>
        <p:spPr>
          <a:xfrm>
            <a:off x="5592802" y="1636776"/>
            <a:ext cx="1228621" cy="457200"/>
          </a:xfrm>
          <a:prstGeom prst="rect">
            <a:avLst/>
          </a:prstGeom>
          <a:noFill/>
        </p:spPr>
        <p:txBody>
          <a:bodyPr wrap="square" lIns="0" rIns="0" tIns="0" bIns="0" anchor="ctr">
            <a:spAutoFit/>
          </a:bodyPr>
          <a:lstStyle/>
          <a:p>
            <a:pPr algn="ctr"/>
            <a:r>
              <a:rPr sz="1100" b="0" i="0">
                <a:solidFill>
                  <a:srgbClr val="1F3644"/>
                </a:solidFill>
                <a:latin typeface="Courier New"/>
              </a:rPr>
              <a:t>in main loop</a:t>
            </a:r>
          </a:p>
        </p:txBody>
      </p:sp>
      <p:sp>
        <p:nvSpPr>
          <p:cNvPr id="12" name="Rectangle 11"/>
          <p:cNvSpPr/>
          <p:nvPr/>
        </p:nvSpPr>
        <p:spPr>
          <a:xfrm>
            <a:off x="548640" y="2093976"/>
            <a:ext cx="6309360" cy="4572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21792" y="2093976"/>
            <a:ext cx="2280181" cy="457200"/>
          </a:xfrm>
          <a:prstGeom prst="rect">
            <a:avLst/>
          </a:prstGeom>
          <a:noFill/>
        </p:spPr>
        <p:txBody>
          <a:bodyPr wrap="square" lIns="0" rIns="0" tIns="0" bIns="0" anchor="ctr">
            <a:spAutoFit/>
          </a:bodyPr>
          <a:lstStyle/>
          <a:p>
            <a:pPr algn="l"/>
            <a:r>
              <a:rPr sz="1100" b="1" i="0">
                <a:solidFill>
                  <a:srgbClr val="0C2231"/>
                </a:solidFill>
                <a:latin typeface="Calibri"/>
              </a:rPr>
              <a:t>Storage and housekeeping</a:t>
            </a:r>
          </a:p>
        </p:txBody>
      </p:sp>
      <p:sp>
        <p:nvSpPr>
          <p:cNvPr id="14" name="TextBox 13"/>
          <p:cNvSpPr txBox="1"/>
          <p:nvPr/>
        </p:nvSpPr>
        <p:spPr>
          <a:xfrm>
            <a:off x="3011701" y="2093976"/>
            <a:ext cx="2471373" cy="457200"/>
          </a:xfrm>
          <a:prstGeom prst="rect">
            <a:avLst/>
          </a:prstGeom>
          <a:noFill/>
        </p:spPr>
        <p:txBody>
          <a:bodyPr wrap="square" lIns="0" rIns="0" tIns="0" bIns="0" anchor="ctr">
            <a:spAutoFit/>
          </a:bodyPr>
          <a:lstStyle/>
          <a:p>
            <a:pPr algn="ctr"/>
            <a:r>
              <a:rPr sz="1100" b="0" i="0">
                <a:solidFill>
                  <a:srgbClr val="1F3644"/>
                </a:solidFill>
                <a:latin typeface="Courier New"/>
              </a:rPr>
              <a:t>microSD, battery ADC, RGB</a:t>
            </a:r>
          </a:p>
        </p:txBody>
      </p:sp>
      <p:sp>
        <p:nvSpPr>
          <p:cNvPr id="15" name="TextBox 14"/>
          <p:cNvSpPr txBox="1"/>
          <p:nvPr/>
        </p:nvSpPr>
        <p:spPr>
          <a:xfrm>
            <a:off x="5592802" y="2093976"/>
            <a:ext cx="1228621" cy="457200"/>
          </a:xfrm>
          <a:prstGeom prst="rect">
            <a:avLst/>
          </a:prstGeom>
          <a:noFill/>
        </p:spPr>
        <p:txBody>
          <a:bodyPr wrap="square" lIns="0" rIns="0" tIns="0" bIns="0" anchor="ctr">
            <a:spAutoFit/>
          </a:bodyPr>
          <a:lstStyle/>
          <a:p>
            <a:pPr algn="ctr"/>
            <a:r>
              <a:rPr sz="1100" b="0" i="0">
                <a:solidFill>
                  <a:srgbClr val="1F3644"/>
                </a:solidFill>
                <a:latin typeface="Courier New"/>
              </a:rPr>
              <a:t>in main loop</a:t>
            </a:r>
          </a:p>
        </p:txBody>
      </p:sp>
      <p:sp>
        <p:nvSpPr>
          <p:cNvPr id="16" name="Rectangle 15"/>
          <p:cNvSpPr/>
          <p:nvPr/>
        </p:nvSpPr>
        <p:spPr>
          <a:xfrm>
            <a:off x="548640" y="2551176"/>
            <a:ext cx="6309360" cy="457200"/>
          </a:xfrm>
          <a:prstGeom prst="rect">
            <a:avLst/>
          </a:prstGeom>
          <a:solidFill>
            <a:srgbClr val="EDF2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21792" y="2551176"/>
            <a:ext cx="2280181" cy="457200"/>
          </a:xfrm>
          <a:prstGeom prst="rect">
            <a:avLst/>
          </a:prstGeom>
          <a:noFill/>
        </p:spPr>
        <p:txBody>
          <a:bodyPr wrap="square" lIns="0" rIns="0" tIns="0" bIns="0" anchor="ctr">
            <a:spAutoFit/>
          </a:bodyPr>
          <a:lstStyle/>
          <a:p>
            <a:pPr algn="l"/>
            <a:r>
              <a:rPr sz="1100" b="1" i="0">
                <a:solidFill>
                  <a:srgbClr val="0C2231"/>
                </a:solidFill>
                <a:latin typeface="Calibri"/>
              </a:rPr>
              <a:t>Radio, thrusters, depth</a:t>
            </a:r>
          </a:p>
        </p:txBody>
      </p:sp>
      <p:sp>
        <p:nvSpPr>
          <p:cNvPr id="18" name="TextBox 17"/>
          <p:cNvSpPr txBox="1"/>
          <p:nvPr/>
        </p:nvSpPr>
        <p:spPr>
          <a:xfrm>
            <a:off x="3011701" y="2551176"/>
            <a:ext cx="2471373" cy="457200"/>
          </a:xfrm>
          <a:prstGeom prst="rect">
            <a:avLst/>
          </a:prstGeom>
          <a:noFill/>
        </p:spPr>
        <p:txBody>
          <a:bodyPr wrap="square" lIns="0" rIns="0" tIns="0" bIns="0" anchor="ctr">
            <a:spAutoFit/>
          </a:bodyPr>
          <a:lstStyle/>
          <a:p>
            <a:pPr algn="ctr"/>
            <a:r>
              <a:rPr sz="1100" b="0" i="0">
                <a:solidFill>
                  <a:srgbClr val="1F3644"/>
                </a:solidFill>
                <a:latin typeface="Courier New"/>
              </a:rPr>
              <a:t>nRF24, ESC, Bar30</a:t>
            </a:r>
          </a:p>
        </p:txBody>
      </p:sp>
      <p:sp>
        <p:nvSpPr>
          <p:cNvPr id="19" name="TextBox 18"/>
          <p:cNvSpPr txBox="1"/>
          <p:nvPr/>
        </p:nvSpPr>
        <p:spPr>
          <a:xfrm>
            <a:off x="5592802" y="2551176"/>
            <a:ext cx="1228621" cy="457200"/>
          </a:xfrm>
          <a:prstGeom prst="rect">
            <a:avLst/>
          </a:prstGeom>
          <a:noFill/>
        </p:spPr>
        <p:txBody>
          <a:bodyPr wrap="square" lIns="0" rIns="0" tIns="0" bIns="0" anchor="ctr">
            <a:spAutoFit/>
          </a:bodyPr>
          <a:lstStyle/>
          <a:p>
            <a:pPr algn="ctr"/>
            <a:r>
              <a:rPr sz="1100" b="0" i="0">
                <a:solidFill>
                  <a:srgbClr val="1F3644"/>
                </a:solidFill>
                <a:latin typeface="Courier New"/>
              </a:rPr>
              <a:t>driver written</a:t>
            </a:r>
          </a:p>
        </p:txBody>
      </p:sp>
      <p:sp>
        <p:nvSpPr>
          <p:cNvPr id="20" name="Rectangle 19"/>
          <p:cNvSpPr/>
          <p:nvPr/>
        </p:nvSpPr>
        <p:spPr>
          <a:xfrm>
            <a:off x="548640" y="3008376"/>
            <a:ext cx="6309360" cy="4572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21792" y="3008376"/>
            <a:ext cx="2280181" cy="457200"/>
          </a:xfrm>
          <a:prstGeom prst="rect">
            <a:avLst/>
          </a:prstGeom>
          <a:noFill/>
        </p:spPr>
        <p:txBody>
          <a:bodyPr wrap="square" lIns="0" rIns="0" tIns="0" bIns="0" anchor="ctr">
            <a:spAutoFit/>
          </a:bodyPr>
          <a:lstStyle/>
          <a:p>
            <a:pPr algn="l"/>
            <a:r>
              <a:rPr sz="1100" b="1" i="0">
                <a:solidFill>
                  <a:srgbClr val="0C2231"/>
                </a:solidFill>
                <a:latin typeface="Calibri"/>
              </a:rPr>
              <a:t>Navigation aids and safety</a:t>
            </a:r>
          </a:p>
        </p:txBody>
      </p:sp>
      <p:sp>
        <p:nvSpPr>
          <p:cNvPr id="22" name="TextBox 21"/>
          <p:cNvSpPr txBox="1"/>
          <p:nvPr/>
        </p:nvSpPr>
        <p:spPr>
          <a:xfrm>
            <a:off x="3011701" y="3008376"/>
            <a:ext cx="2471373" cy="457200"/>
          </a:xfrm>
          <a:prstGeom prst="rect">
            <a:avLst/>
          </a:prstGeom>
          <a:noFill/>
        </p:spPr>
        <p:txBody>
          <a:bodyPr wrap="square" lIns="0" rIns="0" tIns="0" bIns="0" anchor="ctr">
            <a:spAutoFit/>
          </a:bodyPr>
          <a:lstStyle/>
          <a:p>
            <a:pPr algn="ctr"/>
            <a:r>
              <a:rPr sz="1100" b="0" i="0">
                <a:solidFill>
                  <a:srgbClr val="1F3644"/>
                </a:solidFill>
                <a:latin typeface="Courier New"/>
              </a:rPr>
              <a:t>GNSS, Ping2, RC, leak, contact</a:t>
            </a:r>
          </a:p>
        </p:txBody>
      </p:sp>
      <p:sp>
        <p:nvSpPr>
          <p:cNvPr id="23" name="TextBox 22"/>
          <p:cNvSpPr txBox="1"/>
          <p:nvPr/>
        </p:nvSpPr>
        <p:spPr>
          <a:xfrm>
            <a:off x="5592802" y="3008376"/>
            <a:ext cx="1228621" cy="457200"/>
          </a:xfrm>
          <a:prstGeom prst="rect">
            <a:avLst/>
          </a:prstGeom>
          <a:noFill/>
        </p:spPr>
        <p:txBody>
          <a:bodyPr wrap="square" lIns="0" rIns="0" tIns="0" bIns="0" anchor="ctr">
            <a:spAutoFit/>
          </a:bodyPr>
          <a:lstStyle/>
          <a:p>
            <a:pPr algn="ctr"/>
            <a:r>
              <a:rPr sz="1100" b="0" i="0">
                <a:solidFill>
                  <a:srgbClr val="1F3644"/>
                </a:solidFill>
                <a:latin typeface="Courier New"/>
              </a:rPr>
              <a:t>skeleton</a:t>
            </a:r>
          </a:p>
        </p:txBody>
      </p:sp>
      <p:sp>
        <p:nvSpPr>
          <p:cNvPr id="24" name="TextBox 23"/>
          <p:cNvSpPr txBox="1"/>
          <p:nvPr/>
        </p:nvSpPr>
        <p:spPr>
          <a:xfrm>
            <a:off x="548640" y="3685032"/>
            <a:ext cx="6309360" cy="822960"/>
          </a:xfrm>
          <a:prstGeom prst="rect">
            <a:avLst/>
          </a:prstGeom>
          <a:noFill/>
        </p:spPr>
        <p:txBody>
          <a:bodyPr wrap="square" lIns="0" rIns="0" tIns="0" bIns="0" anchor="t">
            <a:spAutoFit/>
          </a:bodyPr>
          <a:lstStyle/>
          <a:p>
            <a:pPr algn="l">
              <a:lnSpc>
                <a:spcPct val="115000"/>
              </a:lnSpc>
            </a:pPr>
            <a:r>
              <a:rPr sz="1250" b="0" i="0">
                <a:solidFill>
                  <a:srgbClr val="1F3644"/>
                </a:solidFill>
                <a:latin typeface="Calibri"/>
              </a:rPr>
              <a:t>STM32Cube HAL with FreeRTOS. The application task initialises the sensor layer, then calls its service function on a 100 ms period, so a 10 Hz acquisition cadence against a 5 s telemetry period — fifty acquisition cycles per transmitted frame.</a:t>
            </a:r>
          </a:p>
        </p:txBody>
      </p:sp>
      <p:sp>
        <p:nvSpPr>
          <p:cNvPr id="25" name="Rounded Rectangle 24"/>
          <p:cNvSpPr/>
          <p:nvPr/>
        </p:nvSpPr>
        <p:spPr>
          <a:xfrm>
            <a:off x="7086600" y="1325880"/>
            <a:ext cx="4526280" cy="2331720"/>
          </a:xfrm>
          <a:prstGeom prst="roundRect">
            <a:avLst>
              <a:gd name="adj" fmla="val 1764"/>
            </a:avLst>
          </a:prstGeom>
          <a:solidFill>
            <a:srgbClr val="E2EBF0"/>
          </a:solidFill>
          <a:ln>
            <a:noFill/>
          </a:ln>
          <a:effectLst>
            <a:outerShdw blurRad="88900" dist="12700" dir="5400000" rotWithShape="0">
              <a:srgbClr val="9FB3C0">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0" y="1463040"/>
            <a:ext cx="4069080" cy="310896"/>
          </a:xfrm>
          <a:prstGeom prst="rect">
            <a:avLst/>
          </a:prstGeom>
          <a:noFill/>
        </p:spPr>
        <p:txBody>
          <a:bodyPr wrap="square" lIns="0" rIns="0" tIns="0" bIns="0" anchor="t">
            <a:spAutoFit/>
          </a:bodyPr>
          <a:lstStyle/>
          <a:p>
            <a:pPr algn="l"/>
            <a:r>
              <a:rPr sz="1400" b="1" i="0">
                <a:solidFill>
                  <a:srgbClr val="065A82"/>
                </a:solidFill>
                <a:latin typeface="Calibri"/>
              </a:rPr>
              <a:t>Timing budget</a:t>
            </a:r>
          </a:p>
        </p:txBody>
      </p:sp>
      <p:sp>
        <p:nvSpPr>
          <p:cNvPr id="27" name="TextBox 26"/>
          <p:cNvSpPr txBox="1"/>
          <p:nvPr/>
        </p:nvSpPr>
        <p:spPr>
          <a:xfrm>
            <a:off x="7315200" y="1883664"/>
            <a:ext cx="2766974" cy="292608"/>
          </a:xfrm>
          <a:prstGeom prst="rect">
            <a:avLst/>
          </a:prstGeom>
          <a:noFill/>
        </p:spPr>
        <p:txBody>
          <a:bodyPr wrap="square" lIns="0" rIns="0" tIns="0" bIns="0" anchor="ctr">
            <a:spAutoFit/>
          </a:bodyPr>
          <a:lstStyle/>
          <a:p>
            <a:pPr algn="l"/>
            <a:r>
              <a:rPr sz="1200" b="0" i="0">
                <a:solidFill>
                  <a:srgbClr val="1F3644"/>
                </a:solidFill>
                <a:latin typeface="Courier New"/>
              </a:rPr>
              <a:t>sensor task period</a:t>
            </a:r>
          </a:p>
        </p:txBody>
      </p:sp>
      <p:sp>
        <p:nvSpPr>
          <p:cNvPr id="28" name="TextBox 27"/>
          <p:cNvSpPr txBox="1"/>
          <p:nvPr/>
        </p:nvSpPr>
        <p:spPr>
          <a:xfrm>
            <a:off x="10082174" y="1883664"/>
            <a:ext cx="1302105" cy="292608"/>
          </a:xfrm>
          <a:prstGeom prst="rect">
            <a:avLst/>
          </a:prstGeom>
          <a:noFill/>
        </p:spPr>
        <p:txBody>
          <a:bodyPr wrap="square" lIns="0" rIns="0" tIns="0" bIns="0" anchor="ctr">
            <a:spAutoFit/>
          </a:bodyPr>
          <a:lstStyle/>
          <a:p>
            <a:pPr algn="r"/>
            <a:r>
              <a:rPr sz="1300" b="1" i="0">
                <a:solidFill>
                  <a:srgbClr val="065A82"/>
                </a:solidFill>
                <a:latin typeface="Courier New"/>
              </a:rPr>
              <a:t>100 ms</a:t>
            </a:r>
          </a:p>
        </p:txBody>
      </p:sp>
      <p:sp>
        <p:nvSpPr>
          <p:cNvPr id="29" name="TextBox 28"/>
          <p:cNvSpPr txBox="1"/>
          <p:nvPr/>
        </p:nvSpPr>
        <p:spPr>
          <a:xfrm>
            <a:off x="7315200" y="2286000"/>
            <a:ext cx="2766974" cy="292608"/>
          </a:xfrm>
          <a:prstGeom prst="rect">
            <a:avLst/>
          </a:prstGeom>
          <a:noFill/>
        </p:spPr>
        <p:txBody>
          <a:bodyPr wrap="square" lIns="0" rIns="0" tIns="0" bIns="0" anchor="ctr">
            <a:spAutoFit/>
          </a:bodyPr>
          <a:lstStyle/>
          <a:p>
            <a:pPr algn="l"/>
            <a:r>
              <a:rPr sz="1200" b="0" i="0">
                <a:solidFill>
                  <a:srgbClr val="1F3644"/>
                </a:solidFill>
                <a:latin typeface="Courier New"/>
              </a:rPr>
              <a:t>acquisition rate</a:t>
            </a:r>
          </a:p>
        </p:txBody>
      </p:sp>
      <p:sp>
        <p:nvSpPr>
          <p:cNvPr id="30" name="TextBox 29"/>
          <p:cNvSpPr txBox="1"/>
          <p:nvPr/>
        </p:nvSpPr>
        <p:spPr>
          <a:xfrm>
            <a:off x="10082174" y="2286000"/>
            <a:ext cx="1302105" cy="292608"/>
          </a:xfrm>
          <a:prstGeom prst="rect">
            <a:avLst/>
          </a:prstGeom>
          <a:noFill/>
        </p:spPr>
        <p:txBody>
          <a:bodyPr wrap="square" lIns="0" rIns="0" tIns="0" bIns="0" anchor="ctr">
            <a:spAutoFit/>
          </a:bodyPr>
          <a:lstStyle/>
          <a:p>
            <a:pPr algn="r"/>
            <a:r>
              <a:rPr sz="1300" b="1" i="0">
                <a:solidFill>
                  <a:srgbClr val="065A82"/>
                </a:solidFill>
                <a:latin typeface="Courier New"/>
              </a:rPr>
              <a:t>10 Hz</a:t>
            </a:r>
          </a:p>
        </p:txBody>
      </p:sp>
      <p:sp>
        <p:nvSpPr>
          <p:cNvPr id="31" name="TextBox 30"/>
          <p:cNvSpPr txBox="1"/>
          <p:nvPr/>
        </p:nvSpPr>
        <p:spPr>
          <a:xfrm>
            <a:off x="7315200" y="2688336"/>
            <a:ext cx="2766974" cy="292608"/>
          </a:xfrm>
          <a:prstGeom prst="rect">
            <a:avLst/>
          </a:prstGeom>
          <a:noFill/>
        </p:spPr>
        <p:txBody>
          <a:bodyPr wrap="square" lIns="0" rIns="0" tIns="0" bIns="0" anchor="ctr">
            <a:spAutoFit/>
          </a:bodyPr>
          <a:lstStyle/>
          <a:p>
            <a:pPr algn="l"/>
            <a:r>
              <a:rPr sz="1200" b="0" i="0">
                <a:solidFill>
                  <a:srgbClr val="1F3644"/>
                </a:solidFill>
                <a:latin typeface="Courier New"/>
              </a:rPr>
              <a:t>telemetry period</a:t>
            </a:r>
          </a:p>
        </p:txBody>
      </p:sp>
      <p:sp>
        <p:nvSpPr>
          <p:cNvPr id="32" name="TextBox 31"/>
          <p:cNvSpPr txBox="1"/>
          <p:nvPr/>
        </p:nvSpPr>
        <p:spPr>
          <a:xfrm>
            <a:off x="10082174" y="2688336"/>
            <a:ext cx="1302105" cy="292608"/>
          </a:xfrm>
          <a:prstGeom prst="rect">
            <a:avLst/>
          </a:prstGeom>
          <a:noFill/>
        </p:spPr>
        <p:txBody>
          <a:bodyPr wrap="square" lIns="0" rIns="0" tIns="0" bIns="0" anchor="ctr">
            <a:spAutoFit/>
          </a:bodyPr>
          <a:lstStyle/>
          <a:p>
            <a:pPr algn="r"/>
            <a:r>
              <a:rPr sz="1300" b="1" i="0">
                <a:solidFill>
                  <a:srgbClr val="065A82"/>
                </a:solidFill>
                <a:latin typeface="Courier New"/>
              </a:rPr>
              <a:t>5 s</a:t>
            </a:r>
          </a:p>
        </p:txBody>
      </p:sp>
      <p:sp>
        <p:nvSpPr>
          <p:cNvPr id="33" name="TextBox 32"/>
          <p:cNvSpPr txBox="1"/>
          <p:nvPr/>
        </p:nvSpPr>
        <p:spPr>
          <a:xfrm>
            <a:off x="7315200" y="3090672"/>
            <a:ext cx="2766974" cy="292608"/>
          </a:xfrm>
          <a:prstGeom prst="rect">
            <a:avLst/>
          </a:prstGeom>
          <a:noFill/>
        </p:spPr>
        <p:txBody>
          <a:bodyPr wrap="square" lIns="0" rIns="0" tIns="0" bIns="0" anchor="ctr">
            <a:spAutoFit/>
          </a:bodyPr>
          <a:lstStyle/>
          <a:p>
            <a:pPr algn="l"/>
            <a:r>
              <a:rPr sz="1200" b="0" i="0">
                <a:solidFill>
                  <a:srgbClr val="1F3644"/>
                </a:solidFill>
                <a:latin typeface="Courier New"/>
              </a:rPr>
              <a:t>cycles per frame</a:t>
            </a:r>
          </a:p>
        </p:txBody>
      </p:sp>
      <p:sp>
        <p:nvSpPr>
          <p:cNvPr id="34" name="TextBox 33"/>
          <p:cNvSpPr txBox="1"/>
          <p:nvPr/>
        </p:nvSpPr>
        <p:spPr>
          <a:xfrm>
            <a:off x="10082174" y="3090672"/>
            <a:ext cx="1302105" cy="292608"/>
          </a:xfrm>
          <a:prstGeom prst="rect">
            <a:avLst/>
          </a:prstGeom>
          <a:noFill/>
        </p:spPr>
        <p:txBody>
          <a:bodyPr wrap="square" lIns="0" rIns="0" tIns="0" bIns="0" anchor="ctr">
            <a:spAutoFit/>
          </a:bodyPr>
          <a:lstStyle/>
          <a:p>
            <a:pPr algn="r"/>
            <a:r>
              <a:rPr sz="1300" b="1" i="0">
                <a:solidFill>
                  <a:srgbClr val="065A82"/>
                </a:solidFill>
                <a:latin typeface="Courier New"/>
              </a:rPr>
              <a:t>50</a:t>
            </a:r>
          </a:p>
        </p:txBody>
      </p:sp>
      <p:sp>
        <p:nvSpPr>
          <p:cNvPr id="35" name="Rounded Rectangle 34"/>
          <p:cNvSpPr/>
          <p:nvPr/>
        </p:nvSpPr>
        <p:spPr>
          <a:xfrm>
            <a:off x="7086600" y="3886200"/>
            <a:ext cx="4526280" cy="1554480"/>
          </a:xfrm>
          <a:prstGeom prst="roundRect">
            <a:avLst>
              <a:gd name="adj" fmla="val 2647"/>
            </a:avLst>
          </a:prstGeom>
          <a:solidFill>
            <a:srgbClr val="FBF3E4"/>
          </a:solidFill>
          <a:ln>
            <a:noFill/>
          </a:ln>
          <a:effectLst>
            <a:outerShdw blurRad="88900" dist="12700" dir="5400000" rotWithShape="0">
              <a:srgbClr val="9FB3C0">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315200" y="4041648"/>
            <a:ext cx="4069080" cy="1243584"/>
          </a:xfrm>
          <a:prstGeom prst="rect">
            <a:avLst/>
          </a:prstGeom>
          <a:noFill/>
        </p:spPr>
        <p:txBody>
          <a:bodyPr wrap="square" lIns="0" rIns="0" tIns="0" bIns="0" anchor="t">
            <a:spAutoFit/>
          </a:bodyPr>
          <a:lstStyle/>
          <a:p>
            <a:pPr algn="l">
              <a:lnSpc>
                <a:spcPct val="115000"/>
              </a:lnSpc>
            </a:pPr>
            <a:r>
              <a:rPr sz="1200" b="0" i="0">
                <a:solidFill>
                  <a:srgbClr val="6E4A0F"/>
                </a:solidFill>
                <a:latin typeface="Calibri"/>
              </a:rPr>
              <a:t>Logger defect to correct: the CSV header declares ten columns while the application writes eighteen fields. It has to be reconciled before the logs are used quantitatively.</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146304"/>
            <a:ext cx="11094415" cy="237744"/>
          </a:xfrm>
          <a:prstGeom prst="rect">
            <a:avLst/>
          </a:prstGeom>
          <a:noFill/>
        </p:spPr>
        <p:txBody>
          <a:bodyPr wrap="square" lIns="0" rIns="0" tIns="0" bIns="0" anchor="ctr">
            <a:spAutoFit/>
          </a:bodyPr>
          <a:lstStyle/>
          <a:p>
            <a:pPr algn="l"/>
            <a:r>
              <a:rPr sz="1000" b="1" i="0" spc="140">
                <a:solidFill>
                  <a:srgbClr val="1C7293"/>
                </a:solidFill>
                <a:latin typeface="Calibri"/>
              </a:rPr>
              <a:t>ELECTRONICS REVIEW</a:t>
            </a:r>
          </a:p>
        </p:txBody>
      </p:sp>
      <p:sp>
        <p:nvSpPr>
          <p:cNvPr id="3" name="TextBox 2"/>
          <p:cNvSpPr txBox="1"/>
          <p:nvPr/>
        </p:nvSpPr>
        <p:spPr>
          <a:xfrm>
            <a:off x="548640" y="384048"/>
            <a:ext cx="11094415" cy="676656"/>
          </a:xfrm>
          <a:prstGeom prst="rect">
            <a:avLst/>
          </a:prstGeom>
          <a:noFill/>
        </p:spPr>
        <p:txBody>
          <a:bodyPr wrap="square" lIns="0" rIns="0" tIns="0" bIns="0" anchor="ctr">
            <a:spAutoFit/>
          </a:bodyPr>
          <a:lstStyle/>
          <a:p>
            <a:pPr algn="l"/>
            <a:r>
              <a:rPr sz="3300" b="1" i="0">
                <a:solidFill>
                  <a:srgbClr val="0C2231"/>
                </a:solidFill>
                <a:latin typeface="Cambria"/>
              </a:rPr>
              <a:t>Schematic corrections on the inherited design</a:t>
            </a:r>
          </a:p>
        </p:txBody>
      </p:sp>
      <p:sp>
        <p:nvSpPr>
          <p:cNvPr id="4" name="Oval 3"/>
          <p:cNvSpPr/>
          <p:nvPr/>
        </p:nvSpPr>
        <p:spPr>
          <a:xfrm>
            <a:off x="548640" y="1325880"/>
            <a:ext cx="566928" cy="566928"/>
          </a:xfrm>
          <a:prstGeom prst="ellipse">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capacitor.png"/>
          <p:cNvPicPr>
            <a:picLocks noChangeAspect="1"/>
          </p:cNvPicPr>
          <p:nvPr/>
        </p:nvPicPr>
        <p:blipFill>
          <a:blip r:embed="rId2"/>
          <a:stretch>
            <a:fillRect/>
          </a:stretch>
        </p:blipFill>
        <p:spPr>
          <a:xfrm>
            <a:off x="622340" y="1399580"/>
            <a:ext cx="419526" cy="419526"/>
          </a:xfrm>
          <a:prstGeom prst="rect">
            <a:avLst/>
          </a:prstGeom>
        </p:spPr>
      </p:pic>
      <p:sp>
        <p:nvSpPr>
          <p:cNvPr id="6" name="TextBox 5"/>
          <p:cNvSpPr txBox="1"/>
          <p:nvPr/>
        </p:nvSpPr>
        <p:spPr>
          <a:xfrm>
            <a:off x="1298448" y="1307592"/>
            <a:ext cx="5650992" cy="310896"/>
          </a:xfrm>
          <a:prstGeom prst="rect">
            <a:avLst/>
          </a:prstGeom>
          <a:noFill/>
        </p:spPr>
        <p:txBody>
          <a:bodyPr wrap="square" lIns="0" rIns="0" tIns="0" bIns="0" anchor="ctr">
            <a:spAutoFit/>
          </a:bodyPr>
          <a:lstStyle/>
          <a:p>
            <a:pPr algn="l"/>
            <a:r>
              <a:rPr sz="1450" b="1" i="0">
                <a:solidFill>
                  <a:srgbClr val="065A82"/>
                </a:solidFill>
                <a:latin typeface="Calibri"/>
              </a:rPr>
              <a:t>Decoupling placed in series</a:t>
            </a:r>
          </a:p>
        </p:txBody>
      </p:sp>
      <p:sp>
        <p:nvSpPr>
          <p:cNvPr id="7" name="TextBox 6"/>
          <p:cNvSpPr txBox="1"/>
          <p:nvPr/>
        </p:nvSpPr>
        <p:spPr>
          <a:xfrm>
            <a:off x="1298448" y="1636776"/>
            <a:ext cx="5650992" cy="457200"/>
          </a:xfrm>
          <a:prstGeom prst="rect">
            <a:avLst/>
          </a:prstGeom>
          <a:noFill/>
        </p:spPr>
        <p:txBody>
          <a:bodyPr wrap="square" lIns="0" rIns="0" tIns="0" bIns="0" anchor="t">
            <a:spAutoFit/>
          </a:bodyPr>
          <a:lstStyle/>
          <a:p>
            <a:pPr algn="l">
              <a:lnSpc>
                <a:spcPct val="106000"/>
              </a:lnSpc>
            </a:pPr>
            <a:r>
              <a:rPr sz="1150" b="0" i="0">
                <a:solidFill>
                  <a:srgbClr val="1F3644"/>
                </a:solidFill>
                <a:latin typeface="Calibri"/>
              </a:rPr>
              <a:t>C12–C18 sat in series on V_DD, V_DDA and V_BAT instead of in parallel to ground.</a:t>
            </a:r>
          </a:p>
        </p:txBody>
      </p:sp>
      <p:sp>
        <p:nvSpPr>
          <p:cNvPr id="8" name="Rounded Rectangle 7"/>
          <p:cNvSpPr/>
          <p:nvPr/>
        </p:nvSpPr>
        <p:spPr>
          <a:xfrm>
            <a:off x="548640" y="2331720"/>
            <a:ext cx="6400800" cy="868680"/>
          </a:xfrm>
          <a:prstGeom prst="roundRect">
            <a:avLst>
              <a:gd name="adj" fmla="val 4736"/>
            </a:avLst>
          </a:prstGeom>
          <a:solidFill>
            <a:srgbClr val="F7EAEA"/>
          </a:solidFill>
          <a:ln>
            <a:noFill/>
          </a:ln>
          <a:effectLst>
            <a:outerShdw blurRad="88900" dist="12700" dir="5400000" rotWithShape="0">
              <a:srgbClr val="9FB3C0">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59" y="2423160"/>
            <a:ext cx="5852160" cy="685800"/>
          </a:xfrm>
          <a:prstGeom prst="rect">
            <a:avLst/>
          </a:prstGeom>
          <a:noFill/>
        </p:spPr>
        <p:txBody>
          <a:bodyPr wrap="square" lIns="0" rIns="0" tIns="0" bIns="0" anchor="ctr">
            <a:spAutoFit/>
          </a:bodyPr>
          <a:lstStyle/>
          <a:p>
            <a:pPr algn="l">
              <a:lnSpc>
                <a:spcPct val="112000"/>
              </a:lnSpc>
            </a:pPr>
            <a:r>
              <a:rPr sz="1400" b="1" i="0">
                <a:solidFill>
                  <a:srgbClr val="7A2A2C"/>
                </a:solidFill>
                <a:latin typeface="Calibri"/>
              </a:rPr>
              <a:t>A series capacitor is an open circuit at DC: the 3.3 V rail did not reach pins 11, 27, 50, 75, 100 and 71.</a:t>
            </a:r>
          </a:p>
        </p:txBody>
      </p:sp>
      <p:sp>
        <p:nvSpPr>
          <p:cNvPr id="10" name="Rectangle 9"/>
          <p:cNvSpPr/>
          <p:nvPr/>
        </p:nvSpPr>
        <p:spPr>
          <a:xfrm>
            <a:off x="548640" y="3364992"/>
            <a:ext cx="6400800" cy="310896"/>
          </a:xfrm>
          <a:prstGeom prst="rect">
            <a:avLst/>
          </a:prstGeom>
          <a:solidFill>
            <a:srgbClr val="0C22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21792" y="3364992"/>
            <a:ext cx="1170431" cy="310896"/>
          </a:xfrm>
          <a:prstGeom prst="rect">
            <a:avLst/>
          </a:prstGeom>
          <a:noFill/>
        </p:spPr>
        <p:txBody>
          <a:bodyPr wrap="square" lIns="0" rIns="0" tIns="0" bIns="0" anchor="ctr">
            <a:spAutoFit/>
          </a:bodyPr>
          <a:lstStyle/>
          <a:p>
            <a:pPr algn="l"/>
            <a:r>
              <a:rPr sz="1000" b="1" i="0">
                <a:solidFill>
                  <a:srgbClr val="FFFFFF"/>
                </a:solidFill>
                <a:latin typeface="Calibri"/>
              </a:rPr>
              <a:t>Commit</a:t>
            </a:r>
          </a:p>
        </p:txBody>
      </p:sp>
      <p:sp>
        <p:nvSpPr>
          <p:cNvPr id="12" name="TextBox 11"/>
          <p:cNvSpPr txBox="1"/>
          <p:nvPr/>
        </p:nvSpPr>
        <p:spPr>
          <a:xfrm>
            <a:off x="1901952" y="3364992"/>
            <a:ext cx="3435330" cy="310896"/>
          </a:xfrm>
          <a:prstGeom prst="rect">
            <a:avLst/>
          </a:prstGeom>
          <a:noFill/>
        </p:spPr>
        <p:txBody>
          <a:bodyPr wrap="square" lIns="0" rIns="0" tIns="0" bIns="0" anchor="ctr">
            <a:spAutoFit/>
          </a:bodyPr>
          <a:lstStyle/>
          <a:p>
            <a:pPr algn="ctr"/>
            <a:r>
              <a:rPr sz="1000" b="1" i="0">
                <a:solidFill>
                  <a:srgbClr val="FFFFFF"/>
                </a:solidFill>
                <a:latin typeface="Calibri"/>
              </a:rPr>
              <a:t>Correction</a:t>
            </a:r>
          </a:p>
        </p:txBody>
      </p:sp>
      <p:sp>
        <p:nvSpPr>
          <p:cNvPr id="13" name="TextBox 12"/>
          <p:cNvSpPr txBox="1"/>
          <p:nvPr/>
        </p:nvSpPr>
        <p:spPr>
          <a:xfrm>
            <a:off x="5447010" y="3364992"/>
            <a:ext cx="1465853" cy="310896"/>
          </a:xfrm>
          <a:prstGeom prst="rect">
            <a:avLst/>
          </a:prstGeom>
          <a:noFill/>
        </p:spPr>
        <p:txBody>
          <a:bodyPr wrap="square" lIns="0" rIns="0" tIns="0" bIns="0" anchor="ctr">
            <a:spAutoFit/>
          </a:bodyPr>
          <a:lstStyle/>
          <a:p>
            <a:pPr algn="ctr"/>
            <a:r>
              <a:rPr sz="1000" b="1" i="0">
                <a:solidFill>
                  <a:srgbClr val="FFFFFF"/>
                </a:solidFill>
                <a:latin typeface="Calibri"/>
              </a:rPr>
              <a:t>Effect</a:t>
            </a:r>
          </a:p>
        </p:txBody>
      </p:sp>
      <p:sp>
        <p:nvSpPr>
          <p:cNvPr id="14" name="Rectangle 13"/>
          <p:cNvSpPr/>
          <p:nvPr/>
        </p:nvSpPr>
        <p:spPr>
          <a:xfrm>
            <a:off x="548640" y="3675888"/>
            <a:ext cx="6400800" cy="365760"/>
          </a:xfrm>
          <a:prstGeom prst="rect">
            <a:avLst/>
          </a:prstGeom>
          <a:solidFill>
            <a:srgbClr val="EDF2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21792" y="3675888"/>
            <a:ext cx="1170431" cy="365760"/>
          </a:xfrm>
          <a:prstGeom prst="rect">
            <a:avLst/>
          </a:prstGeom>
          <a:noFill/>
        </p:spPr>
        <p:txBody>
          <a:bodyPr wrap="square" lIns="0" rIns="0" tIns="0" bIns="0" anchor="ctr">
            <a:spAutoFit/>
          </a:bodyPr>
          <a:lstStyle/>
          <a:p>
            <a:pPr algn="l"/>
            <a:r>
              <a:rPr sz="1100" b="1" i="0">
                <a:solidFill>
                  <a:srgbClr val="0C2231"/>
                </a:solidFill>
                <a:latin typeface="Calibri"/>
              </a:rPr>
              <a:t>dd041de</a:t>
            </a:r>
          </a:p>
        </p:txBody>
      </p:sp>
      <p:sp>
        <p:nvSpPr>
          <p:cNvPr id="16" name="TextBox 15"/>
          <p:cNvSpPr txBox="1"/>
          <p:nvPr/>
        </p:nvSpPr>
        <p:spPr>
          <a:xfrm>
            <a:off x="1901952" y="3675888"/>
            <a:ext cx="3435330" cy="365760"/>
          </a:xfrm>
          <a:prstGeom prst="rect">
            <a:avLst/>
          </a:prstGeom>
          <a:noFill/>
        </p:spPr>
        <p:txBody>
          <a:bodyPr wrap="square" lIns="0" rIns="0" tIns="0" bIns="0" anchor="ctr">
            <a:spAutoFit/>
          </a:bodyPr>
          <a:lstStyle/>
          <a:p>
            <a:pPr algn="ctr"/>
            <a:r>
              <a:rPr sz="1100" b="0" i="0">
                <a:solidFill>
                  <a:srgbClr val="1F3644"/>
                </a:solidFill>
                <a:latin typeface="Courier New"/>
              </a:rPr>
              <a:t>C12–C18 returned to parallel, rail to GND</a:t>
            </a:r>
          </a:p>
        </p:txBody>
      </p:sp>
      <p:sp>
        <p:nvSpPr>
          <p:cNvPr id="17" name="TextBox 16"/>
          <p:cNvSpPr txBox="1"/>
          <p:nvPr/>
        </p:nvSpPr>
        <p:spPr>
          <a:xfrm>
            <a:off x="5447010" y="3675888"/>
            <a:ext cx="1465853" cy="365760"/>
          </a:xfrm>
          <a:prstGeom prst="rect">
            <a:avLst/>
          </a:prstGeom>
          <a:noFill/>
        </p:spPr>
        <p:txBody>
          <a:bodyPr wrap="square" lIns="0" rIns="0" tIns="0" bIns="0" anchor="ctr">
            <a:spAutoFit/>
          </a:bodyPr>
          <a:lstStyle/>
          <a:p>
            <a:pPr algn="ctr"/>
            <a:r>
              <a:rPr sz="1100" b="0" i="0">
                <a:solidFill>
                  <a:srgbClr val="1F3644"/>
                </a:solidFill>
                <a:latin typeface="Courier New"/>
              </a:rPr>
              <a:t>DC continuity</a:t>
            </a:r>
          </a:p>
        </p:txBody>
      </p:sp>
      <p:sp>
        <p:nvSpPr>
          <p:cNvPr id="18" name="Rectangle 17"/>
          <p:cNvSpPr/>
          <p:nvPr/>
        </p:nvSpPr>
        <p:spPr>
          <a:xfrm>
            <a:off x="548640" y="4041648"/>
            <a:ext cx="6400800" cy="365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21792" y="4041648"/>
            <a:ext cx="1170431" cy="365760"/>
          </a:xfrm>
          <a:prstGeom prst="rect">
            <a:avLst/>
          </a:prstGeom>
          <a:noFill/>
        </p:spPr>
        <p:txBody>
          <a:bodyPr wrap="square" lIns="0" rIns="0" tIns="0" bIns="0" anchor="ctr">
            <a:spAutoFit/>
          </a:bodyPr>
          <a:lstStyle/>
          <a:p>
            <a:pPr algn="l"/>
            <a:r>
              <a:rPr sz="1100" b="1" i="0">
                <a:solidFill>
                  <a:srgbClr val="0C2231"/>
                </a:solidFill>
                <a:latin typeface="Calibri"/>
              </a:rPr>
              <a:t>c66b3fb</a:t>
            </a:r>
          </a:p>
        </p:txBody>
      </p:sp>
      <p:sp>
        <p:nvSpPr>
          <p:cNvPr id="20" name="TextBox 19"/>
          <p:cNvSpPr txBox="1"/>
          <p:nvPr/>
        </p:nvSpPr>
        <p:spPr>
          <a:xfrm>
            <a:off x="1901952" y="4041648"/>
            <a:ext cx="3435330" cy="365760"/>
          </a:xfrm>
          <a:prstGeom prst="rect">
            <a:avLst/>
          </a:prstGeom>
          <a:noFill/>
        </p:spPr>
        <p:txBody>
          <a:bodyPr wrap="square" lIns="0" rIns="0" tIns="0" bIns="0" anchor="ctr">
            <a:spAutoFit/>
          </a:bodyPr>
          <a:lstStyle/>
          <a:p>
            <a:pPr algn="ctr"/>
            <a:r>
              <a:rPr sz="1100" b="0" i="0">
                <a:solidFill>
                  <a:srgbClr val="1F3644"/>
                </a:solidFill>
                <a:latin typeface="Courier New"/>
              </a:rPr>
              <a:t>LSM6DSO ground pin electrical type</a:t>
            </a:r>
          </a:p>
        </p:txBody>
      </p:sp>
      <p:sp>
        <p:nvSpPr>
          <p:cNvPr id="21" name="TextBox 20"/>
          <p:cNvSpPr txBox="1"/>
          <p:nvPr/>
        </p:nvSpPr>
        <p:spPr>
          <a:xfrm>
            <a:off x="5447010" y="4041648"/>
            <a:ext cx="1465853" cy="365760"/>
          </a:xfrm>
          <a:prstGeom prst="rect">
            <a:avLst/>
          </a:prstGeom>
          <a:noFill/>
        </p:spPr>
        <p:txBody>
          <a:bodyPr wrap="square" lIns="0" rIns="0" tIns="0" bIns="0" anchor="ctr">
            <a:spAutoFit/>
          </a:bodyPr>
          <a:lstStyle/>
          <a:p>
            <a:pPr algn="ctr"/>
            <a:r>
              <a:rPr sz="1100" b="0" i="0">
                <a:solidFill>
                  <a:srgbClr val="1F3644"/>
                </a:solidFill>
                <a:latin typeface="Courier New"/>
              </a:rPr>
              <a:t>matrix conflict cleared</a:t>
            </a:r>
          </a:p>
        </p:txBody>
      </p:sp>
      <p:sp>
        <p:nvSpPr>
          <p:cNvPr id="22" name="Rectangle 21"/>
          <p:cNvSpPr/>
          <p:nvPr/>
        </p:nvSpPr>
        <p:spPr>
          <a:xfrm>
            <a:off x="548640" y="4407408"/>
            <a:ext cx="6400800" cy="365760"/>
          </a:xfrm>
          <a:prstGeom prst="rect">
            <a:avLst/>
          </a:prstGeom>
          <a:solidFill>
            <a:srgbClr val="EDF2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21792" y="4407408"/>
            <a:ext cx="1170431" cy="365760"/>
          </a:xfrm>
          <a:prstGeom prst="rect">
            <a:avLst/>
          </a:prstGeom>
          <a:noFill/>
        </p:spPr>
        <p:txBody>
          <a:bodyPr wrap="square" lIns="0" rIns="0" tIns="0" bIns="0" anchor="ctr">
            <a:spAutoFit/>
          </a:bodyPr>
          <a:lstStyle/>
          <a:p>
            <a:pPr algn="l"/>
            <a:r>
              <a:rPr sz="1100" b="1" i="0">
                <a:solidFill>
                  <a:srgbClr val="0C2231"/>
                </a:solidFill>
                <a:latin typeface="Calibri"/>
              </a:rPr>
              <a:t>2be6335</a:t>
            </a:r>
          </a:p>
        </p:txBody>
      </p:sp>
      <p:sp>
        <p:nvSpPr>
          <p:cNvPr id="24" name="TextBox 23"/>
          <p:cNvSpPr txBox="1"/>
          <p:nvPr/>
        </p:nvSpPr>
        <p:spPr>
          <a:xfrm>
            <a:off x="1901952" y="4407408"/>
            <a:ext cx="3435330" cy="365760"/>
          </a:xfrm>
          <a:prstGeom prst="rect">
            <a:avLst/>
          </a:prstGeom>
          <a:noFill/>
        </p:spPr>
        <p:txBody>
          <a:bodyPr wrap="square" lIns="0" rIns="0" tIns="0" bIns="0" anchor="ctr">
            <a:spAutoFit/>
          </a:bodyPr>
          <a:lstStyle/>
          <a:p>
            <a:pPr algn="ctr"/>
            <a:r>
              <a:rPr sz="1100" b="0" i="0">
                <a:solidFill>
                  <a:srgbClr val="1F3644"/>
                </a:solidFill>
                <a:latin typeface="Courier New"/>
              </a:rPr>
              <a:t>Redundant power flags removed</a:t>
            </a:r>
          </a:p>
        </p:txBody>
      </p:sp>
      <p:sp>
        <p:nvSpPr>
          <p:cNvPr id="25" name="TextBox 24"/>
          <p:cNvSpPr txBox="1"/>
          <p:nvPr/>
        </p:nvSpPr>
        <p:spPr>
          <a:xfrm>
            <a:off x="5447010" y="4407408"/>
            <a:ext cx="1465853" cy="365760"/>
          </a:xfrm>
          <a:prstGeom prst="rect">
            <a:avLst/>
          </a:prstGeom>
          <a:noFill/>
        </p:spPr>
        <p:txBody>
          <a:bodyPr wrap="square" lIns="0" rIns="0" tIns="0" bIns="0" anchor="ctr">
            <a:spAutoFit/>
          </a:bodyPr>
          <a:lstStyle/>
          <a:p>
            <a:pPr algn="ctr"/>
            <a:r>
              <a:rPr sz="1100" b="0" i="0">
                <a:solidFill>
                  <a:srgbClr val="1F3644"/>
                </a:solidFill>
                <a:latin typeface="Courier New"/>
              </a:rPr>
              <a:t>net declarations clean</a:t>
            </a:r>
          </a:p>
        </p:txBody>
      </p:sp>
      <p:sp>
        <p:nvSpPr>
          <p:cNvPr id="26" name="Rounded Rectangle 25"/>
          <p:cNvSpPr/>
          <p:nvPr/>
        </p:nvSpPr>
        <p:spPr>
          <a:xfrm>
            <a:off x="548640" y="4956048"/>
            <a:ext cx="6400800" cy="731520"/>
          </a:xfrm>
          <a:prstGeom prst="roundRect">
            <a:avLst>
              <a:gd name="adj" fmla="val 5624"/>
            </a:avLst>
          </a:prstGeom>
          <a:solidFill>
            <a:srgbClr val="0C2231"/>
          </a:solidFill>
          <a:ln>
            <a:noFill/>
          </a:ln>
          <a:effectLst>
            <a:outerShdw blurRad="88900" dist="12700" dir="5400000" rotWithShape="0">
              <a:srgbClr val="9FB3C0">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22959" y="5047488"/>
            <a:ext cx="5852160" cy="548640"/>
          </a:xfrm>
          <a:prstGeom prst="rect">
            <a:avLst/>
          </a:prstGeom>
          <a:noFill/>
        </p:spPr>
        <p:txBody>
          <a:bodyPr wrap="square" lIns="0" rIns="0" tIns="0" bIns="0" anchor="ctr">
            <a:spAutoFit/>
          </a:bodyPr>
          <a:lstStyle/>
          <a:p>
            <a:pPr algn="l"/>
            <a:r>
              <a:rPr sz="2500" b="1" i="0">
                <a:solidFill>
                  <a:srgbClr val="E0A33E"/>
                </a:solidFill>
                <a:latin typeface="Cambria"/>
              </a:rPr>
              <a:t>10 → 0</a:t>
            </a:r>
            <a:r>
              <a:rPr sz="1300" b="0" i="0">
                <a:solidFill>
                  <a:srgbClr val="FFFFFF"/>
                </a:solidFill>
                <a:latin typeface="Calibri"/>
              </a:rPr>
              <a:t>   blocking ERC errors, KiCad 10.0.5 (42 minor warnings remain)</a:t>
            </a:r>
          </a:p>
        </p:txBody>
      </p:sp>
      <p:pic>
        <p:nvPicPr>
          <p:cNvPr id="28" name="Picture 27" descr="stm32_decoupling_capacitors_before.png"/>
          <p:cNvPicPr>
            <a:picLocks noChangeAspect="1"/>
          </p:cNvPicPr>
          <p:nvPr/>
        </p:nvPicPr>
        <p:blipFill>
          <a:blip r:embed="rId3"/>
          <a:stretch>
            <a:fillRect/>
          </a:stretch>
        </p:blipFill>
        <p:spPr>
          <a:xfrm>
            <a:off x="7360920" y="1325880"/>
            <a:ext cx="2194560" cy="2578608"/>
          </a:xfrm>
          <a:prstGeom prst="rect">
            <a:avLst/>
          </a:prstGeom>
        </p:spPr>
      </p:pic>
      <p:pic>
        <p:nvPicPr>
          <p:cNvPr id="29" name="Picture 28" descr="stm32_decoupling_capacitors_fix.png"/>
          <p:cNvPicPr>
            <a:picLocks noChangeAspect="1"/>
          </p:cNvPicPr>
          <p:nvPr/>
        </p:nvPicPr>
        <p:blipFill>
          <a:blip r:embed="rId4"/>
          <a:stretch>
            <a:fillRect/>
          </a:stretch>
        </p:blipFill>
        <p:spPr>
          <a:xfrm>
            <a:off x="9765792" y="1325880"/>
            <a:ext cx="1828800" cy="2578608"/>
          </a:xfrm>
          <a:prstGeom prst="rect">
            <a:avLst/>
          </a:prstGeom>
        </p:spPr>
      </p:pic>
      <p:sp>
        <p:nvSpPr>
          <p:cNvPr id="30" name="TextBox 29"/>
          <p:cNvSpPr txBox="1"/>
          <p:nvPr/>
        </p:nvSpPr>
        <p:spPr>
          <a:xfrm>
            <a:off x="7360920" y="3977639"/>
            <a:ext cx="2194560" cy="237744"/>
          </a:xfrm>
          <a:prstGeom prst="rect">
            <a:avLst/>
          </a:prstGeom>
          <a:noFill/>
        </p:spPr>
        <p:txBody>
          <a:bodyPr wrap="square" lIns="0" rIns="0" tIns="0" bIns="0" anchor="t">
            <a:spAutoFit/>
          </a:bodyPr>
          <a:lstStyle/>
          <a:p>
            <a:pPr algn="ctr"/>
            <a:r>
              <a:rPr sz="1100" b="1" i="0" spc="90">
                <a:solidFill>
                  <a:srgbClr val="9E3B3E"/>
                </a:solidFill>
                <a:latin typeface="Calibri"/>
              </a:rPr>
              <a:t>BEFORE</a:t>
            </a:r>
          </a:p>
        </p:txBody>
      </p:sp>
      <p:sp>
        <p:nvSpPr>
          <p:cNvPr id="31" name="TextBox 30"/>
          <p:cNvSpPr txBox="1"/>
          <p:nvPr/>
        </p:nvSpPr>
        <p:spPr>
          <a:xfrm>
            <a:off x="9765792" y="3977639"/>
            <a:ext cx="1828800" cy="237744"/>
          </a:xfrm>
          <a:prstGeom prst="rect">
            <a:avLst/>
          </a:prstGeom>
          <a:noFill/>
        </p:spPr>
        <p:txBody>
          <a:bodyPr wrap="square" lIns="0" rIns="0" tIns="0" bIns="0" anchor="t">
            <a:spAutoFit/>
          </a:bodyPr>
          <a:lstStyle/>
          <a:p>
            <a:pPr algn="ctr"/>
            <a:r>
              <a:rPr sz="1100" b="1" i="0" spc="90">
                <a:solidFill>
                  <a:srgbClr val="2E7D5B"/>
                </a:solidFill>
                <a:latin typeface="Calibri"/>
              </a:rPr>
              <a:t>AFTER</a:t>
            </a:r>
          </a:p>
        </p:txBody>
      </p:sp>
      <p:sp>
        <p:nvSpPr>
          <p:cNvPr id="32" name="TextBox 31"/>
          <p:cNvSpPr txBox="1"/>
          <p:nvPr/>
        </p:nvSpPr>
        <p:spPr>
          <a:xfrm>
            <a:off x="7360920" y="4279392"/>
            <a:ext cx="4233672" cy="274320"/>
          </a:xfrm>
          <a:prstGeom prst="rect">
            <a:avLst/>
          </a:prstGeom>
          <a:noFill/>
        </p:spPr>
        <p:txBody>
          <a:bodyPr wrap="square" lIns="0" rIns="0" tIns="0" bIns="0" anchor="t">
            <a:spAutoFit/>
          </a:bodyPr>
          <a:lstStyle/>
          <a:p>
            <a:pPr algn="ctr">
              <a:lnSpc>
                <a:spcPct val="105000"/>
              </a:lnSpc>
            </a:pPr>
            <a:r>
              <a:rPr sz="950" b="0" i="1">
                <a:solidFill>
                  <a:srgbClr val="5E7686"/>
                </a:solidFill>
                <a:latin typeface="Calibri"/>
              </a:rPr>
              <a:t>Series on the rail, then parallel to ground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146304"/>
            <a:ext cx="11094415" cy="237744"/>
          </a:xfrm>
          <a:prstGeom prst="rect">
            <a:avLst/>
          </a:prstGeom>
          <a:noFill/>
        </p:spPr>
        <p:txBody>
          <a:bodyPr wrap="square" lIns="0" rIns="0" tIns="0" bIns="0" anchor="ctr">
            <a:spAutoFit/>
          </a:bodyPr>
          <a:lstStyle/>
          <a:p>
            <a:pPr algn="l"/>
            <a:r>
              <a:rPr sz="1000" b="1" i="0" spc="140">
                <a:solidFill>
                  <a:srgbClr val="1C7293"/>
                </a:solidFill>
                <a:latin typeface="Calibri"/>
              </a:rPr>
              <a:t>ROUTING</a:t>
            </a:r>
          </a:p>
        </p:txBody>
      </p:sp>
      <p:sp>
        <p:nvSpPr>
          <p:cNvPr id="3" name="TextBox 2"/>
          <p:cNvSpPr txBox="1"/>
          <p:nvPr/>
        </p:nvSpPr>
        <p:spPr>
          <a:xfrm>
            <a:off x="548640" y="384048"/>
            <a:ext cx="11094415" cy="676656"/>
          </a:xfrm>
          <a:prstGeom prst="rect">
            <a:avLst/>
          </a:prstGeom>
          <a:noFill/>
        </p:spPr>
        <p:txBody>
          <a:bodyPr wrap="square" lIns="0" rIns="0" tIns="0" bIns="0" anchor="ctr">
            <a:spAutoFit/>
          </a:bodyPr>
          <a:lstStyle/>
          <a:p>
            <a:pPr algn="l"/>
            <a:r>
              <a:rPr sz="3300" b="1" i="0">
                <a:solidFill>
                  <a:srgbClr val="0C2231"/>
                </a:solidFill>
                <a:latin typeface="Cambria"/>
              </a:rPr>
              <a:t>Design rules and manufacturing margins</a:t>
            </a:r>
          </a:p>
        </p:txBody>
      </p:sp>
      <p:sp>
        <p:nvSpPr>
          <p:cNvPr id="4" name="Rectangle 3"/>
          <p:cNvSpPr/>
          <p:nvPr/>
        </p:nvSpPr>
        <p:spPr>
          <a:xfrm>
            <a:off x="548640" y="1325880"/>
            <a:ext cx="6858000" cy="310896"/>
          </a:xfrm>
          <a:prstGeom prst="rect">
            <a:avLst/>
          </a:prstGeom>
          <a:solidFill>
            <a:srgbClr val="0C22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21792" y="1325880"/>
            <a:ext cx="2316948" cy="310896"/>
          </a:xfrm>
          <a:prstGeom prst="rect">
            <a:avLst/>
          </a:prstGeom>
          <a:noFill/>
        </p:spPr>
        <p:txBody>
          <a:bodyPr wrap="square" lIns="0" rIns="0" tIns="0" bIns="0" anchor="ctr">
            <a:spAutoFit/>
          </a:bodyPr>
          <a:lstStyle/>
          <a:p>
            <a:pPr algn="l"/>
            <a:r>
              <a:rPr sz="1000" b="1" i="0">
                <a:solidFill>
                  <a:srgbClr val="FFFFFF"/>
                </a:solidFill>
                <a:latin typeface="Calibri"/>
              </a:rPr>
              <a:t>Constraint</a:t>
            </a:r>
          </a:p>
        </p:txBody>
      </p:sp>
      <p:sp>
        <p:nvSpPr>
          <p:cNvPr id="6" name="TextBox 5"/>
          <p:cNvSpPr txBox="1"/>
          <p:nvPr/>
        </p:nvSpPr>
        <p:spPr>
          <a:xfrm>
            <a:off x="3048468" y="1325880"/>
            <a:ext cx="1367379" cy="310896"/>
          </a:xfrm>
          <a:prstGeom prst="rect">
            <a:avLst/>
          </a:prstGeom>
          <a:noFill/>
        </p:spPr>
        <p:txBody>
          <a:bodyPr wrap="square" lIns="0" rIns="0" tIns="0" bIns="0" anchor="ctr">
            <a:spAutoFit/>
          </a:bodyPr>
          <a:lstStyle/>
          <a:p>
            <a:pPr algn="ctr"/>
            <a:r>
              <a:rPr sz="1000" b="1" i="0">
                <a:solidFill>
                  <a:srgbClr val="FFFFFF"/>
                </a:solidFill>
                <a:latin typeface="Calibri"/>
              </a:rPr>
              <a:t>Project rule</a:t>
            </a:r>
          </a:p>
        </p:txBody>
      </p:sp>
      <p:sp>
        <p:nvSpPr>
          <p:cNvPr id="7" name="TextBox 6"/>
          <p:cNvSpPr txBox="1"/>
          <p:nvPr/>
        </p:nvSpPr>
        <p:spPr>
          <a:xfrm>
            <a:off x="4525576" y="1325880"/>
            <a:ext cx="1683902" cy="310896"/>
          </a:xfrm>
          <a:prstGeom prst="rect">
            <a:avLst/>
          </a:prstGeom>
          <a:noFill/>
        </p:spPr>
        <p:txBody>
          <a:bodyPr wrap="square" lIns="0" rIns="0" tIns="0" bIns="0" anchor="ctr">
            <a:spAutoFit/>
          </a:bodyPr>
          <a:lstStyle/>
          <a:p>
            <a:pPr algn="ctr"/>
            <a:r>
              <a:rPr sz="1000" b="1" i="0">
                <a:solidFill>
                  <a:srgbClr val="FFFFFF"/>
                </a:solidFill>
                <a:latin typeface="Calibri"/>
              </a:rPr>
              <a:t>Process capability</a:t>
            </a:r>
          </a:p>
        </p:txBody>
      </p:sp>
      <p:sp>
        <p:nvSpPr>
          <p:cNvPr id="8" name="TextBox 7"/>
          <p:cNvSpPr txBox="1"/>
          <p:nvPr/>
        </p:nvSpPr>
        <p:spPr>
          <a:xfrm>
            <a:off x="6319207" y="1325880"/>
            <a:ext cx="1050856" cy="310896"/>
          </a:xfrm>
          <a:prstGeom prst="rect">
            <a:avLst/>
          </a:prstGeom>
          <a:noFill/>
        </p:spPr>
        <p:txBody>
          <a:bodyPr wrap="square" lIns="0" rIns="0" tIns="0" bIns="0" anchor="ctr">
            <a:spAutoFit/>
          </a:bodyPr>
          <a:lstStyle/>
          <a:p>
            <a:pPr algn="ctr"/>
            <a:r>
              <a:rPr sz="1000" b="1" i="0">
                <a:solidFill>
                  <a:srgbClr val="FFFFFF"/>
                </a:solidFill>
                <a:latin typeface="Calibri"/>
              </a:rPr>
              <a:t>Margin</a:t>
            </a:r>
          </a:p>
        </p:txBody>
      </p:sp>
      <p:sp>
        <p:nvSpPr>
          <p:cNvPr id="9" name="Rectangle 8"/>
          <p:cNvSpPr/>
          <p:nvPr/>
        </p:nvSpPr>
        <p:spPr>
          <a:xfrm>
            <a:off x="548640" y="1636776"/>
            <a:ext cx="6858000" cy="329184"/>
          </a:xfrm>
          <a:prstGeom prst="rect">
            <a:avLst/>
          </a:prstGeom>
          <a:solidFill>
            <a:srgbClr val="EDF2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21792" y="1636776"/>
            <a:ext cx="2316948" cy="329184"/>
          </a:xfrm>
          <a:prstGeom prst="rect">
            <a:avLst/>
          </a:prstGeom>
          <a:noFill/>
        </p:spPr>
        <p:txBody>
          <a:bodyPr wrap="square" lIns="0" rIns="0" tIns="0" bIns="0" anchor="ctr">
            <a:spAutoFit/>
          </a:bodyPr>
          <a:lstStyle/>
          <a:p>
            <a:pPr algn="l"/>
            <a:r>
              <a:rPr sz="1100" b="1" i="0">
                <a:solidFill>
                  <a:srgbClr val="0C2231"/>
                </a:solidFill>
                <a:latin typeface="Calibri"/>
              </a:rPr>
              <a:t>Internal copper clearance</a:t>
            </a:r>
          </a:p>
        </p:txBody>
      </p:sp>
      <p:sp>
        <p:nvSpPr>
          <p:cNvPr id="11" name="TextBox 10"/>
          <p:cNvSpPr txBox="1"/>
          <p:nvPr/>
        </p:nvSpPr>
        <p:spPr>
          <a:xfrm>
            <a:off x="3048468" y="1636776"/>
            <a:ext cx="1367379" cy="329184"/>
          </a:xfrm>
          <a:prstGeom prst="rect">
            <a:avLst/>
          </a:prstGeom>
          <a:noFill/>
        </p:spPr>
        <p:txBody>
          <a:bodyPr wrap="square" lIns="0" rIns="0" tIns="0" bIns="0" anchor="ctr">
            <a:spAutoFit/>
          </a:bodyPr>
          <a:lstStyle/>
          <a:p>
            <a:pPr algn="ctr"/>
            <a:r>
              <a:rPr sz="1100" b="0" i="0">
                <a:solidFill>
                  <a:srgbClr val="1F3644"/>
                </a:solidFill>
                <a:latin typeface="Courier New"/>
              </a:rPr>
              <a:t>0.150 mm</a:t>
            </a:r>
          </a:p>
        </p:txBody>
      </p:sp>
      <p:sp>
        <p:nvSpPr>
          <p:cNvPr id="12" name="TextBox 11"/>
          <p:cNvSpPr txBox="1"/>
          <p:nvPr/>
        </p:nvSpPr>
        <p:spPr>
          <a:xfrm>
            <a:off x="4525576" y="1636776"/>
            <a:ext cx="1683902" cy="329184"/>
          </a:xfrm>
          <a:prstGeom prst="rect">
            <a:avLst/>
          </a:prstGeom>
          <a:noFill/>
        </p:spPr>
        <p:txBody>
          <a:bodyPr wrap="square" lIns="0" rIns="0" tIns="0" bIns="0" anchor="ctr">
            <a:spAutoFit/>
          </a:bodyPr>
          <a:lstStyle/>
          <a:p>
            <a:pPr algn="ctr"/>
            <a:r>
              <a:rPr sz="1100" b="0" i="0">
                <a:solidFill>
                  <a:srgbClr val="1F3644"/>
                </a:solidFill>
                <a:latin typeface="Courier New"/>
              </a:rPr>
              <a:t>0.100 mm</a:t>
            </a:r>
          </a:p>
        </p:txBody>
      </p:sp>
      <p:sp>
        <p:nvSpPr>
          <p:cNvPr id="13" name="TextBox 12"/>
          <p:cNvSpPr txBox="1"/>
          <p:nvPr/>
        </p:nvSpPr>
        <p:spPr>
          <a:xfrm>
            <a:off x="6319207" y="1636776"/>
            <a:ext cx="1050856" cy="329184"/>
          </a:xfrm>
          <a:prstGeom prst="rect">
            <a:avLst/>
          </a:prstGeom>
          <a:noFill/>
        </p:spPr>
        <p:txBody>
          <a:bodyPr wrap="square" lIns="0" rIns="0" tIns="0" bIns="0" anchor="ctr">
            <a:spAutoFit/>
          </a:bodyPr>
          <a:lstStyle/>
          <a:p>
            <a:pPr algn="ctr"/>
            <a:r>
              <a:rPr sz="1100" b="0" i="0">
                <a:solidFill>
                  <a:srgbClr val="1F3644"/>
                </a:solidFill>
                <a:latin typeface="Courier New"/>
              </a:rPr>
              <a:t>+50 %</a:t>
            </a:r>
          </a:p>
        </p:txBody>
      </p:sp>
      <p:sp>
        <p:nvSpPr>
          <p:cNvPr id="14" name="Rectangle 13"/>
          <p:cNvSpPr/>
          <p:nvPr/>
        </p:nvSpPr>
        <p:spPr>
          <a:xfrm>
            <a:off x="548640" y="1965960"/>
            <a:ext cx="6858000" cy="32918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21792" y="1965960"/>
            <a:ext cx="2316948" cy="329184"/>
          </a:xfrm>
          <a:prstGeom prst="rect">
            <a:avLst/>
          </a:prstGeom>
          <a:noFill/>
        </p:spPr>
        <p:txBody>
          <a:bodyPr wrap="square" lIns="0" rIns="0" tIns="0" bIns="0" anchor="ctr">
            <a:spAutoFit/>
          </a:bodyPr>
          <a:lstStyle/>
          <a:p>
            <a:pPr algn="l"/>
            <a:r>
              <a:rPr sz="1100" b="1" i="0">
                <a:solidFill>
                  <a:srgbClr val="0C2231"/>
                </a:solidFill>
                <a:latin typeface="Calibri"/>
              </a:rPr>
              <a:t>Minimum track width</a:t>
            </a:r>
          </a:p>
        </p:txBody>
      </p:sp>
      <p:sp>
        <p:nvSpPr>
          <p:cNvPr id="16" name="TextBox 15"/>
          <p:cNvSpPr txBox="1"/>
          <p:nvPr/>
        </p:nvSpPr>
        <p:spPr>
          <a:xfrm>
            <a:off x="3048468" y="1965960"/>
            <a:ext cx="1367379" cy="329184"/>
          </a:xfrm>
          <a:prstGeom prst="rect">
            <a:avLst/>
          </a:prstGeom>
          <a:noFill/>
        </p:spPr>
        <p:txBody>
          <a:bodyPr wrap="square" lIns="0" rIns="0" tIns="0" bIns="0" anchor="ctr">
            <a:spAutoFit/>
          </a:bodyPr>
          <a:lstStyle/>
          <a:p>
            <a:pPr algn="ctr"/>
            <a:r>
              <a:rPr sz="1100" b="0" i="0">
                <a:solidFill>
                  <a:srgbClr val="1F3644"/>
                </a:solidFill>
                <a:latin typeface="Courier New"/>
              </a:rPr>
              <a:t>0.127 mm</a:t>
            </a:r>
          </a:p>
        </p:txBody>
      </p:sp>
      <p:sp>
        <p:nvSpPr>
          <p:cNvPr id="17" name="TextBox 16"/>
          <p:cNvSpPr txBox="1"/>
          <p:nvPr/>
        </p:nvSpPr>
        <p:spPr>
          <a:xfrm>
            <a:off x="4525576" y="1965960"/>
            <a:ext cx="1683902" cy="329184"/>
          </a:xfrm>
          <a:prstGeom prst="rect">
            <a:avLst/>
          </a:prstGeom>
          <a:noFill/>
        </p:spPr>
        <p:txBody>
          <a:bodyPr wrap="square" lIns="0" rIns="0" tIns="0" bIns="0" anchor="ctr">
            <a:spAutoFit/>
          </a:bodyPr>
          <a:lstStyle/>
          <a:p>
            <a:pPr algn="ctr"/>
            <a:r>
              <a:rPr sz="1100" b="0" i="0">
                <a:solidFill>
                  <a:srgbClr val="1F3644"/>
                </a:solidFill>
                <a:latin typeface="Courier New"/>
              </a:rPr>
              <a:t>0.100 mm</a:t>
            </a:r>
          </a:p>
        </p:txBody>
      </p:sp>
      <p:sp>
        <p:nvSpPr>
          <p:cNvPr id="18" name="TextBox 17"/>
          <p:cNvSpPr txBox="1"/>
          <p:nvPr/>
        </p:nvSpPr>
        <p:spPr>
          <a:xfrm>
            <a:off x="6319207" y="1965960"/>
            <a:ext cx="1050856" cy="329184"/>
          </a:xfrm>
          <a:prstGeom prst="rect">
            <a:avLst/>
          </a:prstGeom>
          <a:noFill/>
        </p:spPr>
        <p:txBody>
          <a:bodyPr wrap="square" lIns="0" rIns="0" tIns="0" bIns="0" anchor="ctr">
            <a:spAutoFit/>
          </a:bodyPr>
          <a:lstStyle/>
          <a:p>
            <a:pPr algn="ctr"/>
            <a:r>
              <a:rPr sz="1100" b="0" i="0">
                <a:solidFill>
                  <a:srgbClr val="1F3644"/>
                </a:solidFill>
                <a:latin typeface="Courier New"/>
              </a:rPr>
              <a:t>+27 %</a:t>
            </a:r>
          </a:p>
        </p:txBody>
      </p:sp>
      <p:sp>
        <p:nvSpPr>
          <p:cNvPr id="19" name="Rectangle 18"/>
          <p:cNvSpPr/>
          <p:nvPr/>
        </p:nvSpPr>
        <p:spPr>
          <a:xfrm>
            <a:off x="548640" y="2295144"/>
            <a:ext cx="6858000" cy="329184"/>
          </a:xfrm>
          <a:prstGeom prst="rect">
            <a:avLst/>
          </a:prstGeom>
          <a:solidFill>
            <a:srgbClr val="EDF2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1792" y="2295144"/>
            <a:ext cx="2316948" cy="329184"/>
          </a:xfrm>
          <a:prstGeom prst="rect">
            <a:avLst/>
          </a:prstGeom>
          <a:noFill/>
        </p:spPr>
        <p:txBody>
          <a:bodyPr wrap="square" lIns="0" rIns="0" tIns="0" bIns="0" anchor="ctr">
            <a:spAutoFit/>
          </a:bodyPr>
          <a:lstStyle/>
          <a:p>
            <a:pPr algn="l"/>
            <a:r>
              <a:rPr sz="1100" b="1" i="0">
                <a:solidFill>
                  <a:srgbClr val="0C2231"/>
                </a:solidFill>
                <a:latin typeface="Calibri"/>
              </a:rPr>
              <a:t>Minimum via diameter</a:t>
            </a:r>
          </a:p>
        </p:txBody>
      </p:sp>
      <p:sp>
        <p:nvSpPr>
          <p:cNvPr id="21" name="TextBox 20"/>
          <p:cNvSpPr txBox="1"/>
          <p:nvPr/>
        </p:nvSpPr>
        <p:spPr>
          <a:xfrm>
            <a:off x="3048468" y="2295144"/>
            <a:ext cx="1367379" cy="329184"/>
          </a:xfrm>
          <a:prstGeom prst="rect">
            <a:avLst/>
          </a:prstGeom>
          <a:noFill/>
        </p:spPr>
        <p:txBody>
          <a:bodyPr wrap="square" lIns="0" rIns="0" tIns="0" bIns="0" anchor="ctr">
            <a:spAutoFit/>
          </a:bodyPr>
          <a:lstStyle/>
          <a:p>
            <a:pPr algn="ctr"/>
            <a:r>
              <a:rPr sz="1100" b="0" i="0">
                <a:solidFill>
                  <a:srgbClr val="1F3644"/>
                </a:solidFill>
                <a:latin typeface="Courier New"/>
              </a:rPr>
              <a:t>0.300 mm</a:t>
            </a:r>
          </a:p>
        </p:txBody>
      </p:sp>
      <p:sp>
        <p:nvSpPr>
          <p:cNvPr id="22" name="TextBox 21"/>
          <p:cNvSpPr txBox="1"/>
          <p:nvPr/>
        </p:nvSpPr>
        <p:spPr>
          <a:xfrm>
            <a:off x="4525576" y="2295144"/>
            <a:ext cx="1683902" cy="329184"/>
          </a:xfrm>
          <a:prstGeom prst="rect">
            <a:avLst/>
          </a:prstGeom>
          <a:noFill/>
        </p:spPr>
        <p:txBody>
          <a:bodyPr wrap="square" lIns="0" rIns="0" tIns="0" bIns="0" anchor="ctr">
            <a:spAutoFit/>
          </a:bodyPr>
          <a:lstStyle/>
          <a:p>
            <a:pPr algn="ctr"/>
            <a:r>
              <a:rPr sz="1100" b="0" i="0">
                <a:solidFill>
                  <a:srgbClr val="1F3644"/>
                </a:solidFill>
                <a:latin typeface="Courier New"/>
              </a:rPr>
              <a:t>0.200 mm</a:t>
            </a:r>
          </a:p>
        </p:txBody>
      </p:sp>
      <p:sp>
        <p:nvSpPr>
          <p:cNvPr id="23" name="TextBox 22"/>
          <p:cNvSpPr txBox="1"/>
          <p:nvPr/>
        </p:nvSpPr>
        <p:spPr>
          <a:xfrm>
            <a:off x="6319207" y="2295144"/>
            <a:ext cx="1050856" cy="329184"/>
          </a:xfrm>
          <a:prstGeom prst="rect">
            <a:avLst/>
          </a:prstGeom>
          <a:noFill/>
        </p:spPr>
        <p:txBody>
          <a:bodyPr wrap="square" lIns="0" rIns="0" tIns="0" bIns="0" anchor="ctr">
            <a:spAutoFit/>
          </a:bodyPr>
          <a:lstStyle/>
          <a:p>
            <a:pPr algn="ctr"/>
            <a:r>
              <a:rPr sz="1100" b="0" i="0">
                <a:solidFill>
                  <a:srgbClr val="1F3644"/>
                </a:solidFill>
                <a:latin typeface="Courier New"/>
              </a:rPr>
              <a:t>+50 %</a:t>
            </a:r>
          </a:p>
        </p:txBody>
      </p:sp>
      <p:sp>
        <p:nvSpPr>
          <p:cNvPr id="24" name="TextBox 23"/>
          <p:cNvSpPr txBox="1"/>
          <p:nvPr/>
        </p:nvSpPr>
        <p:spPr>
          <a:xfrm>
            <a:off x="548640" y="2807208"/>
            <a:ext cx="6858000" cy="548640"/>
          </a:xfrm>
          <a:prstGeom prst="rect">
            <a:avLst/>
          </a:prstGeom>
          <a:noFill/>
        </p:spPr>
        <p:txBody>
          <a:bodyPr wrap="square" lIns="0" rIns="0" tIns="0" bIns="0" anchor="t">
            <a:spAutoFit/>
          </a:bodyPr>
          <a:lstStyle/>
          <a:p>
            <a:pPr algn="l">
              <a:lnSpc>
                <a:spcPct val="115000"/>
              </a:lnSpc>
            </a:pPr>
            <a:r>
              <a:rPr sz="1200" b="0" i="0">
                <a:solidFill>
                  <a:srgbClr val="1F3644"/>
                </a:solidFill>
                <a:latin typeface="Calibri"/>
              </a:rPr>
              <a:t>Rules were set from the published tolerance grid and then tightened, so the layout keeps margin against the process floor rather than sitting on it.</a:t>
            </a:r>
          </a:p>
        </p:txBody>
      </p:sp>
      <p:sp>
        <p:nvSpPr>
          <p:cNvPr id="25" name="Rectangle 24"/>
          <p:cNvSpPr/>
          <p:nvPr/>
        </p:nvSpPr>
        <p:spPr>
          <a:xfrm>
            <a:off x="548640" y="3401568"/>
            <a:ext cx="6858000" cy="310896"/>
          </a:xfrm>
          <a:prstGeom prst="rect">
            <a:avLst/>
          </a:prstGeom>
          <a:solidFill>
            <a:srgbClr val="0C22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21792" y="3401568"/>
            <a:ext cx="3018482" cy="310896"/>
          </a:xfrm>
          <a:prstGeom prst="rect">
            <a:avLst/>
          </a:prstGeom>
          <a:noFill/>
        </p:spPr>
        <p:txBody>
          <a:bodyPr wrap="square" lIns="0" rIns="0" tIns="0" bIns="0" anchor="ctr">
            <a:spAutoFit/>
          </a:bodyPr>
          <a:lstStyle/>
          <a:p>
            <a:pPr algn="l"/>
            <a:r>
              <a:rPr sz="1000" b="1" i="0">
                <a:solidFill>
                  <a:srgbClr val="FFFFFF"/>
                </a:solidFill>
                <a:latin typeface="Calibri"/>
              </a:rPr>
              <a:t>Documented exclusion</a:t>
            </a:r>
          </a:p>
        </p:txBody>
      </p:sp>
      <p:sp>
        <p:nvSpPr>
          <p:cNvPr id="27" name="TextBox 26"/>
          <p:cNvSpPr txBox="1"/>
          <p:nvPr/>
        </p:nvSpPr>
        <p:spPr>
          <a:xfrm>
            <a:off x="3750002" y="3401568"/>
            <a:ext cx="1454377" cy="310896"/>
          </a:xfrm>
          <a:prstGeom prst="rect">
            <a:avLst/>
          </a:prstGeom>
          <a:noFill/>
        </p:spPr>
        <p:txBody>
          <a:bodyPr wrap="square" lIns="0" rIns="0" tIns="0" bIns="0" anchor="ctr">
            <a:spAutoFit/>
          </a:bodyPr>
          <a:lstStyle/>
          <a:p>
            <a:pPr algn="ctr"/>
            <a:r>
              <a:rPr sz="1000" b="1" i="0">
                <a:solidFill>
                  <a:srgbClr val="FFFFFF"/>
                </a:solidFill>
                <a:latin typeface="Calibri"/>
              </a:rPr>
              <a:t>Measured</a:t>
            </a:r>
          </a:p>
        </p:txBody>
      </p:sp>
      <p:sp>
        <p:nvSpPr>
          <p:cNvPr id="28" name="TextBox 27"/>
          <p:cNvSpPr txBox="1"/>
          <p:nvPr/>
        </p:nvSpPr>
        <p:spPr>
          <a:xfrm>
            <a:off x="5314107" y="3401568"/>
            <a:ext cx="2055956" cy="310896"/>
          </a:xfrm>
          <a:prstGeom prst="rect">
            <a:avLst/>
          </a:prstGeom>
          <a:noFill/>
        </p:spPr>
        <p:txBody>
          <a:bodyPr wrap="square" lIns="0" rIns="0" tIns="0" bIns="0" anchor="ctr">
            <a:spAutoFit/>
          </a:bodyPr>
          <a:lstStyle/>
          <a:p>
            <a:pPr algn="ctr"/>
            <a:r>
              <a:rPr sz="1000" b="1" i="0">
                <a:solidFill>
                  <a:srgbClr val="FFFFFF"/>
                </a:solidFill>
                <a:latin typeface="Calibri"/>
              </a:rPr>
              <a:t>Against capability</a:t>
            </a:r>
          </a:p>
        </p:txBody>
      </p:sp>
      <p:sp>
        <p:nvSpPr>
          <p:cNvPr id="29" name="Rectangle 28"/>
          <p:cNvSpPr/>
          <p:nvPr/>
        </p:nvSpPr>
        <p:spPr>
          <a:xfrm>
            <a:off x="548640" y="3712464"/>
            <a:ext cx="6858000" cy="310896"/>
          </a:xfrm>
          <a:prstGeom prst="rect">
            <a:avLst/>
          </a:prstGeom>
          <a:solidFill>
            <a:srgbClr val="EDF2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21792" y="3712464"/>
            <a:ext cx="3018482" cy="310896"/>
          </a:xfrm>
          <a:prstGeom prst="rect">
            <a:avLst/>
          </a:prstGeom>
          <a:noFill/>
        </p:spPr>
        <p:txBody>
          <a:bodyPr wrap="square" lIns="0" rIns="0" tIns="0" bIns="0" anchor="ctr">
            <a:spAutoFit/>
          </a:bodyPr>
          <a:lstStyle/>
          <a:p>
            <a:pPr algn="l"/>
            <a:r>
              <a:rPr sz="1100" b="1" i="0">
                <a:solidFill>
                  <a:srgbClr val="0C2231"/>
                </a:solidFill>
                <a:latin typeface="Calibri"/>
              </a:rPr>
              <a:t>U5 — /I2C2_SCL to GND</a:t>
            </a:r>
          </a:p>
        </p:txBody>
      </p:sp>
      <p:sp>
        <p:nvSpPr>
          <p:cNvPr id="31" name="TextBox 30"/>
          <p:cNvSpPr txBox="1"/>
          <p:nvPr/>
        </p:nvSpPr>
        <p:spPr>
          <a:xfrm>
            <a:off x="3750002" y="3712464"/>
            <a:ext cx="1454377" cy="310896"/>
          </a:xfrm>
          <a:prstGeom prst="rect">
            <a:avLst/>
          </a:prstGeom>
          <a:noFill/>
        </p:spPr>
        <p:txBody>
          <a:bodyPr wrap="square" lIns="0" rIns="0" tIns="0" bIns="0" anchor="ctr">
            <a:spAutoFit/>
          </a:bodyPr>
          <a:lstStyle/>
          <a:p>
            <a:pPr algn="ctr"/>
            <a:r>
              <a:rPr sz="1100" b="0" i="0">
                <a:solidFill>
                  <a:srgbClr val="1F3644"/>
                </a:solidFill>
                <a:latin typeface="Courier New"/>
              </a:rPr>
              <a:t>0.1291 mm</a:t>
            </a:r>
          </a:p>
        </p:txBody>
      </p:sp>
      <p:sp>
        <p:nvSpPr>
          <p:cNvPr id="32" name="TextBox 31"/>
          <p:cNvSpPr txBox="1"/>
          <p:nvPr/>
        </p:nvSpPr>
        <p:spPr>
          <a:xfrm>
            <a:off x="5314107" y="3712464"/>
            <a:ext cx="2055956" cy="310896"/>
          </a:xfrm>
          <a:prstGeom prst="rect">
            <a:avLst/>
          </a:prstGeom>
          <a:noFill/>
        </p:spPr>
        <p:txBody>
          <a:bodyPr wrap="square" lIns="0" rIns="0" tIns="0" bIns="0" anchor="ctr">
            <a:spAutoFit/>
          </a:bodyPr>
          <a:lstStyle/>
          <a:p>
            <a:pPr algn="ctr"/>
            <a:r>
              <a:rPr sz="1100" b="0" i="0">
                <a:solidFill>
                  <a:srgbClr val="1F3644"/>
                </a:solidFill>
                <a:latin typeface="Courier New"/>
              </a:rPr>
              <a:t>+29 % above 0.100 mm</a:t>
            </a:r>
          </a:p>
        </p:txBody>
      </p:sp>
      <p:sp>
        <p:nvSpPr>
          <p:cNvPr id="33" name="Rectangle 32"/>
          <p:cNvSpPr/>
          <p:nvPr/>
        </p:nvSpPr>
        <p:spPr>
          <a:xfrm>
            <a:off x="548640" y="4023360"/>
            <a:ext cx="6858000" cy="31089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21792" y="4023360"/>
            <a:ext cx="3018482" cy="310896"/>
          </a:xfrm>
          <a:prstGeom prst="rect">
            <a:avLst/>
          </a:prstGeom>
          <a:noFill/>
        </p:spPr>
        <p:txBody>
          <a:bodyPr wrap="square" lIns="0" rIns="0" tIns="0" bIns="0" anchor="ctr">
            <a:spAutoFit/>
          </a:bodyPr>
          <a:lstStyle/>
          <a:p>
            <a:pPr algn="l"/>
            <a:r>
              <a:rPr sz="1100" b="1" i="0">
                <a:solidFill>
                  <a:srgbClr val="0C2231"/>
                </a:solidFill>
                <a:latin typeface="Calibri"/>
              </a:rPr>
              <a:t>U8 — INT2 pad</a:t>
            </a:r>
          </a:p>
        </p:txBody>
      </p:sp>
      <p:sp>
        <p:nvSpPr>
          <p:cNvPr id="35" name="TextBox 34"/>
          <p:cNvSpPr txBox="1"/>
          <p:nvPr/>
        </p:nvSpPr>
        <p:spPr>
          <a:xfrm>
            <a:off x="3750002" y="4023360"/>
            <a:ext cx="1454377" cy="310896"/>
          </a:xfrm>
          <a:prstGeom prst="rect">
            <a:avLst/>
          </a:prstGeom>
          <a:noFill/>
        </p:spPr>
        <p:txBody>
          <a:bodyPr wrap="square" lIns="0" rIns="0" tIns="0" bIns="0" anchor="ctr">
            <a:spAutoFit/>
          </a:bodyPr>
          <a:lstStyle/>
          <a:p>
            <a:pPr algn="ctr"/>
            <a:r>
              <a:rPr sz="1100" b="0" i="0">
                <a:solidFill>
                  <a:srgbClr val="1F3644"/>
                </a:solidFill>
                <a:latin typeface="Courier New"/>
              </a:rPr>
              <a:t>0.1472 mm</a:t>
            </a:r>
          </a:p>
        </p:txBody>
      </p:sp>
      <p:sp>
        <p:nvSpPr>
          <p:cNvPr id="36" name="TextBox 35"/>
          <p:cNvSpPr txBox="1"/>
          <p:nvPr/>
        </p:nvSpPr>
        <p:spPr>
          <a:xfrm>
            <a:off x="5314107" y="4023360"/>
            <a:ext cx="2055956" cy="310896"/>
          </a:xfrm>
          <a:prstGeom prst="rect">
            <a:avLst/>
          </a:prstGeom>
          <a:noFill/>
        </p:spPr>
        <p:txBody>
          <a:bodyPr wrap="square" lIns="0" rIns="0" tIns="0" bIns="0" anchor="ctr">
            <a:spAutoFit/>
          </a:bodyPr>
          <a:lstStyle/>
          <a:p>
            <a:pPr algn="ctr"/>
            <a:r>
              <a:rPr sz="1100" b="0" i="0">
                <a:solidFill>
                  <a:srgbClr val="1F3644"/>
                </a:solidFill>
                <a:latin typeface="Courier New"/>
              </a:rPr>
              <a:t>+47 % above 0.100 mm</a:t>
            </a:r>
          </a:p>
        </p:txBody>
      </p:sp>
      <p:sp>
        <p:nvSpPr>
          <p:cNvPr id="37" name="Rectangle 36"/>
          <p:cNvSpPr/>
          <p:nvPr/>
        </p:nvSpPr>
        <p:spPr>
          <a:xfrm>
            <a:off x="548640" y="4334256"/>
            <a:ext cx="6858000" cy="310896"/>
          </a:xfrm>
          <a:prstGeom prst="rect">
            <a:avLst/>
          </a:prstGeom>
          <a:solidFill>
            <a:srgbClr val="EDF2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21792" y="4334256"/>
            <a:ext cx="3018482" cy="310896"/>
          </a:xfrm>
          <a:prstGeom prst="rect">
            <a:avLst/>
          </a:prstGeom>
          <a:noFill/>
        </p:spPr>
        <p:txBody>
          <a:bodyPr wrap="square" lIns="0" rIns="0" tIns="0" bIns="0" anchor="ctr">
            <a:spAutoFit/>
          </a:bodyPr>
          <a:lstStyle/>
          <a:p>
            <a:pPr algn="l"/>
            <a:r>
              <a:rPr sz="1100" b="1" i="0">
                <a:solidFill>
                  <a:srgbClr val="0C2231"/>
                </a:solidFill>
                <a:latin typeface="Calibri"/>
              </a:rPr>
              <a:t>U2 — BST / SW pins</a:t>
            </a:r>
          </a:p>
        </p:txBody>
      </p:sp>
      <p:sp>
        <p:nvSpPr>
          <p:cNvPr id="39" name="TextBox 38"/>
          <p:cNvSpPr txBox="1"/>
          <p:nvPr/>
        </p:nvSpPr>
        <p:spPr>
          <a:xfrm>
            <a:off x="3750002" y="4334256"/>
            <a:ext cx="1454377" cy="310896"/>
          </a:xfrm>
          <a:prstGeom prst="rect">
            <a:avLst/>
          </a:prstGeom>
          <a:noFill/>
        </p:spPr>
        <p:txBody>
          <a:bodyPr wrap="square" lIns="0" rIns="0" tIns="0" bIns="0" anchor="ctr">
            <a:spAutoFit/>
          </a:bodyPr>
          <a:lstStyle/>
          <a:p>
            <a:pPr algn="ctr"/>
            <a:r>
              <a:rPr sz="1100" b="0" i="0">
                <a:solidFill>
                  <a:srgbClr val="1F3644"/>
                </a:solidFill>
                <a:latin typeface="Courier New"/>
              </a:rPr>
              <a:t>0.1320 mm</a:t>
            </a:r>
          </a:p>
        </p:txBody>
      </p:sp>
      <p:sp>
        <p:nvSpPr>
          <p:cNvPr id="40" name="TextBox 39"/>
          <p:cNvSpPr txBox="1"/>
          <p:nvPr/>
        </p:nvSpPr>
        <p:spPr>
          <a:xfrm>
            <a:off x="5314107" y="4334256"/>
            <a:ext cx="2055956" cy="310896"/>
          </a:xfrm>
          <a:prstGeom prst="rect">
            <a:avLst/>
          </a:prstGeom>
          <a:noFill/>
        </p:spPr>
        <p:txBody>
          <a:bodyPr wrap="square" lIns="0" rIns="0" tIns="0" bIns="0" anchor="ctr">
            <a:spAutoFit/>
          </a:bodyPr>
          <a:lstStyle/>
          <a:p>
            <a:pPr algn="ctr"/>
            <a:r>
              <a:rPr sz="1100" b="0" i="0">
                <a:solidFill>
                  <a:srgbClr val="1F3644"/>
                </a:solidFill>
                <a:latin typeface="Courier New"/>
              </a:rPr>
              <a:t>vendor footprint, fixed</a:t>
            </a:r>
          </a:p>
        </p:txBody>
      </p:sp>
      <p:sp>
        <p:nvSpPr>
          <p:cNvPr id="41" name="Rectangle 40"/>
          <p:cNvSpPr/>
          <p:nvPr/>
        </p:nvSpPr>
        <p:spPr>
          <a:xfrm>
            <a:off x="548640" y="4645152"/>
            <a:ext cx="6858000" cy="31089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21792" y="4645152"/>
            <a:ext cx="3018482" cy="310896"/>
          </a:xfrm>
          <a:prstGeom prst="rect">
            <a:avLst/>
          </a:prstGeom>
          <a:noFill/>
        </p:spPr>
        <p:txBody>
          <a:bodyPr wrap="square" lIns="0" rIns="0" tIns="0" bIns="0" anchor="ctr">
            <a:spAutoFit/>
          </a:bodyPr>
          <a:lstStyle/>
          <a:p>
            <a:pPr algn="l"/>
            <a:r>
              <a:rPr sz="1100" b="1" i="0">
                <a:solidFill>
                  <a:srgbClr val="0C2231"/>
                </a:solidFill>
                <a:latin typeface="Calibri"/>
              </a:rPr>
              <a:t>U6 — unconnected pad</a:t>
            </a:r>
          </a:p>
        </p:txBody>
      </p:sp>
      <p:sp>
        <p:nvSpPr>
          <p:cNvPr id="43" name="TextBox 42"/>
          <p:cNvSpPr txBox="1"/>
          <p:nvPr/>
        </p:nvSpPr>
        <p:spPr>
          <a:xfrm>
            <a:off x="3750002" y="4645152"/>
            <a:ext cx="1454377" cy="310896"/>
          </a:xfrm>
          <a:prstGeom prst="rect">
            <a:avLst/>
          </a:prstGeom>
          <a:noFill/>
        </p:spPr>
        <p:txBody>
          <a:bodyPr wrap="square" lIns="0" rIns="0" tIns="0" bIns="0" anchor="ctr">
            <a:spAutoFit/>
          </a:bodyPr>
          <a:lstStyle/>
          <a:p>
            <a:pPr algn="ctr"/>
            <a:r>
              <a:rPr sz="1100" b="0" i="0">
                <a:solidFill>
                  <a:srgbClr val="1F3644"/>
                </a:solidFill>
                <a:latin typeface="Courier New"/>
              </a:rPr>
              <a:t>—</a:t>
            </a:r>
          </a:p>
        </p:txBody>
      </p:sp>
      <p:sp>
        <p:nvSpPr>
          <p:cNvPr id="44" name="TextBox 43"/>
          <p:cNvSpPr txBox="1"/>
          <p:nvPr/>
        </p:nvSpPr>
        <p:spPr>
          <a:xfrm>
            <a:off x="5314107" y="4645152"/>
            <a:ext cx="2055956" cy="310896"/>
          </a:xfrm>
          <a:prstGeom prst="rect">
            <a:avLst/>
          </a:prstGeom>
          <a:noFill/>
        </p:spPr>
        <p:txBody>
          <a:bodyPr wrap="square" lIns="0" rIns="0" tIns="0" bIns="0" anchor="ctr">
            <a:spAutoFit/>
          </a:bodyPr>
          <a:lstStyle/>
          <a:p>
            <a:pPr algn="ctr"/>
            <a:r>
              <a:rPr sz="1100" b="0" i="0">
                <a:solidFill>
                  <a:srgbClr val="1F3644"/>
                </a:solidFill>
                <a:latin typeface="Courier New"/>
              </a:rPr>
              <a:t>no electrical function</a:t>
            </a:r>
          </a:p>
        </p:txBody>
      </p:sp>
      <p:sp>
        <p:nvSpPr>
          <p:cNvPr id="45" name="TextBox 44"/>
          <p:cNvSpPr txBox="1"/>
          <p:nvPr/>
        </p:nvSpPr>
        <p:spPr>
          <a:xfrm>
            <a:off x="548640" y="5138928"/>
            <a:ext cx="6858000" cy="548640"/>
          </a:xfrm>
          <a:prstGeom prst="rect">
            <a:avLst/>
          </a:prstGeom>
          <a:noFill/>
        </p:spPr>
        <p:txBody>
          <a:bodyPr wrap="square" lIns="0" rIns="0" tIns="0" bIns="0" anchor="t">
            <a:spAutoFit/>
          </a:bodyPr>
          <a:lstStyle/>
          <a:p>
            <a:pPr algn="l">
              <a:lnSpc>
                <a:spcPct val="115000"/>
              </a:lnSpc>
            </a:pPr>
            <a:r>
              <a:rPr sz="1200" b="0" i="0">
                <a:solidFill>
                  <a:srgbClr val="1F3644"/>
                </a:solidFill>
                <a:latin typeface="Calibri"/>
              </a:rPr>
              <a:t>Every deviation sits above the published process capability and is recorded in the project file with its justification, rather than removed by relaxing the rule set globally.</a:t>
            </a:r>
          </a:p>
        </p:txBody>
      </p:sp>
      <p:pic>
        <p:nvPicPr>
          <p:cNvPr id="46" name="Picture 45" descr="pcb_3d_iso.png"/>
          <p:cNvPicPr>
            <a:picLocks noChangeAspect="1"/>
          </p:cNvPicPr>
          <p:nvPr/>
        </p:nvPicPr>
        <p:blipFill>
          <a:blip r:embed="rId2"/>
          <a:stretch>
            <a:fillRect/>
          </a:stretch>
        </p:blipFill>
        <p:spPr>
          <a:xfrm>
            <a:off x="7635240" y="1463040"/>
            <a:ext cx="3931920" cy="2194560"/>
          </a:xfrm>
          <a:prstGeom prst="rect">
            <a:avLst/>
          </a:prstGeom>
        </p:spPr>
      </p:pic>
      <p:pic>
        <p:nvPicPr>
          <p:cNvPr id="47" name="Picture 46" descr="pcb_3d_top.png"/>
          <p:cNvPicPr>
            <a:picLocks noChangeAspect="1"/>
          </p:cNvPicPr>
          <p:nvPr/>
        </p:nvPicPr>
        <p:blipFill>
          <a:blip r:embed="rId3"/>
          <a:stretch>
            <a:fillRect/>
          </a:stretch>
        </p:blipFill>
        <p:spPr>
          <a:xfrm>
            <a:off x="7635240" y="3840480"/>
            <a:ext cx="3931920" cy="2194560"/>
          </a:xfrm>
          <a:prstGeom prst="rect">
            <a:avLst/>
          </a:prstGeom>
        </p:spPr>
      </p:pic>
      <p:sp>
        <p:nvSpPr>
          <p:cNvPr id="48" name="TextBox 47"/>
          <p:cNvSpPr txBox="1"/>
          <p:nvPr/>
        </p:nvSpPr>
        <p:spPr>
          <a:xfrm>
            <a:off x="7498079" y="6089904"/>
            <a:ext cx="4206240" cy="274320"/>
          </a:xfrm>
          <a:prstGeom prst="rect">
            <a:avLst/>
          </a:prstGeom>
          <a:noFill/>
        </p:spPr>
        <p:txBody>
          <a:bodyPr wrap="square" lIns="0" rIns="0" tIns="0" bIns="0" anchor="t">
            <a:spAutoFit/>
          </a:bodyPr>
          <a:lstStyle/>
          <a:p>
            <a:pPr algn="ctr">
              <a:lnSpc>
                <a:spcPct val="105000"/>
              </a:lnSpc>
            </a:pPr>
            <a:r>
              <a:rPr sz="950" b="0" i="1">
                <a:solidFill>
                  <a:srgbClr val="5E7686"/>
                </a:solidFill>
                <a:latin typeface="Calibri"/>
              </a:rPr>
              <a:t>100.87 × 93.94 mm · 2 layers · 1 oz · ENIG · IPC class 2</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146304"/>
            <a:ext cx="11094415" cy="237744"/>
          </a:xfrm>
          <a:prstGeom prst="rect">
            <a:avLst/>
          </a:prstGeom>
          <a:noFill/>
        </p:spPr>
        <p:txBody>
          <a:bodyPr wrap="square" lIns="0" rIns="0" tIns="0" bIns="0" anchor="ctr">
            <a:spAutoFit/>
          </a:bodyPr>
          <a:lstStyle/>
          <a:p>
            <a:pPr algn="l"/>
            <a:r>
              <a:rPr sz="1000" b="1" i="0" spc="140">
                <a:solidFill>
                  <a:srgbClr val="1C7293"/>
                </a:solidFill>
                <a:latin typeface="Calibri"/>
              </a:rPr>
              <a:t>DESIGN FOR MANUFACTURABILITY</a:t>
            </a:r>
          </a:p>
        </p:txBody>
      </p:sp>
      <p:sp>
        <p:nvSpPr>
          <p:cNvPr id="3" name="TextBox 2"/>
          <p:cNvSpPr txBox="1"/>
          <p:nvPr/>
        </p:nvSpPr>
        <p:spPr>
          <a:xfrm>
            <a:off x="548640" y="384048"/>
            <a:ext cx="11094415" cy="676656"/>
          </a:xfrm>
          <a:prstGeom prst="rect">
            <a:avLst/>
          </a:prstGeom>
          <a:noFill/>
        </p:spPr>
        <p:txBody>
          <a:bodyPr wrap="square" lIns="0" rIns="0" tIns="0" bIns="0" anchor="ctr">
            <a:spAutoFit/>
          </a:bodyPr>
          <a:lstStyle/>
          <a:p>
            <a:pPr algn="l"/>
            <a:r>
              <a:rPr sz="3300" b="1" i="0">
                <a:solidFill>
                  <a:srgbClr val="0C2231"/>
                </a:solidFill>
                <a:latin typeface="Cambria"/>
              </a:rPr>
              <a:t>Power inductor selection</a:t>
            </a:r>
          </a:p>
        </p:txBody>
      </p:sp>
      <p:pic>
        <p:nvPicPr>
          <p:cNvPr id="4" name="Picture 3" descr="jlcpcb_pcba_L1L2_pads.png"/>
          <p:cNvPicPr>
            <a:picLocks noChangeAspect="1"/>
          </p:cNvPicPr>
          <p:nvPr/>
        </p:nvPicPr>
        <p:blipFill>
          <a:blip r:embed="rId2"/>
          <a:stretch>
            <a:fillRect/>
          </a:stretch>
        </p:blipFill>
        <p:spPr>
          <a:xfrm>
            <a:off x="548640" y="1371600"/>
            <a:ext cx="3931920" cy="3090672"/>
          </a:xfrm>
          <a:prstGeom prst="rect">
            <a:avLst/>
          </a:prstGeom>
        </p:spPr>
      </p:pic>
      <p:sp>
        <p:nvSpPr>
          <p:cNvPr id="5" name="TextBox 4"/>
          <p:cNvSpPr txBox="1"/>
          <p:nvPr/>
        </p:nvSpPr>
        <p:spPr>
          <a:xfrm>
            <a:off x="548640" y="4553712"/>
            <a:ext cx="3931920" cy="274320"/>
          </a:xfrm>
          <a:prstGeom prst="rect">
            <a:avLst/>
          </a:prstGeom>
          <a:noFill/>
        </p:spPr>
        <p:txBody>
          <a:bodyPr wrap="square" lIns="0" rIns="0" tIns="0" bIns="0" anchor="t">
            <a:spAutoFit/>
          </a:bodyPr>
          <a:lstStyle/>
          <a:p>
            <a:pPr algn="ctr">
              <a:lnSpc>
                <a:spcPct val="105000"/>
              </a:lnSpc>
            </a:pPr>
            <a:r>
              <a:rPr sz="950" b="0" i="1">
                <a:solidFill>
                  <a:srgbClr val="5E7686"/>
                </a:solidFill>
                <a:latin typeface="Calibri"/>
              </a:rPr>
              <a:t>Board pads in green against the candidate terminations in red</a:t>
            </a:r>
          </a:p>
        </p:txBody>
      </p:sp>
      <p:sp>
        <p:nvSpPr>
          <p:cNvPr id="6" name="TextBox 5"/>
          <p:cNvSpPr txBox="1"/>
          <p:nvPr/>
        </p:nvSpPr>
        <p:spPr>
          <a:xfrm>
            <a:off x="4892040" y="1325880"/>
            <a:ext cx="6720840" cy="566928"/>
          </a:xfrm>
          <a:prstGeom prst="rect">
            <a:avLst/>
          </a:prstGeom>
          <a:noFill/>
        </p:spPr>
        <p:txBody>
          <a:bodyPr wrap="square" lIns="0" rIns="0" tIns="0" bIns="0" anchor="t">
            <a:spAutoFit/>
          </a:bodyPr>
          <a:lstStyle/>
          <a:p>
            <a:pPr algn="l">
              <a:lnSpc>
                <a:spcPct val="115000"/>
              </a:lnSpc>
            </a:pPr>
            <a:r>
              <a:rPr sz="1300" b="0" i="0">
                <a:solidFill>
                  <a:srgbClr val="1F3644"/>
                </a:solidFill>
                <a:latin typeface="Calibri"/>
              </a:rPr>
              <a:t>The PCBA engineering review flagged that the pre-selected inductor terminations exceeded the drawn land pattern. Selection was redone against pad geometry as a first-order constraint.</a:t>
            </a:r>
          </a:p>
        </p:txBody>
      </p:sp>
      <p:sp>
        <p:nvSpPr>
          <p:cNvPr id="7" name="Rectangle 6"/>
          <p:cNvSpPr/>
          <p:nvPr/>
        </p:nvSpPr>
        <p:spPr>
          <a:xfrm>
            <a:off x="4892040" y="2011680"/>
            <a:ext cx="6720840" cy="310896"/>
          </a:xfrm>
          <a:prstGeom prst="rect">
            <a:avLst/>
          </a:prstGeom>
          <a:solidFill>
            <a:srgbClr val="0C22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965192" y="2011680"/>
            <a:ext cx="1010412" cy="310896"/>
          </a:xfrm>
          <a:prstGeom prst="rect">
            <a:avLst/>
          </a:prstGeom>
          <a:noFill/>
        </p:spPr>
        <p:txBody>
          <a:bodyPr wrap="square" lIns="0" rIns="0" tIns="0" bIns="0" anchor="ctr">
            <a:spAutoFit/>
          </a:bodyPr>
          <a:lstStyle/>
          <a:p>
            <a:pPr algn="l"/>
            <a:r>
              <a:rPr sz="1000" b="1" i="0">
                <a:solidFill>
                  <a:srgbClr val="FFFFFF"/>
                </a:solidFill>
                <a:latin typeface="Calibri"/>
              </a:rPr>
              <a:t>Designator</a:t>
            </a:r>
          </a:p>
        </p:txBody>
      </p:sp>
      <p:sp>
        <p:nvSpPr>
          <p:cNvPr id="9" name="TextBox 8"/>
          <p:cNvSpPr txBox="1"/>
          <p:nvPr/>
        </p:nvSpPr>
        <p:spPr>
          <a:xfrm>
            <a:off x="6085331" y="2011680"/>
            <a:ext cx="665753" cy="310896"/>
          </a:xfrm>
          <a:prstGeom prst="rect">
            <a:avLst/>
          </a:prstGeom>
          <a:noFill/>
        </p:spPr>
        <p:txBody>
          <a:bodyPr wrap="square" lIns="0" rIns="0" tIns="0" bIns="0" anchor="ctr">
            <a:spAutoFit/>
          </a:bodyPr>
          <a:lstStyle/>
          <a:p>
            <a:pPr algn="ctr"/>
            <a:r>
              <a:rPr sz="1000" b="1" i="0">
                <a:solidFill>
                  <a:srgbClr val="FFFFFF"/>
                </a:solidFill>
                <a:latin typeface="Calibri"/>
              </a:rPr>
              <a:t>Value</a:t>
            </a:r>
          </a:p>
        </p:txBody>
      </p:sp>
      <p:sp>
        <p:nvSpPr>
          <p:cNvPr id="10" name="TextBox 9"/>
          <p:cNvSpPr txBox="1"/>
          <p:nvPr/>
        </p:nvSpPr>
        <p:spPr>
          <a:xfrm>
            <a:off x="6860813" y="2011680"/>
            <a:ext cx="1613564" cy="310896"/>
          </a:xfrm>
          <a:prstGeom prst="rect">
            <a:avLst/>
          </a:prstGeom>
          <a:noFill/>
        </p:spPr>
        <p:txBody>
          <a:bodyPr wrap="square" lIns="0" rIns="0" tIns="0" bIns="0" anchor="ctr">
            <a:spAutoFit/>
          </a:bodyPr>
          <a:lstStyle/>
          <a:p>
            <a:pPr algn="ctr"/>
            <a:r>
              <a:rPr sz="1000" b="1" i="0">
                <a:solidFill>
                  <a:srgbClr val="FFFFFF"/>
                </a:solidFill>
                <a:latin typeface="Calibri"/>
              </a:rPr>
              <a:t>Part</a:t>
            </a:r>
          </a:p>
        </p:txBody>
      </p:sp>
      <p:sp>
        <p:nvSpPr>
          <p:cNvPr id="11" name="TextBox 10"/>
          <p:cNvSpPr txBox="1"/>
          <p:nvPr/>
        </p:nvSpPr>
        <p:spPr>
          <a:xfrm>
            <a:off x="8584105" y="2011680"/>
            <a:ext cx="924247" cy="310896"/>
          </a:xfrm>
          <a:prstGeom prst="rect">
            <a:avLst/>
          </a:prstGeom>
          <a:noFill/>
        </p:spPr>
        <p:txBody>
          <a:bodyPr wrap="square" lIns="0" rIns="0" tIns="0" bIns="0" anchor="ctr">
            <a:spAutoFit/>
          </a:bodyPr>
          <a:lstStyle/>
          <a:p>
            <a:pPr algn="ctr"/>
            <a:r>
              <a:rPr sz="1000" b="1" i="0">
                <a:solidFill>
                  <a:srgbClr val="FFFFFF"/>
                </a:solidFill>
                <a:latin typeface="Calibri"/>
              </a:rPr>
              <a:t>LCSC</a:t>
            </a:r>
          </a:p>
        </p:txBody>
      </p:sp>
      <p:sp>
        <p:nvSpPr>
          <p:cNvPr id="12" name="TextBox 11"/>
          <p:cNvSpPr txBox="1"/>
          <p:nvPr/>
        </p:nvSpPr>
        <p:spPr>
          <a:xfrm>
            <a:off x="9618081" y="2011680"/>
            <a:ext cx="665753" cy="310896"/>
          </a:xfrm>
          <a:prstGeom prst="rect">
            <a:avLst/>
          </a:prstGeom>
          <a:noFill/>
        </p:spPr>
        <p:txBody>
          <a:bodyPr wrap="square" lIns="0" rIns="0" tIns="0" bIns="0" anchor="ctr">
            <a:spAutoFit/>
          </a:bodyPr>
          <a:lstStyle/>
          <a:p>
            <a:pPr algn="ctr"/>
            <a:r>
              <a:rPr sz="1000" b="1" i="0">
                <a:solidFill>
                  <a:srgbClr val="FFFFFF"/>
                </a:solidFill>
                <a:latin typeface="Calibri"/>
              </a:rPr>
              <a:t>I_sat</a:t>
            </a:r>
          </a:p>
        </p:txBody>
      </p:sp>
      <p:sp>
        <p:nvSpPr>
          <p:cNvPr id="13" name="TextBox 12"/>
          <p:cNvSpPr txBox="1"/>
          <p:nvPr/>
        </p:nvSpPr>
        <p:spPr>
          <a:xfrm>
            <a:off x="10393562" y="2011680"/>
            <a:ext cx="1182741" cy="310896"/>
          </a:xfrm>
          <a:prstGeom prst="rect">
            <a:avLst/>
          </a:prstGeom>
          <a:noFill/>
        </p:spPr>
        <p:txBody>
          <a:bodyPr wrap="square" lIns="0" rIns="0" tIns="0" bIns="0" anchor="ctr">
            <a:spAutoFit/>
          </a:bodyPr>
          <a:lstStyle/>
          <a:p>
            <a:pPr algn="ctr"/>
            <a:r>
              <a:rPr sz="1000" b="1" i="0">
                <a:solidFill>
                  <a:srgbClr val="FFFFFF"/>
                </a:solidFill>
                <a:latin typeface="Calibri"/>
              </a:rPr>
              <a:t>Footprint</a:t>
            </a:r>
          </a:p>
        </p:txBody>
      </p:sp>
      <p:sp>
        <p:nvSpPr>
          <p:cNvPr id="14" name="Rectangle 13"/>
          <p:cNvSpPr/>
          <p:nvPr/>
        </p:nvSpPr>
        <p:spPr>
          <a:xfrm>
            <a:off x="4892040" y="2322576"/>
            <a:ext cx="6720840" cy="329184"/>
          </a:xfrm>
          <a:prstGeom prst="rect">
            <a:avLst/>
          </a:prstGeom>
          <a:solidFill>
            <a:srgbClr val="EDF2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965192" y="2322576"/>
            <a:ext cx="1010412" cy="329184"/>
          </a:xfrm>
          <a:prstGeom prst="rect">
            <a:avLst/>
          </a:prstGeom>
          <a:noFill/>
        </p:spPr>
        <p:txBody>
          <a:bodyPr wrap="square" lIns="0" rIns="0" tIns="0" bIns="0" anchor="ctr">
            <a:spAutoFit/>
          </a:bodyPr>
          <a:lstStyle/>
          <a:p>
            <a:pPr algn="l"/>
            <a:r>
              <a:rPr sz="1100" b="1" i="0">
                <a:solidFill>
                  <a:srgbClr val="0C2231"/>
                </a:solidFill>
                <a:latin typeface="Calibri"/>
              </a:rPr>
              <a:t>L1 — 5 V buck</a:t>
            </a:r>
          </a:p>
        </p:txBody>
      </p:sp>
      <p:sp>
        <p:nvSpPr>
          <p:cNvPr id="16" name="TextBox 15"/>
          <p:cNvSpPr txBox="1"/>
          <p:nvPr/>
        </p:nvSpPr>
        <p:spPr>
          <a:xfrm>
            <a:off x="6085331" y="2322576"/>
            <a:ext cx="665753" cy="329184"/>
          </a:xfrm>
          <a:prstGeom prst="rect">
            <a:avLst/>
          </a:prstGeom>
          <a:noFill/>
        </p:spPr>
        <p:txBody>
          <a:bodyPr wrap="square" lIns="0" rIns="0" tIns="0" bIns="0" anchor="ctr">
            <a:spAutoFit/>
          </a:bodyPr>
          <a:lstStyle/>
          <a:p>
            <a:pPr algn="ctr"/>
            <a:r>
              <a:rPr sz="1100" b="0" i="0">
                <a:solidFill>
                  <a:srgbClr val="1F3644"/>
                </a:solidFill>
                <a:latin typeface="Courier New"/>
              </a:rPr>
              <a:t>4.7 µH</a:t>
            </a:r>
          </a:p>
        </p:txBody>
      </p:sp>
      <p:sp>
        <p:nvSpPr>
          <p:cNvPr id="17" name="TextBox 16"/>
          <p:cNvSpPr txBox="1"/>
          <p:nvPr/>
        </p:nvSpPr>
        <p:spPr>
          <a:xfrm>
            <a:off x="6860813" y="2322576"/>
            <a:ext cx="1613564" cy="329184"/>
          </a:xfrm>
          <a:prstGeom prst="rect">
            <a:avLst/>
          </a:prstGeom>
          <a:noFill/>
        </p:spPr>
        <p:txBody>
          <a:bodyPr wrap="square" lIns="0" rIns="0" tIns="0" bIns="0" anchor="ctr">
            <a:spAutoFit/>
          </a:bodyPr>
          <a:lstStyle/>
          <a:p>
            <a:pPr algn="ctr"/>
            <a:r>
              <a:rPr sz="1100" b="0" i="0">
                <a:solidFill>
                  <a:srgbClr val="1F3644"/>
                </a:solidFill>
                <a:latin typeface="Courier New"/>
              </a:rPr>
              <a:t>Würth 74438356047</a:t>
            </a:r>
          </a:p>
        </p:txBody>
      </p:sp>
      <p:sp>
        <p:nvSpPr>
          <p:cNvPr id="18" name="TextBox 17"/>
          <p:cNvSpPr txBox="1"/>
          <p:nvPr/>
        </p:nvSpPr>
        <p:spPr>
          <a:xfrm>
            <a:off x="8584105" y="2322576"/>
            <a:ext cx="924247" cy="329184"/>
          </a:xfrm>
          <a:prstGeom prst="rect">
            <a:avLst/>
          </a:prstGeom>
          <a:noFill/>
        </p:spPr>
        <p:txBody>
          <a:bodyPr wrap="square" lIns="0" rIns="0" tIns="0" bIns="0" anchor="ctr">
            <a:spAutoFit/>
          </a:bodyPr>
          <a:lstStyle/>
          <a:p>
            <a:pPr algn="ctr"/>
            <a:r>
              <a:rPr sz="1100" b="0" i="0">
                <a:solidFill>
                  <a:srgbClr val="1F3644"/>
                </a:solidFill>
                <a:latin typeface="Courier New"/>
              </a:rPr>
              <a:t>C2045367</a:t>
            </a:r>
          </a:p>
        </p:txBody>
      </p:sp>
      <p:sp>
        <p:nvSpPr>
          <p:cNvPr id="19" name="TextBox 18"/>
          <p:cNvSpPr txBox="1"/>
          <p:nvPr/>
        </p:nvSpPr>
        <p:spPr>
          <a:xfrm>
            <a:off x="9618081" y="2322576"/>
            <a:ext cx="665753" cy="329184"/>
          </a:xfrm>
          <a:prstGeom prst="rect">
            <a:avLst/>
          </a:prstGeom>
          <a:noFill/>
        </p:spPr>
        <p:txBody>
          <a:bodyPr wrap="square" lIns="0" rIns="0" tIns="0" bIns="0" anchor="ctr">
            <a:spAutoFit/>
          </a:bodyPr>
          <a:lstStyle/>
          <a:p>
            <a:pPr algn="ctr"/>
            <a:r>
              <a:rPr sz="1100" b="0" i="0">
                <a:solidFill>
                  <a:srgbClr val="1F3644"/>
                </a:solidFill>
                <a:latin typeface="Courier New"/>
              </a:rPr>
              <a:t>2.5 A</a:t>
            </a:r>
          </a:p>
        </p:txBody>
      </p:sp>
      <p:sp>
        <p:nvSpPr>
          <p:cNvPr id="20" name="TextBox 19"/>
          <p:cNvSpPr txBox="1"/>
          <p:nvPr/>
        </p:nvSpPr>
        <p:spPr>
          <a:xfrm>
            <a:off x="10393562" y="2322576"/>
            <a:ext cx="1182741" cy="329184"/>
          </a:xfrm>
          <a:prstGeom prst="rect">
            <a:avLst/>
          </a:prstGeom>
          <a:noFill/>
        </p:spPr>
        <p:txBody>
          <a:bodyPr wrap="square" lIns="0" rIns="0" tIns="0" bIns="0" anchor="ctr">
            <a:spAutoFit/>
          </a:bodyPr>
          <a:lstStyle/>
          <a:p>
            <a:pPr algn="ctr"/>
            <a:r>
              <a:rPr sz="1100" b="0" i="0">
                <a:solidFill>
                  <a:srgbClr val="1F3644"/>
                </a:solidFill>
                <a:latin typeface="Courier New"/>
              </a:rPr>
              <a:t>WE-MAPI 4020</a:t>
            </a:r>
          </a:p>
        </p:txBody>
      </p:sp>
      <p:sp>
        <p:nvSpPr>
          <p:cNvPr id="21" name="Rectangle 20"/>
          <p:cNvSpPr/>
          <p:nvPr/>
        </p:nvSpPr>
        <p:spPr>
          <a:xfrm>
            <a:off x="4892040" y="2651760"/>
            <a:ext cx="6720840" cy="32918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965192" y="2651760"/>
            <a:ext cx="1010412" cy="329184"/>
          </a:xfrm>
          <a:prstGeom prst="rect">
            <a:avLst/>
          </a:prstGeom>
          <a:noFill/>
        </p:spPr>
        <p:txBody>
          <a:bodyPr wrap="square" lIns="0" rIns="0" tIns="0" bIns="0" anchor="ctr">
            <a:spAutoFit/>
          </a:bodyPr>
          <a:lstStyle/>
          <a:p>
            <a:pPr algn="l"/>
            <a:r>
              <a:rPr sz="1100" b="1" i="0">
                <a:solidFill>
                  <a:srgbClr val="0C2231"/>
                </a:solidFill>
                <a:latin typeface="Calibri"/>
              </a:rPr>
              <a:t>L2 — 3.3 V buck</a:t>
            </a:r>
          </a:p>
        </p:txBody>
      </p:sp>
      <p:sp>
        <p:nvSpPr>
          <p:cNvPr id="23" name="TextBox 22"/>
          <p:cNvSpPr txBox="1"/>
          <p:nvPr/>
        </p:nvSpPr>
        <p:spPr>
          <a:xfrm>
            <a:off x="6085331" y="2651760"/>
            <a:ext cx="665753" cy="329184"/>
          </a:xfrm>
          <a:prstGeom prst="rect">
            <a:avLst/>
          </a:prstGeom>
          <a:noFill/>
        </p:spPr>
        <p:txBody>
          <a:bodyPr wrap="square" lIns="0" rIns="0" tIns="0" bIns="0" anchor="ctr">
            <a:spAutoFit/>
          </a:bodyPr>
          <a:lstStyle/>
          <a:p>
            <a:pPr algn="ctr"/>
            <a:r>
              <a:rPr sz="1100" b="0" i="0">
                <a:solidFill>
                  <a:srgbClr val="1F3644"/>
                </a:solidFill>
                <a:latin typeface="Courier New"/>
              </a:rPr>
              <a:t>3.3 µH</a:t>
            </a:r>
          </a:p>
        </p:txBody>
      </p:sp>
      <p:sp>
        <p:nvSpPr>
          <p:cNvPr id="24" name="TextBox 23"/>
          <p:cNvSpPr txBox="1"/>
          <p:nvPr/>
        </p:nvSpPr>
        <p:spPr>
          <a:xfrm>
            <a:off x="6860813" y="2651760"/>
            <a:ext cx="1613564" cy="329184"/>
          </a:xfrm>
          <a:prstGeom prst="rect">
            <a:avLst/>
          </a:prstGeom>
          <a:noFill/>
        </p:spPr>
        <p:txBody>
          <a:bodyPr wrap="square" lIns="0" rIns="0" tIns="0" bIns="0" anchor="ctr">
            <a:spAutoFit/>
          </a:bodyPr>
          <a:lstStyle/>
          <a:p>
            <a:pPr algn="ctr"/>
            <a:r>
              <a:rPr sz="1100" b="0" i="0">
                <a:solidFill>
                  <a:srgbClr val="1F3644"/>
                </a:solidFill>
                <a:latin typeface="Courier New"/>
              </a:rPr>
              <a:t>Würth 74438356033</a:t>
            </a:r>
          </a:p>
        </p:txBody>
      </p:sp>
      <p:sp>
        <p:nvSpPr>
          <p:cNvPr id="25" name="TextBox 24"/>
          <p:cNvSpPr txBox="1"/>
          <p:nvPr/>
        </p:nvSpPr>
        <p:spPr>
          <a:xfrm>
            <a:off x="8584105" y="2651760"/>
            <a:ext cx="924247" cy="329184"/>
          </a:xfrm>
          <a:prstGeom prst="rect">
            <a:avLst/>
          </a:prstGeom>
          <a:noFill/>
        </p:spPr>
        <p:txBody>
          <a:bodyPr wrap="square" lIns="0" rIns="0" tIns="0" bIns="0" anchor="ctr">
            <a:spAutoFit/>
          </a:bodyPr>
          <a:lstStyle/>
          <a:p>
            <a:pPr algn="ctr"/>
            <a:r>
              <a:rPr sz="1100" b="0" i="0">
                <a:solidFill>
                  <a:srgbClr val="1F3644"/>
                </a:solidFill>
                <a:latin typeface="Courier New"/>
              </a:rPr>
              <a:t>C2045382</a:t>
            </a:r>
          </a:p>
        </p:txBody>
      </p:sp>
      <p:sp>
        <p:nvSpPr>
          <p:cNvPr id="26" name="TextBox 25"/>
          <p:cNvSpPr txBox="1"/>
          <p:nvPr/>
        </p:nvSpPr>
        <p:spPr>
          <a:xfrm>
            <a:off x="9618081" y="2651760"/>
            <a:ext cx="665753" cy="329184"/>
          </a:xfrm>
          <a:prstGeom prst="rect">
            <a:avLst/>
          </a:prstGeom>
          <a:noFill/>
        </p:spPr>
        <p:txBody>
          <a:bodyPr wrap="square" lIns="0" rIns="0" tIns="0" bIns="0" anchor="ctr">
            <a:spAutoFit/>
          </a:bodyPr>
          <a:lstStyle/>
          <a:p>
            <a:pPr algn="ctr"/>
            <a:r>
              <a:rPr sz="1100" b="0" i="0">
                <a:solidFill>
                  <a:srgbClr val="1F3644"/>
                </a:solidFill>
                <a:latin typeface="Courier New"/>
              </a:rPr>
              <a:t>3.0 A</a:t>
            </a:r>
          </a:p>
        </p:txBody>
      </p:sp>
      <p:sp>
        <p:nvSpPr>
          <p:cNvPr id="27" name="TextBox 26"/>
          <p:cNvSpPr txBox="1"/>
          <p:nvPr/>
        </p:nvSpPr>
        <p:spPr>
          <a:xfrm>
            <a:off x="10393562" y="2651760"/>
            <a:ext cx="1182741" cy="329184"/>
          </a:xfrm>
          <a:prstGeom prst="rect">
            <a:avLst/>
          </a:prstGeom>
          <a:noFill/>
        </p:spPr>
        <p:txBody>
          <a:bodyPr wrap="square" lIns="0" rIns="0" tIns="0" bIns="0" anchor="ctr">
            <a:spAutoFit/>
          </a:bodyPr>
          <a:lstStyle/>
          <a:p>
            <a:pPr algn="ctr"/>
            <a:r>
              <a:rPr sz="1100" b="0" i="0">
                <a:solidFill>
                  <a:srgbClr val="1F3644"/>
                </a:solidFill>
                <a:latin typeface="Courier New"/>
              </a:rPr>
              <a:t>WE-MAPI 4020</a:t>
            </a:r>
          </a:p>
        </p:txBody>
      </p:sp>
      <p:sp>
        <p:nvSpPr>
          <p:cNvPr id="28" name="TextBox 27"/>
          <p:cNvSpPr txBox="1"/>
          <p:nvPr/>
        </p:nvSpPr>
        <p:spPr>
          <a:xfrm>
            <a:off x="4892040" y="3182112"/>
            <a:ext cx="6720840" cy="786384"/>
          </a:xfrm>
          <a:prstGeom prst="rect">
            <a:avLst/>
          </a:prstGeom>
          <a:noFill/>
        </p:spPr>
        <p:txBody>
          <a:bodyPr wrap="square" lIns="0" rIns="0" tIns="0" bIns="0" anchor="t">
            <a:spAutoFit/>
          </a:bodyPr>
          <a:lstStyle/>
          <a:p>
            <a:pPr algn="l">
              <a:lnSpc>
                <a:spcPct val="115000"/>
              </a:lnSpc>
            </a:pPr>
            <a:r>
              <a:rPr sz="1200" b="0" i="0">
                <a:solidFill>
                  <a:srgbClr val="1F3644"/>
                </a:solidFill>
                <a:latin typeface="Calibri"/>
              </a:rPr>
              <a:t>L2 moves from the schematic value of 3.9 µH to 3.3 µH. Ripple rises from 0.26 A to 0.31 A, about 18 %, and the peak stays at 72 % of saturation — the substitution costs nothing in margin.</a:t>
            </a:r>
          </a:p>
        </p:txBody>
      </p:sp>
      <p:sp>
        <p:nvSpPr>
          <p:cNvPr id="29" name="Rounded Rectangle 28"/>
          <p:cNvSpPr/>
          <p:nvPr/>
        </p:nvSpPr>
        <p:spPr>
          <a:xfrm>
            <a:off x="4892040" y="3986783"/>
            <a:ext cx="6720840" cy="868680"/>
          </a:xfrm>
          <a:prstGeom prst="roundRect">
            <a:avLst>
              <a:gd name="adj" fmla="val 4736"/>
            </a:avLst>
          </a:prstGeom>
          <a:solidFill>
            <a:srgbClr val="0C2231"/>
          </a:solidFill>
          <a:ln>
            <a:noFill/>
          </a:ln>
          <a:effectLst>
            <a:outerShdw blurRad="88900" dist="12700" dir="5400000" rotWithShape="0">
              <a:srgbClr val="9FB3C0">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166360" y="4096511"/>
            <a:ext cx="6172200" cy="685800"/>
          </a:xfrm>
          <a:prstGeom prst="rect">
            <a:avLst/>
          </a:prstGeom>
          <a:noFill/>
        </p:spPr>
        <p:txBody>
          <a:bodyPr wrap="square" lIns="0" rIns="0" tIns="0" bIns="0" anchor="ctr">
            <a:spAutoFit/>
          </a:bodyPr>
          <a:lstStyle/>
          <a:p>
            <a:pPr algn="l">
              <a:lnSpc>
                <a:spcPct val="115000"/>
              </a:lnSpc>
            </a:pPr>
            <a:r>
              <a:rPr sz="1300" b="1" i="0">
                <a:solidFill>
                  <a:srgbClr val="E0A33E"/>
                </a:solidFill>
                <a:latin typeface="Calibri"/>
              </a:rPr>
              <a:t>Identical 4 × 4 mm package outlines carried incompatible pad geometry. Selection is constrained by the land pattern before it is constrained by the value.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C2231"/>
        </a:solidFill>
        <a:effectLst/>
      </p:bgPr>
    </p:bg>
    <p:spTree>
      <p:nvGrpSpPr>
        <p:cNvPr id="1" name=""/>
        <p:cNvGrpSpPr/>
        <p:nvPr/>
      </p:nvGrpSpPr>
      <p:grpSpPr/>
      <p:sp>
        <p:nvSpPr>
          <p:cNvPr id="2" name="TextBox 1"/>
          <p:cNvSpPr txBox="1"/>
          <p:nvPr/>
        </p:nvSpPr>
        <p:spPr>
          <a:xfrm>
            <a:off x="548640" y="146304"/>
            <a:ext cx="11094415" cy="237744"/>
          </a:xfrm>
          <a:prstGeom prst="rect">
            <a:avLst/>
          </a:prstGeom>
          <a:noFill/>
        </p:spPr>
        <p:txBody>
          <a:bodyPr wrap="square" lIns="0" rIns="0" tIns="0" bIns="0" anchor="ctr">
            <a:spAutoFit/>
          </a:bodyPr>
          <a:lstStyle/>
          <a:p>
            <a:pPr algn="l"/>
            <a:r>
              <a:rPr sz="1000" b="1" i="0" spc="140">
                <a:solidFill>
                  <a:srgbClr val="E0A33E"/>
                </a:solidFill>
                <a:latin typeface="Calibri"/>
              </a:rPr>
              <a:t>METHOD</a:t>
            </a:r>
          </a:p>
        </p:txBody>
      </p:sp>
      <p:sp>
        <p:nvSpPr>
          <p:cNvPr id="3" name="TextBox 2"/>
          <p:cNvSpPr txBox="1"/>
          <p:nvPr/>
        </p:nvSpPr>
        <p:spPr>
          <a:xfrm>
            <a:off x="548640" y="1188720"/>
            <a:ext cx="11064240" cy="914400"/>
          </a:xfrm>
          <a:prstGeom prst="rect">
            <a:avLst/>
          </a:prstGeom>
          <a:noFill/>
        </p:spPr>
        <p:txBody>
          <a:bodyPr wrap="square" lIns="0" rIns="0" tIns="0" bIns="0" anchor="ctr">
            <a:spAutoFit/>
          </a:bodyPr>
          <a:lstStyle/>
          <a:p>
            <a:pPr algn="l"/>
            <a:r>
              <a:rPr sz="3400" b="1" i="0">
                <a:solidFill>
                  <a:srgbClr val="FFFFFF"/>
                </a:solidFill>
                <a:latin typeface="Cambria"/>
              </a:rPr>
              <a:t>Validating the fleet layer before the hardware arrives</a:t>
            </a:r>
          </a:p>
        </p:txBody>
      </p:sp>
      <p:sp>
        <p:nvSpPr>
          <p:cNvPr id="4" name="TextBox 3"/>
          <p:cNvSpPr txBox="1"/>
          <p:nvPr/>
        </p:nvSpPr>
        <p:spPr>
          <a:xfrm>
            <a:off x="548640" y="2148840"/>
            <a:ext cx="10424160" cy="731520"/>
          </a:xfrm>
          <a:prstGeom prst="rect">
            <a:avLst/>
          </a:prstGeom>
          <a:noFill/>
        </p:spPr>
        <p:txBody>
          <a:bodyPr wrap="square" lIns="0" rIns="0" tIns="0" bIns="0" anchor="t">
            <a:spAutoFit/>
          </a:bodyPr>
          <a:lstStyle/>
          <a:p>
            <a:pPr algn="l">
              <a:lnSpc>
                <a:spcPct val="125000"/>
              </a:lnSpc>
            </a:pPr>
            <a:r>
              <a:rPr sz="1500" b="0" i="0">
                <a:solidFill>
                  <a:srgbClr val="AFC4D2"/>
                </a:solidFill>
                <a:latin typeface="Calibri"/>
              </a:rPr>
              <a:t>Board fabrication and assembly run on their own lead time. The fleet behaviour, the protocol and its security properties do not depend on that board, so they were specified, implemented and exercised in parallel.</a:t>
            </a:r>
          </a:p>
        </p:txBody>
      </p:sp>
      <p:sp>
        <p:nvSpPr>
          <p:cNvPr id="5" name="Rounded Rectangle 4"/>
          <p:cNvSpPr/>
          <p:nvPr/>
        </p:nvSpPr>
        <p:spPr>
          <a:xfrm>
            <a:off x="548640" y="3246120"/>
            <a:ext cx="3291840" cy="1874519"/>
          </a:xfrm>
          <a:prstGeom prst="roundRect">
            <a:avLst>
              <a:gd name="adj" fmla="val 2195"/>
            </a:avLst>
          </a:prstGeom>
          <a:solidFill>
            <a:srgbClr val="16323F"/>
          </a:solidFill>
          <a:ln>
            <a:noFill/>
          </a:ln>
          <a:effectLst>
            <a:outerShdw blurRad="88900" dist="12700" dir="5400000" rotWithShape="0">
              <a:srgbClr val="9FB3C0">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801368" y="3474720"/>
            <a:ext cx="786384" cy="786384"/>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monitor.png"/>
          <p:cNvPicPr>
            <a:picLocks noChangeAspect="1"/>
          </p:cNvPicPr>
          <p:nvPr/>
        </p:nvPicPr>
        <p:blipFill>
          <a:blip r:embed="rId2"/>
          <a:stretch>
            <a:fillRect/>
          </a:stretch>
        </p:blipFill>
        <p:spPr>
          <a:xfrm>
            <a:off x="1903597" y="3576949"/>
            <a:ext cx="581924" cy="581924"/>
          </a:xfrm>
          <a:prstGeom prst="rect">
            <a:avLst/>
          </a:prstGeom>
        </p:spPr>
      </p:pic>
      <p:sp>
        <p:nvSpPr>
          <p:cNvPr id="8" name="TextBox 7"/>
          <p:cNvSpPr txBox="1"/>
          <p:nvPr/>
        </p:nvSpPr>
        <p:spPr>
          <a:xfrm>
            <a:off x="548640" y="4389120"/>
            <a:ext cx="3291840" cy="329184"/>
          </a:xfrm>
          <a:prstGeom prst="rect">
            <a:avLst/>
          </a:prstGeom>
          <a:noFill/>
        </p:spPr>
        <p:txBody>
          <a:bodyPr wrap="square" lIns="0" rIns="0" tIns="0" bIns="0" anchor="t">
            <a:spAutoFit/>
          </a:bodyPr>
          <a:lstStyle/>
          <a:p>
            <a:pPr algn="ctr"/>
            <a:r>
              <a:rPr sz="1900" b="1" i="0">
                <a:solidFill>
                  <a:srgbClr val="FFFFFF"/>
                </a:solidFill>
                <a:latin typeface="Cambria"/>
              </a:rPr>
              <a:t>Simulator</a:t>
            </a:r>
          </a:p>
        </p:txBody>
      </p:sp>
      <p:sp>
        <p:nvSpPr>
          <p:cNvPr id="9" name="TextBox 8"/>
          <p:cNvSpPr txBox="1"/>
          <p:nvPr/>
        </p:nvSpPr>
        <p:spPr>
          <a:xfrm>
            <a:off x="548640" y="4754880"/>
            <a:ext cx="3291840" cy="329184"/>
          </a:xfrm>
          <a:prstGeom prst="rect">
            <a:avLst/>
          </a:prstGeom>
          <a:noFill/>
        </p:spPr>
        <p:txBody>
          <a:bodyPr wrap="square" lIns="0" rIns="0" tIns="0" bIns="0" anchor="t">
            <a:spAutoFit/>
          </a:bodyPr>
          <a:lstStyle/>
          <a:p>
            <a:pPr algn="ctr">
              <a:lnSpc>
                <a:spcPct val="106000"/>
              </a:lnSpc>
            </a:pPr>
            <a:r>
              <a:rPr sz="1200" b="0" i="0">
                <a:solidFill>
                  <a:srgbClr val="AFC4D2"/>
                </a:solidFill>
                <a:latin typeface="Calibri"/>
              </a:rPr>
              <a:t>Fleet logic, rendezvous, faults</a:t>
            </a:r>
          </a:p>
        </p:txBody>
      </p:sp>
      <p:sp>
        <p:nvSpPr>
          <p:cNvPr id="10" name="TextBox 9"/>
          <p:cNvSpPr txBox="1"/>
          <p:nvPr/>
        </p:nvSpPr>
        <p:spPr>
          <a:xfrm>
            <a:off x="3895344" y="3246120"/>
            <a:ext cx="484632" cy="1874519"/>
          </a:xfrm>
          <a:prstGeom prst="rect">
            <a:avLst/>
          </a:prstGeom>
          <a:noFill/>
        </p:spPr>
        <p:txBody>
          <a:bodyPr wrap="square" lIns="0" rIns="0" tIns="0" bIns="0" anchor="ctr">
            <a:spAutoFit/>
          </a:bodyPr>
          <a:lstStyle/>
          <a:p>
            <a:pPr algn="ctr"/>
            <a:r>
              <a:rPr sz="2800" b="1" i="0">
                <a:solidFill>
                  <a:srgbClr val="E0A33E"/>
                </a:solidFill>
                <a:latin typeface="Calibri"/>
              </a:rPr>
              <a:t>→</a:t>
            </a:r>
          </a:p>
        </p:txBody>
      </p:sp>
      <p:sp>
        <p:nvSpPr>
          <p:cNvPr id="11" name="Rounded Rectangle 10"/>
          <p:cNvSpPr/>
          <p:nvPr/>
        </p:nvSpPr>
        <p:spPr>
          <a:xfrm>
            <a:off x="4434840" y="3246120"/>
            <a:ext cx="3291840" cy="1874519"/>
          </a:xfrm>
          <a:prstGeom prst="roundRect">
            <a:avLst>
              <a:gd name="adj" fmla="val 2195"/>
            </a:avLst>
          </a:prstGeom>
          <a:solidFill>
            <a:srgbClr val="16323F"/>
          </a:solidFill>
          <a:ln>
            <a:noFill/>
          </a:ln>
          <a:effectLst>
            <a:outerShdw blurRad="88900" dist="12700" dir="5400000" rotWithShape="0">
              <a:srgbClr val="9FB3C0">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5687568" y="3474720"/>
            <a:ext cx="786384" cy="786384"/>
          </a:xfrm>
          <a:prstGeom prst="ellipse">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packet.png"/>
          <p:cNvPicPr>
            <a:picLocks noChangeAspect="1"/>
          </p:cNvPicPr>
          <p:nvPr/>
        </p:nvPicPr>
        <p:blipFill>
          <a:blip r:embed="rId3"/>
          <a:stretch>
            <a:fillRect/>
          </a:stretch>
        </p:blipFill>
        <p:spPr>
          <a:xfrm>
            <a:off x="5789797" y="3576949"/>
            <a:ext cx="581924" cy="581924"/>
          </a:xfrm>
          <a:prstGeom prst="rect">
            <a:avLst/>
          </a:prstGeom>
        </p:spPr>
      </p:pic>
      <p:sp>
        <p:nvSpPr>
          <p:cNvPr id="14" name="TextBox 13"/>
          <p:cNvSpPr txBox="1"/>
          <p:nvPr/>
        </p:nvSpPr>
        <p:spPr>
          <a:xfrm>
            <a:off x="4434840" y="4389120"/>
            <a:ext cx="3291840" cy="329184"/>
          </a:xfrm>
          <a:prstGeom prst="rect">
            <a:avLst/>
          </a:prstGeom>
          <a:noFill/>
        </p:spPr>
        <p:txBody>
          <a:bodyPr wrap="square" lIns="0" rIns="0" tIns="0" bIns="0" anchor="t">
            <a:spAutoFit/>
          </a:bodyPr>
          <a:lstStyle/>
          <a:p>
            <a:pPr algn="ctr"/>
            <a:r>
              <a:rPr sz="1900" b="1" i="0">
                <a:solidFill>
                  <a:srgbClr val="FFFFFF"/>
                </a:solidFill>
                <a:latin typeface="Cambria"/>
              </a:rPr>
              <a:t>Protocol</a:t>
            </a:r>
          </a:p>
        </p:txBody>
      </p:sp>
      <p:sp>
        <p:nvSpPr>
          <p:cNvPr id="15" name="TextBox 14"/>
          <p:cNvSpPr txBox="1"/>
          <p:nvPr/>
        </p:nvSpPr>
        <p:spPr>
          <a:xfrm>
            <a:off x="4434840" y="4754880"/>
            <a:ext cx="3291840" cy="329184"/>
          </a:xfrm>
          <a:prstGeom prst="rect">
            <a:avLst/>
          </a:prstGeom>
          <a:noFill/>
        </p:spPr>
        <p:txBody>
          <a:bodyPr wrap="square" lIns="0" rIns="0" tIns="0" bIns="0" anchor="t">
            <a:spAutoFit/>
          </a:bodyPr>
          <a:lstStyle/>
          <a:p>
            <a:pPr algn="ctr">
              <a:lnSpc>
                <a:spcPct val="106000"/>
              </a:lnSpc>
            </a:pPr>
            <a:r>
              <a:rPr sz="1200" b="0" i="0">
                <a:solidFill>
                  <a:srgbClr val="AFC4D2"/>
                </a:solidFill>
                <a:latin typeface="Calibri"/>
              </a:rPr>
              <a:t>32-byte frame, AEAD, anti-replay</a:t>
            </a:r>
          </a:p>
        </p:txBody>
      </p:sp>
      <p:sp>
        <p:nvSpPr>
          <p:cNvPr id="16" name="TextBox 15"/>
          <p:cNvSpPr txBox="1"/>
          <p:nvPr/>
        </p:nvSpPr>
        <p:spPr>
          <a:xfrm>
            <a:off x="7781544" y="3246120"/>
            <a:ext cx="484632" cy="1874519"/>
          </a:xfrm>
          <a:prstGeom prst="rect">
            <a:avLst/>
          </a:prstGeom>
          <a:noFill/>
        </p:spPr>
        <p:txBody>
          <a:bodyPr wrap="square" lIns="0" rIns="0" tIns="0" bIns="0" anchor="ctr">
            <a:spAutoFit/>
          </a:bodyPr>
          <a:lstStyle/>
          <a:p>
            <a:pPr algn="ctr"/>
            <a:r>
              <a:rPr sz="2800" b="1" i="0">
                <a:solidFill>
                  <a:srgbClr val="E0A33E"/>
                </a:solidFill>
                <a:latin typeface="Calibri"/>
              </a:rPr>
              <a:t>→</a:t>
            </a:r>
          </a:p>
        </p:txBody>
      </p:sp>
      <p:sp>
        <p:nvSpPr>
          <p:cNvPr id="17" name="Rounded Rectangle 16"/>
          <p:cNvSpPr/>
          <p:nvPr/>
        </p:nvSpPr>
        <p:spPr>
          <a:xfrm>
            <a:off x="8321040" y="3246120"/>
            <a:ext cx="3291840" cy="1874519"/>
          </a:xfrm>
          <a:prstGeom prst="roundRect">
            <a:avLst>
              <a:gd name="adj" fmla="val 2195"/>
            </a:avLst>
          </a:prstGeom>
          <a:solidFill>
            <a:srgbClr val="16323F"/>
          </a:solidFill>
          <a:ln>
            <a:noFill/>
          </a:ln>
          <a:effectLst>
            <a:outerShdw blurRad="88900" dist="12700" dir="5400000" rotWithShape="0">
              <a:srgbClr val="9FB3C0">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9573767" y="3474720"/>
            <a:ext cx="786384" cy="786384"/>
          </a:xfrm>
          <a:prstGeom prst="ellipse">
            <a:avLst/>
          </a:prstGeom>
          <a:solidFill>
            <a:srgbClr val="2E7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two_chips.png"/>
          <p:cNvPicPr>
            <a:picLocks noChangeAspect="1"/>
          </p:cNvPicPr>
          <p:nvPr/>
        </p:nvPicPr>
        <p:blipFill>
          <a:blip r:embed="rId4"/>
          <a:stretch>
            <a:fillRect/>
          </a:stretch>
        </p:blipFill>
        <p:spPr>
          <a:xfrm>
            <a:off x="9675997" y="3576949"/>
            <a:ext cx="581924" cy="581924"/>
          </a:xfrm>
          <a:prstGeom prst="rect">
            <a:avLst/>
          </a:prstGeom>
        </p:spPr>
      </p:pic>
      <p:sp>
        <p:nvSpPr>
          <p:cNvPr id="20" name="TextBox 19"/>
          <p:cNvSpPr txBox="1"/>
          <p:nvPr/>
        </p:nvSpPr>
        <p:spPr>
          <a:xfrm>
            <a:off x="8321040" y="4389120"/>
            <a:ext cx="3291840" cy="329184"/>
          </a:xfrm>
          <a:prstGeom prst="rect">
            <a:avLst/>
          </a:prstGeom>
          <a:noFill/>
        </p:spPr>
        <p:txBody>
          <a:bodyPr wrap="square" lIns="0" rIns="0" tIns="0" bIns="0" anchor="t">
            <a:spAutoFit/>
          </a:bodyPr>
          <a:lstStyle/>
          <a:p>
            <a:pPr algn="ctr"/>
            <a:r>
              <a:rPr sz="1900" b="1" i="0">
                <a:solidFill>
                  <a:srgbClr val="FFFFFF"/>
                </a:solidFill>
                <a:latin typeface="Cambria"/>
              </a:rPr>
              <a:t>HIL bench</a:t>
            </a:r>
          </a:p>
        </p:txBody>
      </p:sp>
      <p:sp>
        <p:nvSpPr>
          <p:cNvPr id="21" name="TextBox 20"/>
          <p:cNvSpPr txBox="1"/>
          <p:nvPr/>
        </p:nvSpPr>
        <p:spPr>
          <a:xfrm>
            <a:off x="8321040" y="4754880"/>
            <a:ext cx="3291840" cy="329184"/>
          </a:xfrm>
          <a:prstGeom prst="rect">
            <a:avLst/>
          </a:prstGeom>
          <a:noFill/>
        </p:spPr>
        <p:txBody>
          <a:bodyPr wrap="square" lIns="0" rIns="0" tIns="0" bIns="0" anchor="t">
            <a:spAutoFit/>
          </a:bodyPr>
          <a:lstStyle/>
          <a:p>
            <a:pPr algn="ctr">
              <a:lnSpc>
                <a:spcPct val="106000"/>
              </a:lnSpc>
            </a:pPr>
            <a:r>
              <a:rPr sz="1200" b="0" i="0">
                <a:solidFill>
                  <a:srgbClr val="AFC4D2"/>
                </a:solidFill>
                <a:latin typeface="Calibri"/>
              </a:rPr>
              <a:t>Same C source, two processors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146304"/>
            <a:ext cx="11094415" cy="237744"/>
          </a:xfrm>
          <a:prstGeom prst="rect">
            <a:avLst/>
          </a:prstGeom>
          <a:noFill/>
        </p:spPr>
        <p:txBody>
          <a:bodyPr wrap="square" lIns="0" rIns="0" tIns="0" bIns="0" anchor="ctr">
            <a:spAutoFit/>
          </a:bodyPr>
          <a:lstStyle/>
          <a:p>
            <a:pPr algn="l"/>
            <a:r>
              <a:rPr sz="1000" b="1" i="0" spc="140">
                <a:solidFill>
                  <a:srgbClr val="1C7293"/>
                </a:solidFill>
                <a:latin typeface="Calibri"/>
              </a:rPr>
              <a:t>SIMULATION</a:t>
            </a:r>
          </a:p>
        </p:txBody>
      </p:sp>
      <p:sp>
        <p:nvSpPr>
          <p:cNvPr id="3" name="TextBox 2"/>
          <p:cNvSpPr txBox="1"/>
          <p:nvPr/>
        </p:nvSpPr>
        <p:spPr>
          <a:xfrm>
            <a:off x="548640" y="384048"/>
            <a:ext cx="11094415" cy="676656"/>
          </a:xfrm>
          <a:prstGeom prst="rect">
            <a:avLst/>
          </a:prstGeom>
          <a:noFill/>
        </p:spPr>
        <p:txBody>
          <a:bodyPr wrap="square" lIns="0" rIns="0" tIns="0" bIns="0" anchor="ctr">
            <a:spAutoFit/>
          </a:bodyPr>
          <a:lstStyle/>
          <a:p>
            <a:pPr algn="l"/>
            <a:r>
              <a:rPr sz="3300" b="1" i="0">
                <a:solidFill>
                  <a:srgbClr val="0C2231"/>
                </a:solidFill>
                <a:latin typeface="Cambria"/>
              </a:rPr>
              <a:t>Deterministic mission model</a:t>
            </a:r>
          </a:p>
        </p:txBody>
      </p:sp>
      <p:pic>
        <p:nvPicPr>
          <p:cNvPr id="4" name="Picture 3" descr="mission_after_first_sync.png"/>
          <p:cNvPicPr>
            <a:picLocks noChangeAspect="1"/>
          </p:cNvPicPr>
          <p:nvPr/>
        </p:nvPicPr>
        <p:blipFill>
          <a:blip r:embed="rId2"/>
          <a:stretch>
            <a:fillRect/>
          </a:stretch>
        </p:blipFill>
        <p:spPr>
          <a:xfrm>
            <a:off x="548640" y="1325880"/>
            <a:ext cx="6400800" cy="4197096"/>
          </a:xfrm>
          <a:prstGeom prst="rect">
            <a:avLst/>
          </a:prstGeom>
        </p:spPr>
      </p:pic>
      <p:sp>
        <p:nvSpPr>
          <p:cNvPr id="5" name="TextBox 4"/>
          <p:cNvSpPr txBox="1"/>
          <p:nvPr/>
        </p:nvSpPr>
        <p:spPr>
          <a:xfrm>
            <a:off x="548640" y="5596128"/>
            <a:ext cx="6400800" cy="274320"/>
          </a:xfrm>
          <a:prstGeom prst="rect">
            <a:avLst/>
          </a:prstGeom>
          <a:noFill/>
        </p:spPr>
        <p:txBody>
          <a:bodyPr wrap="square" lIns="0" rIns="0" tIns="0" bIns="0" anchor="t">
            <a:spAutoFit/>
          </a:bodyPr>
          <a:lstStyle/>
          <a:p>
            <a:pPr algn="ctr">
              <a:lnSpc>
                <a:spcPct val="105000"/>
              </a:lnSpc>
            </a:pPr>
            <a:r>
              <a:rPr sz="950" b="0" i="1">
                <a:solidFill>
                  <a:srgbClr val="5E7686"/>
                </a:solidFill>
                <a:latin typeface="Calibri"/>
              </a:rPr>
              <a:t>Mission view after the first rendezvous</a:t>
            </a:r>
          </a:p>
        </p:txBody>
      </p:sp>
      <p:sp>
        <p:nvSpPr>
          <p:cNvPr id="6" name="Rectangle 5"/>
          <p:cNvSpPr/>
          <p:nvPr/>
        </p:nvSpPr>
        <p:spPr>
          <a:xfrm>
            <a:off x="7086600" y="1325880"/>
            <a:ext cx="4526280" cy="310896"/>
          </a:xfrm>
          <a:prstGeom prst="rect">
            <a:avLst/>
          </a:prstGeom>
          <a:solidFill>
            <a:srgbClr val="0C22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159752" y="1325880"/>
            <a:ext cx="2581573" cy="310896"/>
          </a:xfrm>
          <a:prstGeom prst="rect">
            <a:avLst/>
          </a:prstGeom>
          <a:noFill/>
        </p:spPr>
        <p:txBody>
          <a:bodyPr wrap="square" lIns="0" rIns="0" tIns="0" bIns="0" anchor="ctr">
            <a:spAutoFit/>
          </a:bodyPr>
          <a:lstStyle/>
          <a:p>
            <a:pPr algn="l"/>
            <a:r>
              <a:rPr sz="1000" b="1" i="0">
                <a:solidFill>
                  <a:srgbClr val="FFFFFF"/>
                </a:solidFill>
                <a:latin typeface="Calibri"/>
              </a:rPr>
              <a:t>Parameter</a:t>
            </a:r>
          </a:p>
        </p:txBody>
      </p:sp>
      <p:sp>
        <p:nvSpPr>
          <p:cNvPr id="8" name="TextBox 7"/>
          <p:cNvSpPr txBox="1"/>
          <p:nvPr/>
        </p:nvSpPr>
        <p:spPr>
          <a:xfrm>
            <a:off x="9851053" y="1325880"/>
            <a:ext cx="1725250" cy="310896"/>
          </a:xfrm>
          <a:prstGeom prst="rect">
            <a:avLst/>
          </a:prstGeom>
          <a:noFill/>
        </p:spPr>
        <p:txBody>
          <a:bodyPr wrap="square" lIns="0" rIns="0" tIns="0" bIns="0" anchor="ctr">
            <a:spAutoFit/>
          </a:bodyPr>
          <a:lstStyle/>
          <a:p>
            <a:pPr algn="ctr"/>
            <a:r>
              <a:rPr sz="1000" b="1" i="0">
                <a:solidFill>
                  <a:srgbClr val="FFFFFF"/>
                </a:solidFill>
                <a:latin typeface="Calibri"/>
              </a:rPr>
              <a:t>Value</a:t>
            </a:r>
          </a:p>
        </p:txBody>
      </p:sp>
      <p:sp>
        <p:nvSpPr>
          <p:cNvPr id="9" name="Rectangle 8"/>
          <p:cNvSpPr/>
          <p:nvPr/>
        </p:nvSpPr>
        <p:spPr>
          <a:xfrm>
            <a:off x="7086600" y="1636776"/>
            <a:ext cx="4526280" cy="292608"/>
          </a:xfrm>
          <a:prstGeom prst="rect">
            <a:avLst/>
          </a:prstGeom>
          <a:solidFill>
            <a:srgbClr val="EDF2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159752" y="1636776"/>
            <a:ext cx="2581573" cy="292608"/>
          </a:xfrm>
          <a:prstGeom prst="rect">
            <a:avLst/>
          </a:prstGeom>
          <a:noFill/>
        </p:spPr>
        <p:txBody>
          <a:bodyPr wrap="square" lIns="0" rIns="0" tIns="0" bIns="0" anchor="ctr">
            <a:spAutoFit/>
          </a:bodyPr>
          <a:lstStyle/>
          <a:p>
            <a:pPr algn="l"/>
            <a:r>
              <a:rPr sz="1100" b="1" i="0">
                <a:solidFill>
                  <a:srgbClr val="0C2231"/>
                </a:solidFill>
                <a:latin typeface="Calibri"/>
              </a:rPr>
              <a:t>Vehicles</a:t>
            </a:r>
          </a:p>
        </p:txBody>
      </p:sp>
      <p:sp>
        <p:nvSpPr>
          <p:cNvPr id="11" name="TextBox 10"/>
          <p:cNvSpPr txBox="1"/>
          <p:nvPr/>
        </p:nvSpPr>
        <p:spPr>
          <a:xfrm>
            <a:off x="9851053" y="1636776"/>
            <a:ext cx="1725250" cy="292608"/>
          </a:xfrm>
          <a:prstGeom prst="rect">
            <a:avLst/>
          </a:prstGeom>
          <a:noFill/>
        </p:spPr>
        <p:txBody>
          <a:bodyPr wrap="square" lIns="0" rIns="0" tIns="0" bIns="0" anchor="ctr">
            <a:spAutoFit/>
          </a:bodyPr>
          <a:lstStyle/>
          <a:p>
            <a:pPr algn="ctr"/>
            <a:r>
              <a:rPr sz="1100" b="0" i="0">
                <a:solidFill>
                  <a:srgbClr val="1F3644"/>
                </a:solidFill>
                <a:latin typeface="Courier New"/>
              </a:rPr>
              <a:t>5</a:t>
            </a:r>
          </a:p>
        </p:txBody>
      </p:sp>
      <p:sp>
        <p:nvSpPr>
          <p:cNvPr id="12" name="Rectangle 11"/>
          <p:cNvSpPr/>
          <p:nvPr/>
        </p:nvSpPr>
        <p:spPr>
          <a:xfrm>
            <a:off x="7086600" y="1929384"/>
            <a:ext cx="4526280" cy="2926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159752" y="1929384"/>
            <a:ext cx="2581573" cy="292608"/>
          </a:xfrm>
          <a:prstGeom prst="rect">
            <a:avLst/>
          </a:prstGeom>
          <a:noFill/>
        </p:spPr>
        <p:txBody>
          <a:bodyPr wrap="square" lIns="0" rIns="0" tIns="0" bIns="0" anchor="ctr">
            <a:spAutoFit/>
          </a:bodyPr>
          <a:lstStyle/>
          <a:p>
            <a:pPr algn="l"/>
            <a:r>
              <a:rPr sz="1100" b="1" i="0">
                <a:solidFill>
                  <a:srgbClr val="0C2231"/>
                </a:solidFill>
                <a:latin typeface="Calibri"/>
              </a:rPr>
              <a:t>Compute zone</a:t>
            </a:r>
          </a:p>
        </p:txBody>
      </p:sp>
      <p:sp>
        <p:nvSpPr>
          <p:cNvPr id="14" name="TextBox 13"/>
          <p:cNvSpPr txBox="1"/>
          <p:nvPr/>
        </p:nvSpPr>
        <p:spPr>
          <a:xfrm>
            <a:off x="9851053" y="1929384"/>
            <a:ext cx="1725250" cy="292608"/>
          </a:xfrm>
          <a:prstGeom prst="rect">
            <a:avLst/>
          </a:prstGeom>
          <a:noFill/>
        </p:spPr>
        <p:txBody>
          <a:bodyPr wrap="square" lIns="0" rIns="0" tIns="0" bIns="0" anchor="ctr">
            <a:spAutoFit/>
          </a:bodyPr>
          <a:lstStyle/>
          <a:p>
            <a:pPr algn="ctr"/>
            <a:r>
              <a:rPr sz="1100" b="0" i="0">
                <a:solidFill>
                  <a:srgbClr val="1F3644"/>
                </a:solidFill>
                <a:latin typeface="Courier New"/>
              </a:rPr>
              <a:t>1000 × 700 m</a:t>
            </a:r>
          </a:p>
        </p:txBody>
      </p:sp>
      <p:sp>
        <p:nvSpPr>
          <p:cNvPr id="15" name="Rectangle 14"/>
          <p:cNvSpPr/>
          <p:nvPr/>
        </p:nvSpPr>
        <p:spPr>
          <a:xfrm>
            <a:off x="7086600" y="2221992"/>
            <a:ext cx="4526280" cy="292608"/>
          </a:xfrm>
          <a:prstGeom prst="rect">
            <a:avLst/>
          </a:prstGeom>
          <a:solidFill>
            <a:srgbClr val="EDF2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159752" y="2221992"/>
            <a:ext cx="2581573" cy="292608"/>
          </a:xfrm>
          <a:prstGeom prst="rect">
            <a:avLst/>
          </a:prstGeom>
          <a:noFill/>
        </p:spPr>
        <p:txBody>
          <a:bodyPr wrap="square" lIns="0" rIns="0" tIns="0" bIns="0" anchor="ctr">
            <a:spAutoFit/>
          </a:bodyPr>
          <a:lstStyle/>
          <a:p>
            <a:pPr algn="l"/>
            <a:r>
              <a:rPr sz="1100" b="1" i="0">
                <a:solidFill>
                  <a:srgbClr val="0C2231"/>
                </a:solidFill>
                <a:latin typeface="Calibri"/>
              </a:rPr>
              <a:t>Survey polygon</a:t>
            </a:r>
          </a:p>
        </p:txBody>
      </p:sp>
      <p:sp>
        <p:nvSpPr>
          <p:cNvPr id="17" name="TextBox 16"/>
          <p:cNvSpPr txBox="1"/>
          <p:nvPr/>
        </p:nvSpPr>
        <p:spPr>
          <a:xfrm>
            <a:off x="9851053" y="2221992"/>
            <a:ext cx="1725250" cy="292608"/>
          </a:xfrm>
          <a:prstGeom prst="rect">
            <a:avLst/>
          </a:prstGeom>
          <a:noFill/>
        </p:spPr>
        <p:txBody>
          <a:bodyPr wrap="square" lIns="0" rIns="0" tIns="0" bIns="0" anchor="ctr">
            <a:spAutoFit/>
          </a:bodyPr>
          <a:lstStyle/>
          <a:p>
            <a:pPr algn="ctr"/>
            <a:r>
              <a:rPr sz="1100" b="0" i="0">
                <a:solidFill>
                  <a:srgbClr val="1F3644"/>
                </a:solidFill>
                <a:latin typeface="Courier New"/>
              </a:rPr>
              <a:t>0.32 km²</a:t>
            </a:r>
          </a:p>
        </p:txBody>
      </p:sp>
      <p:sp>
        <p:nvSpPr>
          <p:cNvPr id="18" name="Rectangle 17"/>
          <p:cNvSpPr/>
          <p:nvPr/>
        </p:nvSpPr>
        <p:spPr>
          <a:xfrm>
            <a:off x="7086600" y="2514600"/>
            <a:ext cx="4526280" cy="2926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159752" y="2514600"/>
            <a:ext cx="2581573" cy="292608"/>
          </a:xfrm>
          <a:prstGeom prst="rect">
            <a:avLst/>
          </a:prstGeom>
          <a:noFill/>
        </p:spPr>
        <p:txBody>
          <a:bodyPr wrap="square" lIns="0" rIns="0" tIns="0" bIns="0" anchor="ctr">
            <a:spAutoFit/>
          </a:bodyPr>
          <a:lstStyle/>
          <a:p>
            <a:pPr algn="l"/>
            <a:r>
              <a:rPr sz="1100" b="1" i="0">
                <a:solidFill>
                  <a:srgbClr val="0C2231"/>
                </a:solidFill>
                <a:latin typeface="Calibri"/>
              </a:rPr>
              <a:t>Bottom depth</a:t>
            </a:r>
          </a:p>
        </p:txBody>
      </p:sp>
      <p:sp>
        <p:nvSpPr>
          <p:cNvPr id="20" name="TextBox 19"/>
          <p:cNvSpPr txBox="1"/>
          <p:nvPr/>
        </p:nvSpPr>
        <p:spPr>
          <a:xfrm>
            <a:off x="9851053" y="2514600"/>
            <a:ext cx="1725250" cy="292608"/>
          </a:xfrm>
          <a:prstGeom prst="rect">
            <a:avLst/>
          </a:prstGeom>
          <a:noFill/>
        </p:spPr>
        <p:txBody>
          <a:bodyPr wrap="square" lIns="0" rIns="0" tIns="0" bIns="0" anchor="ctr">
            <a:spAutoFit/>
          </a:bodyPr>
          <a:lstStyle/>
          <a:p>
            <a:pPr algn="ctr"/>
            <a:r>
              <a:rPr sz="1100" b="0" i="0">
                <a:solidFill>
                  <a:srgbClr val="1F3644"/>
                </a:solidFill>
                <a:latin typeface="Courier New"/>
              </a:rPr>
              <a:t>13–20 m</a:t>
            </a:r>
          </a:p>
        </p:txBody>
      </p:sp>
      <p:sp>
        <p:nvSpPr>
          <p:cNvPr id="21" name="Rectangle 20"/>
          <p:cNvSpPr/>
          <p:nvPr/>
        </p:nvSpPr>
        <p:spPr>
          <a:xfrm>
            <a:off x="7086600" y="2807208"/>
            <a:ext cx="4526280" cy="292608"/>
          </a:xfrm>
          <a:prstGeom prst="rect">
            <a:avLst/>
          </a:prstGeom>
          <a:solidFill>
            <a:srgbClr val="EDF2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159752" y="2807208"/>
            <a:ext cx="2581573" cy="292608"/>
          </a:xfrm>
          <a:prstGeom prst="rect">
            <a:avLst/>
          </a:prstGeom>
          <a:noFill/>
        </p:spPr>
        <p:txBody>
          <a:bodyPr wrap="square" lIns="0" rIns="0" tIns="0" bIns="0" anchor="ctr">
            <a:spAutoFit/>
          </a:bodyPr>
          <a:lstStyle/>
          <a:p>
            <a:pPr algn="l"/>
            <a:r>
              <a:rPr sz="1100" b="1" i="0">
                <a:solidFill>
                  <a:srgbClr val="0C2231"/>
                </a:solidFill>
                <a:latin typeface="Calibri"/>
              </a:rPr>
              <a:t>Survey altitude</a:t>
            </a:r>
          </a:p>
        </p:txBody>
      </p:sp>
      <p:sp>
        <p:nvSpPr>
          <p:cNvPr id="23" name="TextBox 22"/>
          <p:cNvSpPr txBox="1"/>
          <p:nvPr/>
        </p:nvSpPr>
        <p:spPr>
          <a:xfrm>
            <a:off x="9851053" y="2807208"/>
            <a:ext cx="1725250" cy="292608"/>
          </a:xfrm>
          <a:prstGeom prst="rect">
            <a:avLst/>
          </a:prstGeom>
          <a:noFill/>
        </p:spPr>
        <p:txBody>
          <a:bodyPr wrap="square" lIns="0" rIns="0" tIns="0" bIns="0" anchor="ctr">
            <a:spAutoFit/>
          </a:bodyPr>
          <a:lstStyle/>
          <a:p>
            <a:pPr algn="ctr"/>
            <a:r>
              <a:rPr sz="1100" b="0" i="0">
                <a:solidFill>
                  <a:srgbClr val="1F3644"/>
                </a:solidFill>
                <a:latin typeface="Courier New"/>
              </a:rPr>
              <a:t>3 m</a:t>
            </a:r>
          </a:p>
        </p:txBody>
      </p:sp>
      <p:sp>
        <p:nvSpPr>
          <p:cNvPr id="24" name="Rectangle 23"/>
          <p:cNvSpPr/>
          <p:nvPr/>
        </p:nvSpPr>
        <p:spPr>
          <a:xfrm>
            <a:off x="7086600" y="3099816"/>
            <a:ext cx="4526280" cy="2926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159752" y="3099816"/>
            <a:ext cx="2581573" cy="292608"/>
          </a:xfrm>
          <a:prstGeom prst="rect">
            <a:avLst/>
          </a:prstGeom>
          <a:noFill/>
        </p:spPr>
        <p:txBody>
          <a:bodyPr wrap="square" lIns="0" rIns="0" tIns="0" bIns="0" anchor="ctr">
            <a:spAutoFit/>
          </a:bodyPr>
          <a:lstStyle/>
          <a:p>
            <a:pPr algn="l"/>
            <a:r>
              <a:rPr sz="1100" b="1" i="0">
                <a:solidFill>
                  <a:srgbClr val="0C2231"/>
                </a:solidFill>
                <a:latin typeface="Calibri"/>
              </a:rPr>
              <a:t>Beam width</a:t>
            </a:r>
          </a:p>
        </p:txBody>
      </p:sp>
      <p:sp>
        <p:nvSpPr>
          <p:cNvPr id="26" name="TextBox 25"/>
          <p:cNvSpPr txBox="1"/>
          <p:nvPr/>
        </p:nvSpPr>
        <p:spPr>
          <a:xfrm>
            <a:off x="9851053" y="3099816"/>
            <a:ext cx="1725250" cy="292608"/>
          </a:xfrm>
          <a:prstGeom prst="rect">
            <a:avLst/>
          </a:prstGeom>
          <a:noFill/>
        </p:spPr>
        <p:txBody>
          <a:bodyPr wrap="square" lIns="0" rIns="0" tIns="0" bIns="0" anchor="ctr">
            <a:spAutoFit/>
          </a:bodyPr>
          <a:lstStyle/>
          <a:p>
            <a:pPr algn="ctr"/>
            <a:r>
              <a:rPr sz="1100" b="0" i="0">
                <a:solidFill>
                  <a:srgbClr val="1F3644"/>
                </a:solidFill>
                <a:latin typeface="Courier New"/>
              </a:rPr>
              <a:t>25°</a:t>
            </a:r>
          </a:p>
        </p:txBody>
      </p:sp>
      <p:sp>
        <p:nvSpPr>
          <p:cNvPr id="27" name="Rectangle 26"/>
          <p:cNvSpPr/>
          <p:nvPr/>
        </p:nvSpPr>
        <p:spPr>
          <a:xfrm>
            <a:off x="7086600" y="3392424"/>
            <a:ext cx="4526280" cy="292608"/>
          </a:xfrm>
          <a:prstGeom prst="rect">
            <a:avLst/>
          </a:prstGeom>
          <a:solidFill>
            <a:srgbClr val="EDF2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159752" y="3392424"/>
            <a:ext cx="2581573" cy="292608"/>
          </a:xfrm>
          <a:prstGeom prst="rect">
            <a:avLst/>
          </a:prstGeom>
          <a:noFill/>
        </p:spPr>
        <p:txBody>
          <a:bodyPr wrap="square" lIns="0" rIns="0" tIns="0" bIns="0" anchor="ctr">
            <a:spAutoFit/>
          </a:bodyPr>
          <a:lstStyle/>
          <a:p>
            <a:pPr algn="l"/>
            <a:r>
              <a:rPr sz="1100" b="1" i="0">
                <a:solidFill>
                  <a:srgbClr val="0C2231"/>
                </a:solidFill>
                <a:latin typeface="Calibri"/>
              </a:rPr>
              <a:t>Footprint</a:t>
            </a:r>
          </a:p>
        </p:txBody>
      </p:sp>
      <p:sp>
        <p:nvSpPr>
          <p:cNvPr id="29" name="TextBox 28"/>
          <p:cNvSpPr txBox="1"/>
          <p:nvPr/>
        </p:nvSpPr>
        <p:spPr>
          <a:xfrm>
            <a:off x="9851053" y="3392424"/>
            <a:ext cx="1725250" cy="292608"/>
          </a:xfrm>
          <a:prstGeom prst="rect">
            <a:avLst/>
          </a:prstGeom>
          <a:noFill/>
        </p:spPr>
        <p:txBody>
          <a:bodyPr wrap="square" lIns="0" rIns="0" tIns="0" bIns="0" anchor="ctr">
            <a:spAutoFit/>
          </a:bodyPr>
          <a:lstStyle/>
          <a:p>
            <a:pPr algn="ctr"/>
            <a:r>
              <a:rPr sz="1100" b="0" i="0">
                <a:solidFill>
                  <a:srgbClr val="1F3644"/>
                </a:solidFill>
                <a:latin typeface="Courier New"/>
              </a:rPr>
              <a:t>1.33 m</a:t>
            </a:r>
          </a:p>
        </p:txBody>
      </p:sp>
      <p:sp>
        <p:nvSpPr>
          <p:cNvPr id="30" name="Rectangle 29"/>
          <p:cNvSpPr/>
          <p:nvPr/>
        </p:nvSpPr>
        <p:spPr>
          <a:xfrm>
            <a:off x="7086600" y="3685032"/>
            <a:ext cx="4526280" cy="2926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159752" y="3685032"/>
            <a:ext cx="2581573" cy="292608"/>
          </a:xfrm>
          <a:prstGeom prst="rect">
            <a:avLst/>
          </a:prstGeom>
          <a:noFill/>
        </p:spPr>
        <p:txBody>
          <a:bodyPr wrap="square" lIns="0" rIns="0" tIns="0" bIns="0" anchor="ctr">
            <a:spAutoFit/>
          </a:bodyPr>
          <a:lstStyle/>
          <a:p>
            <a:pPr algn="l"/>
            <a:r>
              <a:rPr sz="1100" b="1" i="0">
                <a:solidFill>
                  <a:srgbClr val="0C2231"/>
                </a:solidFill>
                <a:latin typeface="Calibri"/>
              </a:rPr>
              <a:t>Grid spacing</a:t>
            </a:r>
          </a:p>
        </p:txBody>
      </p:sp>
      <p:sp>
        <p:nvSpPr>
          <p:cNvPr id="32" name="TextBox 31"/>
          <p:cNvSpPr txBox="1"/>
          <p:nvPr/>
        </p:nvSpPr>
        <p:spPr>
          <a:xfrm>
            <a:off x="9851053" y="3685032"/>
            <a:ext cx="1725250" cy="292608"/>
          </a:xfrm>
          <a:prstGeom prst="rect">
            <a:avLst/>
          </a:prstGeom>
          <a:noFill/>
        </p:spPr>
        <p:txBody>
          <a:bodyPr wrap="square" lIns="0" rIns="0" tIns="0" bIns="0" anchor="ctr">
            <a:spAutoFit/>
          </a:bodyPr>
          <a:lstStyle/>
          <a:p>
            <a:pPr algn="ctr"/>
            <a:r>
              <a:rPr sz="1100" b="0" i="0">
                <a:solidFill>
                  <a:srgbClr val="1F3644"/>
                </a:solidFill>
                <a:latin typeface="Courier New"/>
              </a:rPr>
              <a:t>26 m</a:t>
            </a:r>
          </a:p>
        </p:txBody>
      </p:sp>
      <p:sp>
        <p:nvSpPr>
          <p:cNvPr id="33" name="Rectangle 32"/>
          <p:cNvSpPr/>
          <p:nvPr/>
        </p:nvSpPr>
        <p:spPr>
          <a:xfrm>
            <a:off x="7086600" y="3977639"/>
            <a:ext cx="4526280" cy="292608"/>
          </a:xfrm>
          <a:prstGeom prst="rect">
            <a:avLst/>
          </a:prstGeom>
          <a:solidFill>
            <a:srgbClr val="EDF2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159752" y="3977639"/>
            <a:ext cx="2581573" cy="292608"/>
          </a:xfrm>
          <a:prstGeom prst="rect">
            <a:avLst/>
          </a:prstGeom>
          <a:noFill/>
        </p:spPr>
        <p:txBody>
          <a:bodyPr wrap="square" lIns="0" rIns="0" tIns="0" bIns="0" anchor="ctr">
            <a:spAutoFit/>
          </a:bodyPr>
          <a:lstStyle/>
          <a:p>
            <a:pPr algn="l"/>
            <a:r>
              <a:rPr sz="1100" b="1" i="0">
                <a:solidFill>
                  <a:srgbClr val="0C2231"/>
                </a:solidFill>
                <a:latin typeface="Calibri"/>
              </a:rPr>
              <a:t>Track length</a:t>
            </a:r>
          </a:p>
        </p:txBody>
      </p:sp>
      <p:sp>
        <p:nvSpPr>
          <p:cNvPr id="35" name="TextBox 34"/>
          <p:cNvSpPr txBox="1"/>
          <p:nvPr/>
        </p:nvSpPr>
        <p:spPr>
          <a:xfrm>
            <a:off x="9851053" y="3977639"/>
            <a:ext cx="1725250" cy="292608"/>
          </a:xfrm>
          <a:prstGeom prst="rect">
            <a:avLst/>
          </a:prstGeom>
          <a:noFill/>
        </p:spPr>
        <p:txBody>
          <a:bodyPr wrap="square" lIns="0" rIns="0" tIns="0" bIns="0" anchor="ctr">
            <a:spAutoFit/>
          </a:bodyPr>
          <a:lstStyle/>
          <a:p>
            <a:pPr algn="ctr"/>
            <a:r>
              <a:rPr sz="1100" b="0" i="0">
                <a:solidFill>
                  <a:srgbClr val="1F3644"/>
                </a:solidFill>
                <a:latin typeface="Courier New"/>
              </a:rPr>
              <a:t>12.3 km</a:t>
            </a:r>
          </a:p>
        </p:txBody>
      </p:sp>
      <p:sp>
        <p:nvSpPr>
          <p:cNvPr id="36" name="TextBox 35"/>
          <p:cNvSpPr txBox="1"/>
          <p:nvPr/>
        </p:nvSpPr>
        <p:spPr>
          <a:xfrm>
            <a:off x="7086600" y="4453128"/>
            <a:ext cx="4526280" cy="566928"/>
          </a:xfrm>
          <a:prstGeom prst="rect">
            <a:avLst/>
          </a:prstGeom>
          <a:noFill/>
        </p:spPr>
        <p:txBody>
          <a:bodyPr wrap="square" lIns="0" rIns="0" tIns="0" bIns="0" anchor="t">
            <a:spAutoFit/>
          </a:bodyPr>
          <a:lstStyle/>
          <a:p>
            <a:pPr algn="l">
              <a:lnSpc>
                <a:spcPct val="115000"/>
              </a:lnSpc>
            </a:pPr>
            <a:r>
              <a:rPr sz="1200" b="0" i="0">
                <a:solidFill>
                  <a:srgbClr val="1F3644"/>
                </a:solidFill>
                <a:latin typeface="Calibri"/>
              </a:rPr>
              <a:t>A fixed seed reproduces terrain, mission decisions and packet outcomes, so two runs differ only where a parameter was deliberately changed.</a:t>
            </a:r>
          </a:p>
        </p:txBody>
      </p:sp>
      <p:sp>
        <p:nvSpPr>
          <p:cNvPr id="37" name="Rounded Rectangle 36"/>
          <p:cNvSpPr/>
          <p:nvPr/>
        </p:nvSpPr>
        <p:spPr>
          <a:xfrm>
            <a:off x="7086600" y="5230368"/>
            <a:ext cx="4526280" cy="960120"/>
          </a:xfrm>
          <a:prstGeom prst="roundRect">
            <a:avLst>
              <a:gd name="adj" fmla="val 4285"/>
            </a:avLst>
          </a:prstGeom>
          <a:solidFill>
            <a:srgbClr val="FBF3E4"/>
          </a:solidFill>
          <a:ln>
            <a:noFill/>
          </a:ln>
          <a:effectLst>
            <a:outerShdw blurRad="88900" dist="12700" dir="5400000" rotWithShape="0">
              <a:srgbClr val="9FB3C0">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315200" y="5330952"/>
            <a:ext cx="4069080" cy="777240"/>
          </a:xfrm>
          <a:prstGeom prst="rect">
            <a:avLst/>
          </a:prstGeom>
          <a:noFill/>
        </p:spPr>
        <p:txBody>
          <a:bodyPr wrap="square" lIns="0" rIns="0" tIns="0" bIns="0" anchor="ctr">
            <a:spAutoFit/>
          </a:bodyPr>
          <a:lstStyle/>
          <a:p>
            <a:pPr algn="l">
              <a:lnSpc>
                <a:spcPct val="115000"/>
              </a:lnSpc>
            </a:pPr>
            <a:r>
              <a:rPr sz="1200" b="0" i="0">
                <a:solidFill>
                  <a:srgbClr val="6E4A0F"/>
                </a:solidFill>
                <a:latin typeface="Calibri"/>
              </a:rPr>
              <a:t>The station displays received telemetry only. Delayed samples are replayed from their timestamps rather than interpolated on arrival.</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146304"/>
            <a:ext cx="11094415" cy="237744"/>
          </a:xfrm>
          <a:prstGeom prst="rect">
            <a:avLst/>
          </a:prstGeom>
          <a:noFill/>
        </p:spPr>
        <p:txBody>
          <a:bodyPr wrap="square" lIns="0" rIns="0" tIns="0" bIns="0" anchor="ctr">
            <a:spAutoFit/>
          </a:bodyPr>
          <a:lstStyle/>
          <a:p>
            <a:pPr algn="l"/>
            <a:r>
              <a:rPr sz="1000" b="1" i="0" spc="140">
                <a:solidFill>
                  <a:srgbClr val="1C7293"/>
                </a:solidFill>
                <a:latin typeface="Calibri"/>
              </a:rPr>
              <a:t>DEMONSTRATION</a:t>
            </a:r>
          </a:p>
        </p:txBody>
      </p:sp>
      <p:sp>
        <p:nvSpPr>
          <p:cNvPr id="3" name="TextBox 2"/>
          <p:cNvSpPr txBox="1"/>
          <p:nvPr/>
        </p:nvSpPr>
        <p:spPr>
          <a:xfrm>
            <a:off x="548640" y="384048"/>
            <a:ext cx="11094415" cy="676656"/>
          </a:xfrm>
          <a:prstGeom prst="rect">
            <a:avLst/>
          </a:prstGeom>
          <a:noFill/>
        </p:spPr>
        <p:txBody>
          <a:bodyPr wrap="square" lIns="0" rIns="0" tIns="0" bIns="0" anchor="ctr">
            <a:spAutoFit/>
          </a:bodyPr>
          <a:lstStyle/>
          <a:p>
            <a:pPr algn="l"/>
            <a:r>
              <a:rPr sz="3300" b="1" i="0">
                <a:solidFill>
                  <a:srgbClr val="0C2231"/>
                </a:solidFill>
                <a:latin typeface="Cambria"/>
              </a:rPr>
              <a:t>Supervision interface</a:t>
            </a:r>
          </a:p>
        </p:txBody>
      </p:sp>
      <p:pic>
        <p:nvPicPr>
          <p:cNvPr id="4" name="Picture 3" descr="surface_mesh_rendezvous.png"/>
          <p:cNvPicPr>
            <a:picLocks noChangeAspect="1"/>
          </p:cNvPicPr>
          <p:nvPr/>
        </p:nvPicPr>
        <p:blipFill>
          <a:blip r:embed="rId2"/>
          <a:stretch>
            <a:fillRect/>
          </a:stretch>
        </p:blipFill>
        <p:spPr>
          <a:xfrm>
            <a:off x="548640" y="1371600"/>
            <a:ext cx="6949440" cy="4562856"/>
          </a:xfrm>
          <a:prstGeom prst="rect">
            <a:avLst/>
          </a:prstGeom>
        </p:spPr>
      </p:pic>
      <p:sp>
        <p:nvSpPr>
          <p:cNvPr id="5" name="Rounded Rectangle 4"/>
          <p:cNvSpPr/>
          <p:nvPr/>
        </p:nvSpPr>
        <p:spPr>
          <a:xfrm>
            <a:off x="7680960" y="1417320"/>
            <a:ext cx="1828800" cy="228600"/>
          </a:xfrm>
          <a:prstGeom prst="roundRect">
            <a:avLst>
              <a:gd name="adj" fmla="val 50000"/>
            </a:avLst>
          </a:prstGeom>
          <a:solidFill>
            <a:srgbClr val="E0A3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680960" y="1417320"/>
            <a:ext cx="1828800" cy="228600"/>
          </a:xfrm>
          <a:prstGeom prst="rect">
            <a:avLst/>
          </a:prstGeom>
          <a:noFill/>
        </p:spPr>
        <p:txBody>
          <a:bodyPr wrap="square" lIns="0" rIns="0" tIns="0" bIns="0" anchor="ctr">
            <a:spAutoFit/>
          </a:bodyPr>
          <a:lstStyle/>
          <a:p>
            <a:pPr algn="ctr"/>
            <a:r>
              <a:rPr sz="850" b="1" i="0" spc="70">
                <a:solidFill>
                  <a:srgbClr val="0C2231"/>
                </a:solidFill>
                <a:latin typeface="Calibri"/>
              </a:rPr>
              <a:t>RUN LIVE — 60 S</a:t>
            </a:r>
          </a:p>
        </p:txBody>
      </p:sp>
      <p:sp>
        <p:nvSpPr>
          <p:cNvPr id="7" name="TextBox 6"/>
          <p:cNvSpPr txBox="1"/>
          <p:nvPr/>
        </p:nvSpPr>
        <p:spPr>
          <a:xfrm>
            <a:off x="7680960" y="1847088"/>
            <a:ext cx="3931920" cy="256032"/>
          </a:xfrm>
          <a:prstGeom prst="rect">
            <a:avLst/>
          </a:prstGeom>
          <a:noFill/>
        </p:spPr>
        <p:txBody>
          <a:bodyPr wrap="square" lIns="0" rIns="0" tIns="0" bIns="0" anchor="t">
            <a:spAutoFit/>
          </a:bodyPr>
          <a:lstStyle/>
          <a:p>
            <a:pPr algn="l"/>
            <a:r>
              <a:rPr sz="1100" b="1" i="0" spc="80">
                <a:solidFill>
                  <a:srgbClr val="5E7686"/>
                </a:solidFill>
                <a:latin typeface="Calibri"/>
              </a:rPr>
              <a:t>SEVEN SUPERVISION VIEWS</a:t>
            </a:r>
          </a:p>
        </p:txBody>
      </p:sp>
      <p:sp>
        <p:nvSpPr>
          <p:cNvPr id="8" name="TextBox 7"/>
          <p:cNvSpPr txBox="1"/>
          <p:nvPr/>
        </p:nvSpPr>
        <p:spPr>
          <a:xfrm>
            <a:off x="7680960" y="2212848"/>
            <a:ext cx="3931920" cy="2103120"/>
          </a:xfrm>
          <a:prstGeom prst="rect">
            <a:avLst/>
          </a:prstGeom>
          <a:noFill/>
        </p:spPr>
        <p:txBody>
          <a:bodyPr wrap="square" lIns="0" rIns="0" tIns="0" bIns="0" anchor="t">
            <a:spAutoFit/>
          </a:bodyPr>
          <a:lstStyle/>
          <a:p>
            <a:pPr algn="l">
              <a:lnSpc>
                <a:spcPct val="150000"/>
              </a:lnSpc>
            </a:pPr>
            <a:r>
              <a:rPr sz="1400" b="1" i="0">
                <a:solidFill>
                  <a:srgbClr val="065A82"/>
                </a:solidFill>
                <a:latin typeface="Calibri"/>
              </a:rPr>
              <a:t>Mission</a:t>
            </a:r>
          </a:p>
          <a:p>
            <a:pPr algn="l">
              <a:lnSpc>
                <a:spcPct val="150000"/>
              </a:lnSpc>
            </a:pPr>
            <a:r>
              <a:rPr sz="1400" b="1" i="0">
                <a:solidFill>
                  <a:srgbClr val="065A82"/>
                </a:solidFill>
                <a:latin typeface="Calibri"/>
              </a:rPr>
              <a:t>Robots</a:t>
            </a:r>
          </a:p>
          <a:p>
            <a:pPr algn="l">
              <a:lnSpc>
                <a:spcPct val="150000"/>
              </a:lnSpc>
            </a:pPr>
            <a:r>
              <a:rPr sz="1400" b="1" i="0">
                <a:solidFill>
                  <a:srgbClr val="065A82"/>
                </a:solidFill>
                <a:latin typeface="Calibri"/>
              </a:rPr>
              <a:t>Network</a:t>
            </a:r>
          </a:p>
          <a:p>
            <a:pPr algn="l">
              <a:lnSpc>
                <a:spcPct val="150000"/>
              </a:lnSpc>
            </a:pPr>
            <a:r>
              <a:rPr sz="1400" b="1" i="0">
                <a:solidFill>
                  <a:srgbClr val="065A82"/>
                </a:solidFill>
                <a:latin typeface="Calibri"/>
              </a:rPr>
              <a:t>Commands</a:t>
            </a:r>
          </a:p>
          <a:p>
            <a:pPr algn="l">
              <a:lnSpc>
                <a:spcPct val="150000"/>
              </a:lnSpc>
            </a:pPr>
            <a:r>
              <a:rPr sz="1400" b="1" i="0">
                <a:solidFill>
                  <a:srgbClr val="065A82"/>
                </a:solidFill>
                <a:latin typeface="Calibri"/>
              </a:rPr>
              <a:t>Security</a:t>
            </a:r>
          </a:p>
          <a:p>
            <a:pPr algn="l">
              <a:lnSpc>
                <a:spcPct val="150000"/>
              </a:lnSpc>
            </a:pPr>
            <a:r>
              <a:rPr sz="1400" b="1" i="0">
                <a:solidFill>
                  <a:srgbClr val="065A82"/>
                </a:solidFill>
                <a:latin typeface="Calibri"/>
              </a:rPr>
              <a:t>Packet Log</a:t>
            </a:r>
          </a:p>
          <a:p>
            <a:pPr algn="l">
              <a:lnSpc>
                <a:spcPct val="150000"/>
              </a:lnSpc>
            </a:pPr>
            <a:r>
              <a:rPr sz="1400" b="1" i="0">
                <a:solidFill>
                  <a:srgbClr val="065A82"/>
                </a:solidFill>
                <a:latin typeface="Calibri"/>
              </a:rPr>
              <a:t>Events</a:t>
            </a:r>
          </a:p>
        </p:txBody>
      </p:sp>
      <p:sp>
        <p:nvSpPr>
          <p:cNvPr id="9" name="Rounded Rectangle 8"/>
          <p:cNvSpPr/>
          <p:nvPr/>
        </p:nvSpPr>
        <p:spPr>
          <a:xfrm>
            <a:off x="7680960" y="4443984"/>
            <a:ext cx="3931920" cy="1280160"/>
          </a:xfrm>
          <a:prstGeom prst="roundRect">
            <a:avLst>
              <a:gd name="adj" fmla="val 3214"/>
            </a:avLst>
          </a:prstGeom>
          <a:solidFill>
            <a:srgbClr val="E2EBF0"/>
          </a:solidFill>
          <a:ln>
            <a:noFill/>
          </a:ln>
          <a:effectLst>
            <a:outerShdw blurRad="88900" dist="12700" dir="5400000" rotWithShape="0">
              <a:srgbClr val="9FB3C0">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918704" y="4553712"/>
            <a:ext cx="3474720" cy="1060704"/>
          </a:xfrm>
          <a:prstGeom prst="rect">
            <a:avLst/>
          </a:prstGeom>
          <a:noFill/>
        </p:spPr>
        <p:txBody>
          <a:bodyPr wrap="square" lIns="0" rIns="0" tIns="0" bIns="0" anchor="ctr">
            <a:spAutoFit/>
          </a:bodyPr>
          <a:lstStyle/>
          <a:p>
            <a:pPr algn="l">
              <a:lnSpc>
                <a:spcPct val="115000"/>
              </a:lnSpc>
            </a:pPr>
            <a:r>
              <a:rPr sz="1150" b="0" i="0">
                <a:solidFill>
                  <a:srgbClr val="1F3644"/>
                </a:solidFill>
                <a:latin typeface="Calibri"/>
              </a:rPr>
              <a:t>Python 3.12 and Streamlit containerised behind a Caddy reverse proxy with a health endpoint. Run here from a local instance.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146304"/>
            <a:ext cx="11094415" cy="237744"/>
          </a:xfrm>
          <a:prstGeom prst="rect">
            <a:avLst/>
          </a:prstGeom>
          <a:noFill/>
        </p:spPr>
        <p:txBody>
          <a:bodyPr wrap="square" lIns="0" rIns="0" tIns="0" bIns="0" anchor="ctr">
            <a:spAutoFit/>
          </a:bodyPr>
          <a:lstStyle/>
          <a:p>
            <a:pPr algn="l"/>
            <a:r>
              <a:rPr sz="1000" b="1" i="0" spc="140">
                <a:solidFill>
                  <a:srgbClr val="9E3B3E"/>
                </a:solidFill>
                <a:latin typeface="Calibri"/>
              </a:rPr>
              <a:t>BACKUP</a:t>
            </a:r>
          </a:p>
        </p:txBody>
      </p:sp>
      <p:sp>
        <p:nvSpPr>
          <p:cNvPr id="3" name="TextBox 2"/>
          <p:cNvSpPr txBox="1"/>
          <p:nvPr/>
        </p:nvSpPr>
        <p:spPr>
          <a:xfrm>
            <a:off x="548640" y="384048"/>
            <a:ext cx="11094415" cy="676656"/>
          </a:xfrm>
          <a:prstGeom prst="rect">
            <a:avLst/>
          </a:prstGeom>
          <a:noFill/>
        </p:spPr>
        <p:txBody>
          <a:bodyPr wrap="square" lIns="0" rIns="0" tIns="0" bIns="0" anchor="ctr">
            <a:spAutoFit/>
          </a:bodyPr>
          <a:lstStyle/>
          <a:p>
            <a:pPr algn="l"/>
            <a:r>
              <a:rPr sz="3300" b="1" i="0">
                <a:solidFill>
                  <a:srgbClr val="0C2231"/>
                </a:solidFill>
                <a:latin typeface="Cambria"/>
              </a:rPr>
              <a:t>Interface captures</a:t>
            </a:r>
          </a:p>
        </p:txBody>
      </p:sp>
      <p:pic>
        <p:nvPicPr>
          <p:cNvPr id="4" name="Picture 3" descr="surface_mesh_rendezvous.png"/>
          <p:cNvPicPr>
            <a:picLocks noChangeAspect="1"/>
          </p:cNvPicPr>
          <p:nvPr/>
        </p:nvPicPr>
        <p:blipFill>
          <a:blip r:embed="rId2"/>
          <a:stretch>
            <a:fillRect/>
          </a:stretch>
        </p:blipFill>
        <p:spPr>
          <a:xfrm>
            <a:off x="548640" y="1371600"/>
            <a:ext cx="5394960" cy="3538728"/>
          </a:xfrm>
          <a:prstGeom prst="rect">
            <a:avLst/>
          </a:prstGeom>
        </p:spPr>
      </p:pic>
      <p:sp>
        <p:nvSpPr>
          <p:cNvPr id="5" name="TextBox 4"/>
          <p:cNvSpPr txBox="1"/>
          <p:nvPr/>
        </p:nvSpPr>
        <p:spPr>
          <a:xfrm>
            <a:off x="548640" y="4992624"/>
            <a:ext cx="5394960" cy="274320"/>
          </a:xfrm>
          <a:prstGeom prst="rect">
            <a:avLst/>
          </a:prstGeom>
          <a:noFill/>
        </p:spPr>
        <p:txBody>
          <a:bodyPr wrap="square" lIns="0" rIns="0" tIns="0" bIns="0" anchor="t">
            <a:spAutoFit/>
          </a:bodyPr>
          <a:lstStyle/>
          <a:p>
            <a:pPr algn="l">
              <a:lnSpc>
                <a:spcPct val="105000"/>
              </a:lnSpc>
            </a:pPr>
            <a:r>
              <a:rPr sz="950" b="0" i="1">
                <a:solidFill>
                  <a:srgbClr val="5E7686"/>
                </a:solidFill>
                <a:latin typeface="Calibri"/>
              </a:rPr>
              <a:t>Rendezvous: four AUV surfaced, active links, multi-hop route to base</a:t>
            </a:r>
          </a:p>
        </p:txBody>
      </p:sp>
      <p:pic>
        <p:nvPicPr>
          <p:cNvPr id="6" name="Picture 5" descr="security_physical_capture.png"/>
          <p:cNvPicPr>
            <a:picLocks noChangeAspect="1"/>
          </p:cNvPicPr>
          <p:nvPr/>
        </p:nvPicPr>
        <p:blipFill>
          <a:blip r:embed="rId3"/>
          <a:stretch>
            <a:fillRect/>
          </a:stretch>
        </p:blipFill>
        <p:spPr>
          <a:xfrm>
            <a:off x="6217920" y="1371600"/>
            <a:ext cx="5394960" cy="3538728"/>
          </a:xfrm>
          <a:prstGeom prst="rect">
            <a:avLst/>
          </a:prstGeom>
        </p:spPr>
      </p:pic>
      <p:sp>
        <p:nvSpPr>
          <p:cNvPr id="7" name="TextBox 6"/>
          <p:cNvSpPr txBox="1"/>
          <p:nvPr/>
        </p:nvSpPr>
        <p:spPr>
          <a:xfrm>
            <a:off x="6217920" y="4992624"/>
            <a:ext cx="5394960" cy="274320"/>
          </a:xfrm>
          <a:prstGeom prst="rect">
            <a:avLst/>
          </a:prstGeom>
          <a:noFill/>
        </p:spPr>
        <p:txBody>
          <a:bodyPr wrap="square" lIns="0" rIns="0" tIns="0" bIns="0" anchor="t">
            <a:spAutoFit/>
          </a:bodyPr>
          <a:lstStyle/>
          <a:p>
            <a:pPr algn="l">
              <a:lnSpc>
                <a:spcPct val="105000"/>
              </a:lnSpc>
            </a:pPr>
            <a:r>
              <a:rPr sz="950" b="0" i="1">
                <a:solidFill>
                  <a:srgbClr val="5E7686"/>
                </a:solidFill>
                <a:latin typeface="Calibri"/>
              </a:rPr>
              <a:t>Capture scenario: R1 taken, key 1 compromised, renewal pending</a:t>
            </a:r>
          </a:p>
        </p:txBody>
      </p:sp>
      <p:sp>
        <p:nvSpPr>
          <p:cNvPr id="8" name="Rounded Rectangle 7"/>
          <p:cNvSpPr/>
          <p:nvPr/>
        </p:nvSpPr>
        <p:spPr>
          <a:xfrm>
            <a:off x="548640" y="5394960"/>
            <a:ext cx="11064240" cy="1060704"/>
          </a:xfrm>
          <a:prstGeom prst="roundRect">
            <a:avLst>
              <a:gd name="adj" fmla="val 3879"/>
            </a:avLst>
          </a:prstGeom>
          <a:solidFill>
            <a:srgbClr val="EDF2F5"/>
          </a:solidFill>
          <a:ln>
            <a:noFill/>
          </a:ln>
          <a:effectLst>
            <a:outerShdw blurRad="88900" dist="12700" dir="5400000" rotWithShape="0">
              <a:srgbClr val="9FB3C0">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59" y="5486400"/>
            <a:ext cx="10515600" cy="877824"/>
          </a:xfrm>
          <a:prstGeom prst="rect">
            <a:avLst/>
          </a:prstGeom>
          <a:noFill/>
        </p:spPr>
        <p:txBody>
          <a:bodyPr wrap="square" lIns="0" rIns="0" tIns="0" bIns="0" anchor="ctr">
            <a:spAutoFit/>
          </a:bodyPr>
          <a:lstStyle/>
          <a:p>
            <a:pPr algn="l">
              <a:lnSpc>
                <a:spcPct val="112000"/>
              </a:lnSpc>
            </a:pPr>
            <a:r>
              <a:rPr sz="1300" b="1" i="0">
                <a:solidFill>
                  <a:srgbClr val="065A82"/>
                </a:solidFill>
                <a:latin typeface="Calibri"/>
              </a:rPr>
              <a:t>Capture scenario.  </a:t>
            </a:r>
            <a:r>
              <a:rPr sz="1250" b="0" i="0">
                <a:solidFill>
                  <a:srgbClr val="1F3644"/>
                </a:solidFill>
                <a:latin typeface="Calibri"/>
              </a:rPr>
              <a:t>The compromised vehicle's key is revoked. Submerged peers receive no immediate recall: they continue to their next surface contact, take the authenticated return order there, and are rekeyed with the captured node excluded. The group key keeps the demonstration legible; a production system needs per-vehicle roots and pairwise traffic keys.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146304"/>
            <a:ext cx="11094415" cy="237744"/>
          </a:xfrm>
          <a:prstGeom prst="rect">
            <a:avLst/>
          </a:prstGeom>
          <a:noFill/>
        </p:spPr>
        <p:txBody>
          <a:bodyPr wrap="square" lIns="0" rIns="0" tIns="0" bIns="0" anchor="ctr">
            <a:spAutoFit/>
          </a:bodyPr>
          <a:lstStyle/>
          <a:p>
            <a:pPr algn="l"/>
            <a:r>
              <a:rPr sz="1000" b="1" i="0" spc="140">
                <a:solidFill>
                  <a:srgbClr val="1C7293"/>
                </a:solidFill>
                <a:latin typeface="Calibri"/>
              </a:rPr>
              <a:t>PROTOCOL</a:t>
            </a:r>
          </a:p>
        </p:txBody>
      </p:sp>
      <p:sp>
        <p:nvSpPr>
          <p:cNvPr id="3" name="TextBox 2"/>
          <p:cNvSpPr txBox="1"/>
          <p:nvPr/>
        </p:nvSpPr>
        <p:spPr>
          <a:xfrm>
            <a:off x="548640" y="384048"/>
            <a:ext cx="11094415" cy="676656"/>
          </a:xfrm>
          <a:prstGeom prst="rect">
            <a:avLst/>
          </a:prstGeom>
          <a:noFill/>
        </p:spPr>
        <p:txBody>
          <a:bodyPr wrap="square" lIns="0" rIns="0" tIns="0" bIns="0" anchor="ctr">
            <a:spAutoFit/>
          </a:bodyPr>
          <a:lstStyle/>
          <a:p>
            <a:pPr algn="l"/>
            <a:r>
              <a:rPr sz="3300" b="1" i="0">
                <a:solidFill>
                  <a:srgbClr val="0C2231"/>
                </a:solidFill>
                <a:latin typeface="Cambria"/>
              </a:rPr>
              <a:t>Frame format and link budget</a:t>
            </a:r>
          </a:p>
        </p:txBody>
      </p:sp>
      <p:sp>
        <p:nvSpPr>
          <p:cNvPr id="4" name="Rectangle 3"/>
          <p:cNvSpPr/>
          <p:nvPr/>
        </p:nvSpPr>
        <p:spPr>
          <a:xfrm>
            <a:off x="548640" y="1463040"/>
            <a:ext cx="2773603" cy="146304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89854" y="1463040"/>
            <a:ext cx="10972" cy="182880"/>
          </a:xfrm>
          <a:prstGeom prst="rect">
            <a:avLst/>
          </a:prstGeom>
          <a:solidFill>
            <a:srgbClr val="6FA5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236554" y="1463040"/>
            <a:ext cx="10972" cy="182880"/>
          </a:xfrm>
          <a:prstGeom prst="rect">
            <a:avLst/>
          </a:prstGeom>
          <a:solidFill>
            <a:srgbClr val="6FA5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583255" y="1463040"/>
            <a:ext cx="10972" cy="182880"/>
          </a:xfrm>
          <a:prstGeom prst="rect">
            <a:avLst/>
          </a:prstGeom>
          <a:solidFill>
            <a:srgbClr val="6FA5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929955" y="1463040"/>
            <a:ext cx="10972" cy="182880"/>
          </a:xfrm>
          <a:prstGeom prst="rect">
            <a:avLst/>
          </a:prstGeom>
          <a:solidFill>
            <a:srgbClr val="6FA5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276655" y="1463040"/>
            <a:ext cx="10972" cy="182880"/>
          </a:xfrm>
          <a:prstGeom prst="rect">
            <a:avLst/>
          </a:prstGeom>
          <a:solidFill>
            <a:srgbClr val="6FA5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623356" y="1463040"/>
            <a:ext cx="10972" cy="182880"/>
          </a:xfrm>
          <a:prstGeom prst="rect">
            <a:avLst/>
          </a:prstGeom>
          <a:solidFill>
            <a:srgbClr val="6FA5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970056" y="1463040"/>
            <a:ext cx="10972" cy="182880"/>
          </a:xfrm>
          <a:prstGeom prst="rect">
            <a:avLst/>
          </a:prstGeom>
          <a:solidFill>
            <a:srgbClr val="6FA5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48640" y="1792224"/>
            <a:ext cx="2773603" cy="512064"/>
          </a:xfrm>
          <a:prstGeom prst="rect">
            <a:avLst/>
          </a:prstGeom>
          <a:noFill/>
        </p:spPr>
        <p:txBody>
          <a:bodyPr wrap="square" lIns="0" rIns="0" tIns="0" bIns="0" anchor="ctr">
            <a:spAutoFit/>
          </a:bodyPr>
          <a:lstStyle/>
          <a:p>
            <a:pPr algn="ctr"/>
            <a:r>
              <a:rPr sz="3600" b="1" i="0">
                <a:solidFill>
                  <a:srgbClr val="FFFFFF"/>
                </a:solidFill>
                <a:latin typeface="Cambria"/>
              </a:rPr>
              <a:t>8 B</a:t>
            </a:r>
          </a:p>
        </p:txBody>
      </p:sp>
      <p:sp>
        <p:nvSpPr>
          <p:cNvPr id="13" name="TextBox 12"/>
          <p:cNvSpPr txBox="1"/>
          <p:nvPr/>
        </p:nvSpPr>
        <p:spPr>
          <a:xfrm>
            <a:off x="548640" y="2331720"/>
            <a:ext cx="2773603" cy="347472"/>
          </a:xfrm>
          <a:prstGeom prst="rect">
            <a:avLst/>
          </a:prstGeom>
          <a:noFill/>
        </p:spPr>
        <p:txBody>
          <a:bodyPr wrap="square" lIns="0" rIns="0" tIns="0" bIns="0" anchor="ctr">
            <a:spAutoFit/>
          </a:bodyPr>
          <a:lstStyle/>
          <a:p>
            <a:pPr algn="ctr"/>
            <a:r>
              <a:rPr sz="1400" b="0" i="0">
                <a:solidFill>
                  <a:srgbClr val="FFFFFF"/>
                </a:solidFill>
                <a:latin typeface="Calibri"/>
              </a:rPr>
              <a:t>header</a:t>
            </a:r>
          </a:p>
        </p:txBody>
      </p:sp>
      <p:sp>
        <p:nvSpPr>
          <p:cNvPr id="14" name="Rectangle 13"/>
          <p:cNvSpPr/>
          <p:nvPr/>
        </p:nvSpPr>
        <p:spPr>
          <a:xfrm>
            <a:off x="3322243" y="1463040"/>
            <a:ext cx="2773603" cy="1463040"/>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663457" y="1463040"/>
            <a:ext cx="10972" cy="182880"/>
          </a:xfrm>
          <a:prstGeom prst="rect">
            <a:avLst/>
          </a:prstGeom>
          <a:solidFill>
            <a:srgbClr val="7FB4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010158" y="1463040"/>
            <a:ext cx="10972" cy="182880"/>
          </a:xfrm>
          <a:prstGeom prst="rect">
            <a:avLst/>
          </a:prstGeom>
          <a:solidFill>
            <a:srgbClr val="7FB4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56858" y="1463040"/>
            <a:ext cx="10972" cy="182880"/>
          </a:xfrm>
          <a:prstGeom prst="rect">
            <a:avLst/>
          </a:prstGeom>
          <a:solidFill>
            <a:srgbClr val="7FB4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703559" y="1463040"/>
            <a:ext cx="10972" cy="182880"/>
          </a:xfrm>
          <a:prstGeom prst="rect">
            <a:avLst/>
          </a:prstGeom>
          <a:solidFill>
            <a:srgbClr val="7FB4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050259" y="1463040"/>
            <a:ext cx="10972" cy="182880"/>
          </a:xfrm>
          <a:prstGeom prst="rect">
            <a:avLst/>
          </a:prstGeom>
          <a:solidFill>
            <a:srgbClr val="7FB4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396960" y="1463040"/>
            <a:ext cx="10972" cy="182880"/>
          </a:xfrm>
          <a:prstGeom prst="rect">
            <a:avLst/>
          </a:prstGeom>
          <a:solidFill>
            <a:srgbClr val="7FB4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743660" y="1463040"/>
            <a:ext cx="10972" cy="182880"/>
          </a:xfrm>
          <a:prstGeom prst="rect">
            <a:avLst/>
          </a:prstGeom>
          <a:solidFill>
            <a:srgbClr val="7FB4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322243" y="1792224"/>
            <a:ext cx="2773603" cy="512064"/>
          </a:xfrm>
          <a:prstGeom prst="rect">
            <a:avLst/>
          </a:prstGeom>
          <a:noFill/>
        </p:spPr>
        <p:txBody>
          <a:bodyPr wrap="square" lIns="0" rIns="0" tIns="0" bIns="0" anchor="ctr">
            <a:spAutoFit/>
          </a:bodyPr>
          <a:lstStyle/>
          <a:p>
            <a:pPr algn="ctr"/>
            <a:r>
              <a:rPr sz="3600" b="1" i="0">
                <a:solidFill>
                  <a:srgbClr val="FFFFFF"/>
                </a:solidFill>
                <a:latin typeface="Cambria"/>
              </a:rPr>
              <a:t>8 B</a:t>
            </a:r>
          </a:p>
        </p:txBody>
      </p:sp>
      <p:sp>
        <p:nvSpPr>
          <p:cNvPr id="23" name="TextBox 22"/>
          <p:cNvSpPr txBox="1"/>
          <p:nvPr/>
        </p:nvSpPr>
        <p:spPr>
          <a:xfrm>
            <a:off x="3322243" y="2331720"/>
            <a:ext cx="2773603" cy="347472"/>
          </a:xfrm>
          <a:prstGeom prst="rect">
            <a:avLst/>
          </a:prstGeom>
          <a:noFill/>
        </p:spPr>
        <p:txBody>
          <a:bodyPr wrap="square" lIns="0" rIns="0" tIns="0" bIns="0" anchor="ctr">
            <a:spAutoFit/>
          </a:bodyPr>
          <a:lstStyle/>
          <a:p>
            <a:pPr algn="ctr"/>
            <a:r>
              <a:rPr sz="1400" b="0" i="0">
                <a:solidFill>
                  <a:srgbClr val="FFFFFF"/>
                </a:solidFill>
                <a:latin typeface="Calibri"/>
              </a:rPr>
              <a:t>encrypted payload</a:t>
            </a:r>
          </a:p>
        </p:txBody>
      </p:sp>
      <p:sp>
        <p:nvSpPr>
          <p:cNvPr id="24" name="Rectangle 23"/>
          <p:cNvSpPr/>
          <p:nvPr/>
        </p:nvSpPr>
        <p:spPr>
          <a:xfrm>
            <a:off x="6095847" y="1463040"/>
            <a:ext cx="5547207" cy="1463040"/>
          </a:xfrm>
          <a:prstGeom prst="rect">
            <a:avLst/>
          </a:prstGeom>
          <a:solidFill>
            <a:srgbClr val="E0A3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437061" y="1463040"/>
            <a:ext cx="10972" cy="182880"/>
          </a:xfrm>
          <a:prstGeom prst="rect">
            <a:avLst/>
          </a:prstGeom>
          <a:solidFill>
            <a:srgbClr val="B27F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783762" y="1463040"/>
            <a:ext cx="10972" cy="182880"/>
          </a:xfrm>
          <a:prstGeom prst="rect">
            <a:avLst/>
          </a:prstGeom>
          <a:solidFill>
            <a:srgbClr val="B27F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130462" y="1463040"/>
            <a:ext cx="10972" cy="182880"/>
          </a:xfrm>
          <a:prstGeom prst="rect">
            <a:avLst/>
          </a:prstGeom>
          <a:solidFill>
            <a:srgbClr val="B27F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477163" y="1463040"/>
            <a:ext cx="10972" cy="182880"/>
          </a:xfrm>
          <a:prstGeom prst="rect">
            <a:avLst/>
          </a:prstGeom>
          <a:solidFill>
            <a:srgbClr val="B27F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823863" y="1463040"/>
            <a:ext cx="10972" cy="182880"/>
          </a:xfrm>
          <a:prstGeom prst="rect">
            <a:avLst/>
          </a:prstGeom>
          <a:solidFill>
            <a:srgbClr val="B27F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8170564" y="1463040"/>
            <a:ext cx="10972" cy="182880"/>
          </a:xfrm>
          <a:prstGeom prst="rect">
            <a:avLst/>
          </a:prstGeom>
          <a:solidFill>
            <a:srgbClr val="B27F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8517264" y="1463040"/>
            <a:ext cx="10972" cy="182880"/>
          </a:xfrm>
          <a:prstGeom prst="rect">
            <a:avLst/>
          </a:prstGeom>
          <a:solidFill>
            <a:srgbClr val="B27F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8863965" y="1463040"/>
            <a:ext cx="10972" cy="182880"/>
          </a:xfrm>
          <a:prstGeom prst="rect">
            <a:avLst/>
          </a:prstGeom>
          <a:solidFill>
            <a:srgbClr val="B27F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9210665" y="1463040"/>
            <a:ext cx="10972" cy="182880"/>
          </a:xfrm>
          <a:prstGeom prst="rect">
            <a:avLst/>
          </a:prstGeom>
          <a:solidFill>
            <a:srgbClr val="B27F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9557365" y="1463040"/>
            <a:ext cx="10972" cy="182880"/>
          </a:xfrm>
          <a:prstGeom prst="rect">
            <a:avLst/>
          </a:prstGeom>
          <a:solidFill>
            <a:srgbClr val="B27F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9904066" y="1463040"/>
            <a:ext cx="10972" cy="182880"/>
          </a:xfrm>
          <a:prstGeom prst="rect">
            <a:avLst/>
          </a:prstGeom>
          <a:solidFill>
            <a:srgbClr val="B27F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10250766" y="1463040"/>
            <a:ext cx="10972" cy="182880"/>
          </a:xfrm>
          <a:prstGeom prst="rect">
            <a:avLst/>
          </a:prstGeom>
          <a:solidFill>
            <a:srgbClr val="B27F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10597467" y="1463040"/>
            <a:ext cx="10972" cy="182880"/>
          </a:xfrm>
          <a:prstGeom prst="rect">
            <a:avLst/>
          </a:prstGeom>
          <a:solidFill>
            <a:srgbClr val="B27F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10944167" y="1463040"/>
            <a:ext cx="10972" cy="182880"/>
          </a:xfrm>
          <a:prstGeom prst="rect">
            <a:avLst/>
          </a:prstGeom>
          <a:solidFill>
            <a:srgbClr val="B27F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11290868" y="1463040"/>
            <a:ext cx="10972" cy="182880"/>
          </a:xfrm>
          <a:prstGeom prst="rect">
            <a:avLst/>
          </a:prstGeom>
          <a:solidFill>
            <a:srgbClr val="B27F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095847" y="1792224"/>
            <a:ext cx="5547207" cy="512064"/>
          </a:xfrm>
          <a:prstGeom prst="rect">
            <a:avLst/>
          </a:prstGeom>
          <a:noFill/>
        </p:spPr>
        <p:txBody>
          <a:bodyPr wrap="square" lIns="0" rIns="0" tIns="0" bIns="0" anchor="ctr">
            <a:spAutoFit/>
          </a:bodyPr>
          <a:lstStyle/>
          <a:p>
            <a:pPr algn="ctr"/>
            <a:r>
              <a:rPr sz="3600" b="1" i="0">
                <a:solidFill>
                  <a:srgbClr val="0C2231"/>
                </a:solidFill>
                <a:latin typeface="Cambria"/>
              </a:rPr>
              <a:t>16 B</a:t>
            </a:r>
          </a:p>
        </p:txBody>
      </p:sp>
      <p:sp>
        <p:nvSpPr>
          <p:cNvPr id="41" name="TextBox 40"/>
          <p:cNvSpPr txBox="1"/>
          <p:nvPr/>
        </p:nvSpPr>
        <p:spPr>
          <a:xfrm>
            <a:off x="6095847" y="2331720"/>
            <a:ext cx="5547207" cy="347472"/>
          </a:xfrm>
          <a:prstGeom prst="rect">
            <a:avLst/>
          </a:prstGeom>
          <a:noFill/>
        </p:spPr>
        <p:txBody>
          <a:bodyPr wrap="square" lIns="0" rIns="0" tIns="0" bIns="0" anchor="ctr">
            <a:spAutoFit/>
          </a:bodyPr>
          <a:lstStyle/>
          <a:p>
            <a:pPr algn="ctr"/>
            <a:r>
              <a:rPr sz="1400" b="0" i="0">
                <a:solidFill>
                  <a:srgbClr val="0C2231"/>
                </a:solidFill>
                <a:latin typeface="Calibri"/>
              </a:rPr>
              <a:t>Poly1305 tag</a:t>
            </a:r>
          </a:p>
        </p:txBody>
      </p:sp>
      <p:sp>
        <p:nvSpPr>
          <p:cNvPr id="42" name="TextBox 41"/>
          <p:cNvSpPr txBox="1"/>
          <p:nvPr/>
        </p:nvSpPr>
        <p:spPr>
          <a:xfrm>
            <a:off x="548640" y="2999232"/>
            <a:ext cx="11094415" cy="256032"/>
          </a:xfrm>
          <a:prstGeom prst="rect">
            <a:avLst/>
          </a:prstGeom>
          <a:noFill/>
        </p:spPr>
        <p:txBody>
          <a:bodyPr wrap="square" lIns="0" rIns="0" tIns="0" bIns="0" anchor="t">
            <a:spAutoFit/>
          </a:bodyPr>
          <a:lstStyle/>
          <a:p>
            <a:pPr algn="ctr"/>
            <a:r>
              <a:rPr sz="1000" b="0" i="1">
                <a:solidFill>
                  <a:srgbClr val="5E7686"/>
                </a:solidFill>
                <a:latin typeface="Calibri"/>
              </a:rPr>
              <a:t>one tick per byte · 32 B is the nRF24 physical payload limit</a:t>
            </a:r>
          </a:p>
        </p:txBody>
      </p:sp>
      <p:sp>
        <p:nvSpPr>
          <p:cNvPr id="43" name="Rectangle 42"/>
          <p:cNvSpPr/>
          <p:nvPr/>
        </p:nvSpPr>
        <p:spPr>
          <a:xfrm>
            <a:off x="548640" y="3364992"/>
            <a:ext cx="5943600" cy="310896"/>
          </a:xfrm>
          <a:prstGeom prst="rect">
            <a:avLst/>
          </a:prstGeom>
          <a:solidFill>
            <a:srgbClr val="0C22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21792" y="3364992"/>
            <a:ext cx="2509485" cy="310896"/>
          </a:xfrm>
          <a:prstGeom prst="rect">
            <a:avLst/>
          </a:prstGeom>
          <a:noFill/>
        </p:spPr>
        <p:txBody>
          <a:bodyPr wrap="square" lIns="0" rIns="0" tIns="0" bIns="0" anchor="ctr">
            <a:spAutoFit/>
          </a:bodyPr>
          <a:lstStyle/>
          <a:p>
            <a:pPr algn="l"/>
            <a:r>
              <a:rPr sz="1000" b="1" i="0">
                <a:solidFill>
                  <a:srgbClr val="FFFFFF"/>
                </a:solidFill>
                <a:latin typeface="Calibri"/>
              </a:rPr>
              <a:t>Quantity</a:t>
            </a:r>
          </a:p>
        </p:txBody>
      </p:sp>
      <p:sp>
        <p:nvSpPr>
          <p:cNvPr id="45" name="TextBox 44"/>
          <p:cNvSpPr txBox="1"/>
          <p:nvPr/>
        </p:nvSpPr>
        <p:spPr>
          <a:xfrm>
            <a:off x="3241005" y="3364992"/>
            <a:ext cx="1199878" cy="310896"/>
          </a:xfrm>
          <a:prstGeom prst="rect">
            <a:avLst/>
          </a:prstGeom>
          <a:noFill/>
        </p:spPr>
        <p:txBody>
          <a:bodyPr wrap="square" lIns="0" rIns="0" tIns="0" bIns="0" anchor="ctr">
            <a:spAutoFit/>
          </a:bodyPr>
          <a:lstStyle/>
          <a:p>
            <a:pPr algn="ctr"/>
            <a:r>
              <a:rPr sz="1000" b="1" i="0">
                <a:solidFill>
                  <a:srgbClr val="FFFFFF"/>
                </a:solidFill>
                <a:latin typeface="Calibri"/>
              </a:rPr>
              <a:t>Value</a:t>
            </a:r>
          </a:p>
        </p:txBody>
      </p:sp>
      <p:sp>
        <p:nvSpPr>
          <p:cNvPr id="46" name="TextBox 45"/>
          <p:cNvSpPr txBox="1"/>
          <p:nvPr/>
        </p:nvSpPr>
        <p:spPr>
          <a:xfrm>
            <a:off x="4550612" y="3364992"/>
            <a:ext cx="1905051" cy="310896"/>
          </a:xfrm>
          <a:prstGeom prst="rect">
            <a:avLst/>
          </a:prstGeom>
          <a:noFill/>
        </p:spPr>
        <p:txBody>
          <a:bodyPr wrap="square" lIns="0" rIns="0" tIns="0" bIns="0" anchor="ctr">
            <a:spAutoFit/>
          </a:bodyPr>
          <a:lstStyle/>
          <a:p>
            <a:pPr algn="ctr"/>
            <a:r>
              <a:rPr sz="1000" b="1" i="0">
                <a:solidFill>
                  <a:srgbClr val="FFFFFF"/>
                </a:solidFill>
                <a:latin typeface="Calibri"/>
              </a:rPr>
              <a:t>Derivation</a:t>
            </a:r>
          </a:p>
        </p:txBody>
      </p:sp>
      <p:sp>
        <p:nvSpPr>
          <p:cNvPr id="47" name="Rectangle 46"/>
          <p:cNvSpPr/>
          <p:nvPr/>
        </p:nvSpPr>
        <p:spPr>
          <a:xfrm>
            <a:off x="548640" y="3675888"/>
            <a:ext cx="5943600" cy="310896"/>
          </a:xfrm>
          <a:prstGeom prst="rect">
            <a:avLst/>
          </a:prstGeom>
          <a:solidFill>
            <a:srgbClr val="EDF2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621792" y="3675888"/>
            <a:ext cx="2509485" cy="310896"/>
          </a:xfrm>
          <a:prstGeom prst="rect">
            <a:avLst/>
          </a:prstGeom>
          <a:noFill/>
        </p:spPr>
        <p:txBody>
          <a:bodyPr wrap="square" lIns="0" rIns="0" tIns="0" bIns="0" anchor="ctr">
            <a:spAutoFit/>
          </a:bodyPr>
          <a:lstStyle/>
          <a:p>
            <a:pPr algn="l"/>
            <a:r>
              <a:rPr sz="1100" b="1" i="0">
                <a:solidFill>
                  <a:srgbClr val="0C2231"/>
                </a:solidFill>
                <a:latin typeface="Calibri"/>
              </a:rPr>
              <a:t>Application efficiency</a:t>
            </a:r>
          </a:p>
        </p:txBody>
      </p:sp>
      <p:sp>
        <p:nvSpPr>
          <p:cNvPr id="49" name="TextBox 48"/>
          <p:cNvSpPr txBox="1"/>
          <p:nvPr/>
        </p:nvSpPr>
        <p:spPr>
          <a:xfrm>
            <a:off x="3241005" y="3675888"/>
            <a:ext cx="1199878" cy="310896"/>
          </a:xfrm>
          <a:prstGeom prst="rect">
            <a:avLst/>
          </a:prstGeom>
          <a:noFill/>
        </p:spPr>
        <p:txBody>
          <a:bodyPr wrap="square" lIns="0" rIns="0" tIns="0" bIns="0" anchor="ctr">
            <a:spAutoFit/>
          </a:bodyPr>
          <a:lstStyle/>
          <a:p>
            <a:pPr algn="ctr"/>
            <a:r>
              <a:rPr sz="1100" b="0" i="0">
                <a:solidFill>
                  <a:srgbClr val="1F3644"/>
                </a:solidFill>
                <a:latin typeface="Courier New"/>
              </a:rPr>
              <a:t>25 %</a:t>
            </a:r>
          </a:p>
        </p:txBody>
      </p:sp>
      <p:sp>
        <p:nvSpPr>
          <p:cNvPr id="50" name="TextBox 49"/>
          <p:cNvSpPr txBox="1"/>
          <p:nvPr/>
        </p:nvSpPr>
        <p:spPr>
          <a:xfrm>
            <a:off x="4550612" y="3675888"/>
            <a:ext cx="1905051" cy="310896"/>
          </a:xfrm>
          <a:prstGeom prst="rect">
            <a:avLst/>
          </a:prstGeom>
          <a:noFill/>
        </p:spPr>
        <p:txBody>
          <a:bodyPr wrap="square" lIns="0" rIns="0" tIns="0" bIns="0" anchor="ctr">
            <a:spAutoFit/>
          </a:bodyPr>
          <a:lstStyle/>
          <a:p>
            <a:pPr algn="ctr"/>
            <a:r>
              <a:rPr sz="1100" b="0" i="0">
                <a:solidFill>
                  <a:srgbClr val="1F3644"/>
                </a:solidFill>
                <a:latin typeface="Courier New"/>
              </a:rPr>
              <a:t>8 B of 32 B</a:t>
            </a:r>
          </a:p>
        </p:txBody>
      </p:sp>
      <p:sp>
        <p:nvSpPr>
          <p:cNvPr id="51" name="Rectangle 50"/>
          <p:cNvSpPr/>
          <p:nvPr/>
        </p:nvSpPr>
        <p:spPr>
          <a:xfrm>
            <a:off x="548640" y="3986784"/>
            <a:ext cx="5943600" cy="31089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621792" y="3986784"/>
            <a:ext cx="2509485" cy="310896"/>
          </a:xfrm>
          <a:prstGeom prst="rect">
            <a:avLst/>
          </a:prstGeom>
          <a:noFill/>
        </p:spPr>
        <p:txBody>
          <a:bodyPr wrap="square" lIns="0" rIns="0" tIns="0" bIns="0" anchor="ctr">
            <a:spAutoFit/>
          </a:bodyPr>
          <a:lstStyle/>
          <a:p>
            <a:pPr algn="l"/>
            <a:r>
              <a:rPr sz="1100" b="1" i="0">
                <a:solidFill>
                  <a:srgbClr val="0C2231"/>
                </a:solidFill>
                <a:latin typeface="Calibri"/>
              </a:rPr>
              <a:t>Max fragments</a:t>
            </a:r>
          </a:p>
        </p:txBody>
      </p:sp>
      <p:sp>
        <p:nvSpPr>
          <p:cNvPr id="53" name="TextBox 52"/>
          <p:cNvSpPr txBox="1"/>
          <p:nvPr/>
        </p:nvSpPr>
        <p:spPr>
          <a:xfrm>
            <a:off x="3241005" y="3986784"/>
            <a:ext cx="1199878" cy="310896"/>
          </a:xfrm>
          <a:prstGeom prst="rect">
            <a:avLst/>
          </a:prstGeom>
          <a:noFill/>
        </p:spPr>
        <p:txBody>
          <a:bodyPr wrap="square" lIns="0" rIns="0" tIns="0" bIns="0" anchor="ctr">
            <a:spAutoFit/>
          </a:bodyPr>
          <a:lstStyle/>
          <a:p>
            <a:pPr algn="ctr"/>
            <a:r>
              <a:rPr sz="1100" b="0" i="0">
                <a:solidFill>
                  <a:srgbClr val="1F3644"/>
                </a:solidFill>
                <a:latin typeface="Courier New"/>
              </a:rPr>
              <a:t>16</a:t>
            </a:r>
          </a:p>
        </p:txBody>
      </p:sp>
      <p:sp>
        <p:nvSpPr>
          <p:cNvPr id="54" name="TextBox 53"/>
          <p:cNvSpPr txBox="1"/>
          <p:nvPr/>
        </p:nvSpPr>
        <p:spPr>
          <a:xfrm>
            <a:off x="4550612" y="3986784"/>
            <a:ext cx="1905051" cy="310896"/>
          </a:xfrm>
          <a:prstGeom prst="rect">
            <a:avLst/>
          </a:prstGeom>
          <a:noFill/>
        </p:spPr>
        <p:txBody>
          <a:bodyPr wrap="square" lIns="0" rIns="0" tIns="0" bIns="0" anchor="ctr">
            <a:spAutoFit/>
          </a:bodyPr>
          <a:lstStyle/>
          <a:p>
            <a:pPr algn="ctr"/>
            <a:r>
              <a:rPr sz="1100" b="0" i="0">
                <a:solidFill>
                  <a:srgbClr val="1F3644"/>
                </a:solidFill>
                <a:latin typeface="Courier New"/>
              </a:rPr>
              <a:t>4-bit index</a:t>
            </a:r>
          </a:p>
        </p:txBody>
      </p:sp>
      <p:sp>
        <p:nvSpPr>
          <p:cNvPr id="55" name="Rectangle 54"/>
          <p:cNvSpPr/>
          <p:nvPr/>
        </p:nvSpPr>
        <p:spPr>
          <a:xfrm>
            <a:off x="548640" y="4297680"/>
            <a:ext cx="5943600" cy="310896"/>
          </a:xfrm>
          <a:prstGeom prst="rect">
            <a:avLst/>
          </a:prstGeom>
          <a:solidFill>
            <a:srgbClr val="EDF2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621792" y="4297680"/>
            <a:ext cx="2509485" cy="310896"/>
          </a:xfrm>
          <a:prstGeom prst="rect">
            <a:avLst/>
          </a:prstGeom>
          <a:noFill/>
        </p:spPr>
        <p:txBody>
          <a:bodyPr wrap="square" lIns="0" rIns="0" tIns="0" bIns="0" anchor="ctr">
            <a:spAutoFit/>
          </a:bodyPr>
          <a:lstStyle/>
          <a:p>
            <a:pPr algn="l"/>
            <a:r>
              <a:rPr sz="1100" b="1" i="0">
                <a:solidFill>
                  <a:srgbClr val="0C2231"/>
                </a:solidFill>
                <a:latin typeface="Calibri"/>
              </a:rPr>
              <a:t>Max logical payload</a:t>
            </a:r>
          </a:p>
        </p:txBody>
      </p:sp>
      <p:sp>
        <p:nvSpPr>
          <p:cNvPr id="57" name="TextBox 56"/>
          <p:cNvSpPr txBox="1"/>
          <p:nvPr/>
        </p:nvSpPr>
        <p:spPr>
          <a:xfrm>
            <a:off x="3241005" y="4297680"/>
            <a:ext cx="1199878" cy="310896"/>
          </a:xfrm>
          <a:prstGeom prst="rect">
            <a:avLst/>
          </a:prstGeom>
          <a:noFill/>
        </p:spPr>
        <p:txBody>
          <a:bodyPr wrap="square" lIns="0" rIns="0" tIns="0" bIns="0" anchor="ctr">
            <a:spAutoFit/>
          </a:bodyPr>
          <a:lstStyle/>
          <a:p>
            <a:pPr algn="ctr"/>
            <a:r>
              <a:rPr sz="1100" b="0" i="0">
                <a:solidFill>
                  <a:srgbClr val="1F3644"/>
                </a:solidFill>
                <a:latin typeface="Courier New"/>
              </a:rPr>
              <a:t>128 B</a:t>
            </a:r>
          </a:p>
        </p:txBody>
      </p:sp>
      <p:sp>
        <p:nvSpPr>
          <p:cNvPr id="58" name="TextBox 57"/>
          <p:cNvSpPr txBox="1"/>
          <p:nvPr/>
        </p:nvSpPr>
        <p:spPr>
          <a:xfrm>
            <a:off x="4550612" y="4297680"/>
            <a:ext cx="1905051" cy="310896"/>
          </a:xfrm>
          <a:prstGeom prst="rect">
            <a:avLst/>
          </a:prstGeom>
          <a:noFill/>
        </p:spPr>
        <p:txBody>
          <a:bodyPr wrap="square" lIns="0" rIns="0" tIns="0" bIns="0" anchor="ctr">
            <a:spAutoFit/>
          </a:bodyPr>
          <a:lstStyle/>
          <a:p>
            <a:pPr algn="ctr"/>
            <a:r>
              <a:rPr sz="1100" b="0" i="0">
                <a:solidFill>
                  <a:srgbClr val="1F3644"/>
                </a:solidFill>
                <a:latin typeface="Courier New"/>
              </a:rPr>
              <a:t>16 × 8 B</a:t>
            </a:r>
          </a:p>
        </p:txBody>
      </p:sp>
      <p:sp>
        <p:nvSpPr>
          <p:cNvPr id="59" name="Rectangle 58"/>
          <p:cNvSpPr/>
          <p:nvPr/>
        </p:nvSpPr>
        <p:spPr>
          <a:xfrm>
            <a:off x="548640" y="4608576"/>
            <a:ext cx="5943600" cy="31089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621792" y="4608576"/>
            <a:ext cx="2509485" cy="310896"/>
          </a:xfrm>
          <a:prstGeom prst="rect">
            <a:avLst/>
          </a:prstGeom>
          <a:noFill/>
        </p:spPr>
        <p:txBody>
          <a:bodyPr wrap="square" lIns="0" rIns="0" tIns="0" bIns="0" anchor="ctr">
            <a:spAutoFit/>
          </a:bodyPr>
          <a:lstStyle/>
          <a:p>
            <a:pPr algn="l"/>
            <a:r>
              <a:rPr sz="1100" b="1" i="0">
                <a:solidFill>
                  <a:srgbClr val="0C2231"/>
                </a:solidFill>
                <a:latin typeface="Calibri"/>
              </a:rPr>
              <a:t>Frame air time</a:t>
            </a:r>
          </a:p>
        </p:txBody>
      </p:sp>
      <p:sp>
        <p:nvSpPr>
          <p:cNvPr id="61" name="TextBox 60"/>
          <p:cNvSpPr txBox="1"/>
          <p:nvPr/>
        </p:nvSpPr>
        <p:spPr>
          <a:xfrm>
            <a:off x="3241005" y="4608576"/>
            <a:ext cx="1199878" cy="310896"/>
          </a:xfrm>
          <a:prstGeom prst="rect">
            <a:avLst/>
          </a:prstGeom>
          <a:noFill/>
        </p:spPr>
        <p:txBody>
          <a:bodyPr wrap="square" lIns="0" rIns="0" tIns="0" bIns="0" anchor="ctr">
            <a:spAutoFit/>
          </a:bodyPr>
          <a:lstStyle/>
          <a:p>
            <a:pPr algn="ctr"/>
            <a:r>
              <a:rPr sz="1100" b="0" i="0">
                <a:solidFill>
                  <a:srgbClr val="1F3644"/>
                </a:solidFill>
                <a:latin typeface="Courier New"/>
              </a:rPr>
              <a:t>256 µs</a:t>
            </a:r>
          </a:p>
        </p:txBody>
      </p:sp>
      <p:sp>
        <p:nvSpPr>
          <p:cNvPr id="62" name="TextBox 61"/>
          <p:cNvSpPr txBox="1"/>
          <p:nvPr/>
        </p:nvSpPr>
        <p:spPr>
          <a:xfrm>
            <a:off x="4550612" y="4608576"/>
            <a:ext cx="1905051" cy="310896"/>
          </a:xfrm>
          <a:prstGeom prst="rect">
            <a:avLst/>
          </a:prstGeom>
          <a:noFill/>
        </p:spPr>
        <p:txBody>
          <a:bodyPr wrap="square" lIns="0" rIns="0" tIns="0" bIns="0" anchor="ctr">
            <a:spAutoFit/>
          </a:bodyPr>
          <a:lstStyle/>
          <a:p>
            <a:pPr algn="ctr"/>
            <a:r>
              <a:rPr sz="1100" b="0" i="0">
                <a:solidFill>
                  <a:srgbClr val="1F3644"/>
                </a:solidFill>
                <a:latin typeface="Courier New"/>
              </a:rPr>
              <a:t>256 bit at 1 Mbit/s</a:t>
            </a:r>
          </a:p>
        </p:txBody>
      </p:sp>
      <p:sp>
        <p:nvSpPr>
          <p:cNvPr id="63" name="Rectangle 62"/>
          <p:cNvSpPr/>
          <p:nvPr/>
        </p:nvSpPr>
        <p:spPr>
          <a:xfrm>
            <a:off x="548640" y="4919472"/>
            <a:ext cx="5943600" cy="310896"/>
          </a:xfrm>
          <a:prstGeom prst="rect">
            <a:avLst/>
          </a:prstGeom>
          <a:solidFill>
            <a:srgbClr val="EDF2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621792" y="4919472"/>
            <a:ext cx="2509485" cy="310896"/>
          </a:xfrm>
          <a:prstGeom prst="rect">
            <a:avLst/>
          </a:prstGeom>
          <a:noFill/>
        </p:spPr>
        <p:txBody>
          <a:bodyPr wrap="square" lIns="0" rIns="0" tIns="0" bIns="0" anchor="ctr">
            <a:spAutoFit/>
          </a:bodyPr>
          <a:lstStyle/>
          <a:p>
            <a:pPr algn="l"/>
            <a:r>
              <a:rPr sz="1100" b="1" i="0">
                <a:solidFill>
                  <a:srgbClr val="0C2231"/>
                </a:solidFill>
                <a:latin typeface="Calibri"/>
              </a:rPr>
              <a:t>With PHY overhead</a:t>
            </a:r>
          </a:p>
        </p:txBody>
      </p:sp>
      <p:sp>
        <p:nvSpPr>
          <p:cNvPr id="65" name="TextBox 64"/>
          <p:cNvSpPr txBox="1"/>
          <p:nvPr/>
        </p:nvSpPr>
        <p:spPr>
          <a:xfrm>
            <a:off x="3241005" y="4919472"/>
            <a:ext cx="1199878" cy="310896"/>
          </a:xfrm>
          <a:prstGeom prst="rect">
            <a:avLst/>
          </a:prstGeom>
          <a:noFill/>
        </p:spPr>
        <p:txBody>
          <a:bodyPr wrap="square" lIns="0" rIns="0" tIns="0" bIns="0" anchor="ctr">
            <a:spAutoFit/>
          </a:bodyPr>
          <a:lstStyle/>
          <a:p>
            <a:pPr algn="ctr"/>
            <a:r>
              <a:rPr sz="1100" b="0" i="0">
                <a:solidFill>
                  <a:srgbClr val="1F3644"/>
                </a:solidFill>
                <a:latin typeface="Courier New"/>
              </a:rPr>
              <a:t>320 µs</a:t>
            </a:r>
          </a:p>
        </p:txBody>
      </p:sp>
      <p:sp>
        <p:nvSpPr>
          <p:cNvPr id="66" name="TextBox 65"/>
          <p:cNvSpPr txBox="1"/>
          <p:nvPr/>
        </p:nvSpPr>
        <p:spPr>
          <a:xfrm>
            <a:off x="4550612" y="4919472"/>
            <a:ext cx="1905051" cy="310896"/>
          </a:xfrm>
          <a:prstGeom prst="rect">
            <a:avLst/>
          </a:prstGeom>
          <a:noFill/>
        </p:spPr>
        <p:txBody>
          <a:bodyPr wrap="square" lIns="0" rIns="0" tIns="0" bIns="0" anchor="ctr">
            <a:spAutoFit/>
          </a:bodyPr>
          <a:lstStyle/>
          <a:p>
            <a:pPr algn="ctr"/>
            <a:r>
              <a:rPr sz="1100" b="0" i="0">
                <a:solidFill>
                  <a:srgbClr val="1F3644"/>
                </a:solidFill>
                <a:latin typeface="Courier New"/>
              </a:rPr>
              <a:t>+8 B preamble, addr, CRC</a:t>
            </a:r>
          </a:p>
        </p:txBody>
      </p:sp>
      <p:sp>
        <p:nvSpPr>
          <p:cNvPr id="67" name="TextBox 66"/>
          <p:cNvSpPr txBox="1"/>
          <p:nvPr/>
        </p:nvSpPr>
        <p:spPr>
          <a:xfrm>
            <a:off x="548640" y="5413248"/>
            <a:ext cx="5943600" cy="566928"/>
          </a:xfrm>
          <a:prstGeom prst="rect">
            <a:avLst/>
          </a:prstGeom>
          <a:noFill/>
        </p:spPr>
        <p:txBody>
          <a:bodyPr wrap="square" lIns="0" rIns="0" tIns="0" bIns="0" anchor="t">
            <a:spAutoFit/>
          </a:bodyPr>
          <a:lstStyle/>
          <a:p>
            <a:pPr algn="l">
              <a:lnSpc>
                <a:spcPct val="115000"/>
              </a:lnSpc>
            </a:pPr>
            <a:r>
              <a:rPr sz="1200" b="0" i="0">
                <a:solidFill>
                  <a:srgbClr val="1F3644"/>
                </a:solidFill>
                <a:latin typeface="Calibri"/>
              </a:rPr>
              <a:t>The 8 encrypted bytes carry x/y position, vehicle depth, bottom depth, battery, link quality, leak flag and GNSS availability, packed into 64 bits.</a:t>
            </a:r>
          </a:p>
        </p:txBody>
      </p:sp>
      <p:sp>
        <p:nvSpPr>
          <p:cNvPr id="68" name="Rounded Rectangle 67"/>
          <p:cNvSpPr/>
          <p:nvPr/>
        </p:nvSpPr>
        <p:spPr>
          <a:xfrm>
            <a:off x="6537960" y="3364992"/>
            <a:ext cx="5074920" cy="1920240"/>
          </a:xfrm>
          <a:prstGeom prst="roundRect">
            <a:avLst>
              <a:gd name="adj" fmla="val 2142"/>
            </a:avLst>
          </a:prstGeom>
          <a:solidFill>
            <a:srgbClr val="E2EBF0"/>
          </a:solidFill>
          <a:ln>
            <a:noFill/>
          </a:ln>
          <a:effectLst>
            <a:outerShdw blurRad="88900" dist="12700" dir="5400000" rotWithShape="0">
              <a:srgbClr val="9FB3C0">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6784848" y="3493008"/>
            <a:ext cx="4572000" cy="310896"/>
          </a:xfrm>
          <a:prstGeom prst="rect">
            <a:avLst/>
          </a:prstGeom>
          <a:noFill/>
        </p:spPr>
        <p:txBody>
          <a:bodyPr wrap="square" lIns="0" rIns="0" tIns="0" bIns="0" anchor="t">
            <a:spAutoFit/>
          </a:bodyPr>
          <a:lstStyle/>
          <a:p>
            <a:pPr algn="l"/>
            <a:r>
              <a:rPr sz="1400" b="1" i="0">
                <a:solidFill>
                  <a:srgbClr val="065A82"/>
                </a:solidFill>
                <a:latin typeface="Calibri"/>
              </a:rPr>
              <a:t>Cryptographic construction</a:t>
            </a:r>
          </a:p>
        </p:txBody>
      </p:sp>
      <p:sp>
        <p:nvSpPr>
          <p:cNvPr id="70" name="TextBox 69"/>
          <p:cNvSpPr txBox="1"/>
          <p:nvPr/>
        </p:nvSpPr>
        <p:spPr>
          <a:xfrm>
            <a:off x="6784848" y="3858768"/>
            <a:ext cx="4572000" cy="1325880"/>
          </a:xfrm>
          <a:prstGeom prst="rect">
            <a:avLst/>
          </a:prstGeom>
          <a:noFill/>
        </p:spPr>
        <p:txBody>
          <a:bodyPr wrap="square" lIns="0" rIns="0" tIns="0" bIns="0" anchor="t">
            <a:spAutoFit/>
          </a:bodyPr>
          <a:lstStyle/>
          <a:p>
            <a:pPr algn="l" marL="171450" indent="-171450">
              <a:lnSpc>
                <a:spcPct val="106000"/>
              </a:lnSpc>
              <a:spcAft>
                <a:spcPts val="400"/>
              </a:spcAft>
              <a:buFont typeface="Arial"/>
              <a:buChar char="•"/>
            </a:pPr>
            <a:r>
              <a:rPr sz="1150" b="0" i="0">
                <a:solidFill>
                  <a:srgbClr val="1F3644"/>
                </a:solidFill>
                <a:latin typeface="Calibri"/>
              </a:rPr>
              <a:t>256-bit per-mission master key; HKDF-SHA-256 derives separate encryption, routing and fingerprint material.</a:t>
            </a:r>
          </a:p>
          <a:p>
            <a:pPr marL="171450" indent="-171450">
              <a:lnSpc>
                <a:spcPct val="106000"/>
              </a:lnSpc>
              <a:spcAft>
                <a:spcPts val="400"/>
              </a:spcAft>
              <a:buFont typeface="Arial"/>
              <a:buChar char="•"/>
            </a:pPr>
            <a:r>
              <a:rPr sz="1150" b="0" i="0">
                <a:solidFill>
                  <a:srgbClr val="1F3644"/>
                </a:solidFill>
                <a:latin typeface="Calibri"/>
              </a:rPr>
              <a:t>ChaCha20-Poly1305 AEAD — no AES accelerator on this MCU.</a:t>
            </a:r>
          </a:p>
          <a:p>
            <a:pPr marL="171450" indent="-171450">
              <a:lnSpc>
                <a:spcPct val="106000"/>
              </a:lnSpc>
              <a:spcAft>
                <a:spcPts val="400"/>
              </a:spcAft>
              <a:buFont typeface="Arial"/>
              <a:buChar char="•"/>
            </a:pPr>
            <a:r>
              <a:rPr sz="1150" b="0" i="0">
                <a:solidFill>
                  <a:srgbClr val="1F3644"/>
                </a:solidFill>
                <a:latin typeface="Calibri"/>
              </a:rPr>
              <a:t>Monotonic per-source sequence in the nonce, anti-replay window, relay de-duplication cache.</a:t>
            </a:r>
          </a:p>
        </p:txBody>
      </p:sp>
      <p:sp>
        <p:nvSpPr>
          <p:cNvPr id="71" name="TextBox 70"/>
          <p:cNvSpPr txBox="1"/>
          <p:nvPr/>
        </p:nvSpPr>
        <p:spPr>
          <a:xfrm>
            <a:off x="6537960" y="5440680"/>
            <a:ext cx="5074920" cy="548640"/>
          </a:xfrm>
          <a:prstGeom prst="rect">
            <a:avLst/>
          </a:prstGeom>
          <a:noFill/>
        </p:spPr>
        <p:txBody>
          <a:bodyPr wrap="square" lIns="0" rIns="0" tIns="0" bIns="0" anchor="t">
            <a:spAutoFit/>
          </a:bodyPr>
          <a:lstStyle/>
          <a:p>
            <a:pPr algn="l">
              <a:lnSpc>
                <a:spcPct val="115000"/>
              </a:lnSpc>
            </a:pPr>
            <a:r>
              <a:rPr sz="1200" b="0" i="0">
                <a:solidFill>
                  <a:srgbClr val="1F3644"/>
                </a:solidFill>
                <a:latin typeface="Calibri"/>
              </a:rPr>
              <a:t>Relays retransmit the 32 bytes unchanged: TTL and hop count stay in local policy, ciphertext and tag are never rewritten.</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146304"/>
            <a:ext cx="11094415" cy="237744"/>
          </a:xfrm>
          <a:prstGeom prst="rect">
            <a:avLst/>
          </a:prstGeom>
          <a:noFill/>
        </p:spPr>
        <p:txBody>
          <a:bodyPr wrap="square" lIns="0" rIns="0" tIns="0" bIns="0" anchor="ctr">
            <a:spAutoFit/>
          </a:bodyPr>
          <a:lstStyle/>
          <a:p>
            <a:pPr algn="l"/>
            <a:r>
              <a:rPr sz="1000" b="1" i="0" spc="140">
                <a:solidFill>
                  <a:srgbClr val="1C7293"/>
                </a:solidFill>
                <a:latin typeface="Calibri"/>
              </a:rPr>
              <a:t>HARDWARE-IN-THE-LOOP</a:t>
            </a:r>
          </a:p>
        </p:txBody>
      </p:sp>
      <p:sp>
        <p:nvSpPr>
          <p:cNvPr id="3" name="TextBox 2"/>
          <p:cNvSpPr txBox="1"/>
          <p:nvPr/>
        </p:nvSpPr>
        <p:spPr>
          <a:xfrm>
            <a:off x="548640" y="384048"/>
            <a:ext cx="11094415" cy="676656"/>
          </a:xfrm>
          <a:prstGeom prst="rect">
            <a:avLst/>
          </a:prstGeom>
          <a:noFill/>
        </p:spPr>
        <p:txBody>
          <a:bodyPr wrap="square" lIns="0" rIns="0" tIns="0" bIns="0" anchor="ctr">
            <a:spAutoFit/>
          </a:bodyPr>
          <a:lstStyle/>
          <a:p>
            <a:pPr algn="l"/>
            <a:r>
              <a:rPr sz="3300" b="1" i="0">
                <a:solidFill>
                  <a:srgbClr val="0C2231"/>
                </a:solidFill>
                <a:latin typeface="Cambria"/>
              </a:rPr>
              <a:t>Protocol running on two processors</a:t>
            </a:r>
          </a:p>
        </p:txBody>
      </p:sp>
      <p:pic>
        <p:nvPicPr>
          <p:cNvPr id="4" name="Picture 3" descr="hil_banc_2026-08-16.jpg"/>
          <p:cNvPicPr>
            <a:picLocks noChangeAspect="1"/>
          </p:cNvPicPr>
          <p:nvPr/>
        </p:nvPicPr>
        <p:blipFill>
          <a:blip r:embed="rId2"/>
          <a:stretch>
            <a:fillRect/>
          </a:stretch>
        </p:blipFill>
        <p:spPr>
          <a:xfrm>
            <a:off x="548640" y="1325880"/>
            <a:ext cx="5760720" cy="3995928"/>
          </a:xfrm>
          <a:prstGeom prst="rect">
            <a:avLst/>
          </a:prstGeom>
        </p:spPr>
      </p:pic>
      <p:sp>
        <p:nvSpPr>
          <p:cNvPr id="5" name="TextBox 4"/>
          <p:cNvSpPr txBox="1"/>
          <p:nvPr/>
        </p:nvSpPr>
        <p:spPr>
          <a:xfrm>
            <a:off x="548640" y="5413248"/>
            <a:ext cx="5760720" cy="274320"/>
          </a:xfrm>
          <a:prstGeom prst="rect">
            <a:avLst/>
          </a:prstGeom>
          <a:noFill/>
        </p:spPr>
        <p:txBody>
          <a:bodyPr wrap="square" lIns="0" rIns="0" tIns="0" bIns="0" anchor="t">
            <a:spAutoFit/>
          </a:bodyPr>
          <a:lstStyle/>
          <a:p>
            <a:pPr algn="ctr">
              <a:lnSpc>
                <a:spcPct val="105000"/>
              </a:lnSpc>
            </a:pPr>
            <a:r>
              <a:rPr sz="950" b="0" i="1">
                <a:solidFill>
                  <a:srgbClr val="5E7686"/>
                </a:solidFill>
                <a:latin typeface="Calibri"/>
              </a:rPr>
              <a:t>16 August 2026: ESP32 as R1, Raspberry Pi 4 as R2</a:t>
            </a:r>
          </a:p>
        </p:txBody>
      </p:sp>
      <p:sp>
        <p:nvSpPr>
          <p:cNvPr id="6" name="Rectangle 5"/>
          <p:cNvSpPr/>
          <p:nvPr/>
        </p:nvSpPr>
        <p:spPr>
          <a:xfrm>
            <a:off x="6583680" y="1325880"/>
            <a:ext cx="5029200" cy="310896"/>
          </a:xfrm>
          <a:prstGeom prst="rect">
            <a:avLst/>
          </a:prstGeom>
          <a:solidFill>
            <a:srgbClr val="0C22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656832" y="1325880"/>
            <a:ext cx="1007872" cy="310896"/>
          </a:xfrm>
          <a:prstGeom prst="rect">
            <a:avLst/>
          </a:prstGeom>
          <a:noFill/>
        </p:spPr>
        <p:txBody>
          <a:bodyPr wrap="square" lIns="0" rIns="0" tIns="0" bIns="0" anchor="ctr">
            <a:spAutoFit/>
          </a:bodyPr>
          <a:lstStyle/>
          <a:p>
            <a:pPr algn="l"/>
            <a:r>
              <a:rPr sz="1000" b="1" i="0">
                <a:solidFill>
                  <a:srgbClr val="FFFFFF"/>
                </a:solidFill>
                <a:latin typeface="Calibri"/>
              </a:rPr>
              <a:t>Node</a:t>
            </a:r>
          </a:p>
        </p:txBody>
      </p:sp>
      <p:sp>
        <p:nvSpPr>
          <p:cNvPr id="8" name="TextBox 7"/>
          <p:cNvSpPr txBox="1"/>
          <p:nvPr/>
        </p:nvSpPr>
        <p:spPr>
          <a:xfrm>
            <a:off x="7774432" y="1325880"/>
            <a:ext cx="1752938" cy="310896"/>
          </a:xfrm>
          <a:prstGeom prst="rect">
            <a:avLst/>
          </a:prstGeom>
          <a:noFill/>
        </p:spPr>
        <p:txBody>
          <a:bodyPr wrap="square" lIns="0" rIns="0" tIns="0" bIns="0" anchor="ctr">
            <a:spAutoFit/>
          </a:bodyPr>
          <a:lstStyle/>
          <a:p>
            <a:pPr algn="ctr"/>
            <a:r>
              <a:rPr sz="1000" b="1" i="0">
                <a:solidFill>
                  <a:srgbClr val="FFFFFF"/>
                </a:solidFill>
                <a:latin typeface="Calibri"/>
              </a:rPr>
              <a:t>Hardware</a:t>
            </a:r>
          </a:p>
        </p:txBody>
      </p:sp>
      <p:sp>
        <p:nvSpPr>
          <p:cNvPr id="9" name="TextBox 8"/>
          <p:cNvSpPr txBox="1"/>
          <p:nvPr/>
        </p:nvSpPr>
        <p:spPr>
          <a:xfrm>
            <a:off x="9637098" y="1325880"/>
            <a:ext cx="1939205" cy="310896"/>
          </a:xfrm>
          <a:prstGeom prst="rect">
            <a:avLst/>
          </a:prstGeom>
          <a:noFill/>
        </p:spPr>
        <p:txBody>
          <a:bodyPr wrap="square" lIns="0" rIns="0" tIns="0" bIns="0" anchor="ctr">
            <a:spAutoFit/>
          </a:bodyPr>
          <a:lstStyle/>
          <a:p>
            <a:pPr algn="ctr"/>
            <a:r>
              <a:rPr sz="1000" b="1" i="0">
                <a:solidFill>
                  <a:srgbClr val="FFFFFF"/>
                </a:solidFill>
                <a:latin typeface="Calibri"/>
              </a:rPr>
              <a:t>Toolchain</a:t>
            </a:r>
          </a:p>
        </p:txBody>
      </p:sp>
      <p:sp>
        <p:nvSpPr>
          <p:cNvPr id="10" name="Rectangle 9"/>
          <p:cNvSpPr/>
          <p:nvPr/>
        </p:nvSpPr>
        <p:spPr>
          <a:xfrm>
            <a:off x="6583680" y="1636776"/>
            <a:ext cx="5029200" cy="329184"/>
          </a:xfrm>
          <a:prstGeom prst="rect">
            <a:avLst/>
          </a:prstGeom>
          <a:solidFill>
            <a:srgbClr val="EDF2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656832" y="1636776"/>
            <a:ext cx="1007872" cy="329184"/>
          </a:xfrm>
          <a:prstGeom prst="rect">
            <a:avLst/>
          </a:prstGeom>
          <a:noFill/>
        </p:spPr>
        <p:txBody>
          <a:bodyPr wrap="square" lIns="0" rIns="0" tIns="0" bIns="0" anchor="ctr">
            <a:spAutoFit/>
          </a:bodyPr>
          <a:lstStyle/>
          <a:p>
            <a:pPr algn="l"/>
            <a:r>
              <a:rPr sz="1100" b="1" i="0">
                <a:solidFill>
                  <a:srgbClr val="0C2231"/>
                </a:solidFill>
                <a:latin typeface="Calibri"/>
              </a:rPr>
              <a:t>R1</a:t>
            </a:r>
          </a:p>
        </p:txBody>
      </p:sp>
      <p:sp>
        <p:nvSpPr>
          <p:cNvPr id="12" name="TextBox 11"/>
          <p:cNvSpPr txBox="1"/>
          <p:nvPr/>
        </p:nvSpPr>
        <p:spPr>
          <a:xfrm>
            <a:off x="7774432" y="1636776"/>
            <a:ext cx="1752938" cy="329184"/>
          </a:xfrm>
          <a:prstGeom prst="rect">
            <a:avLst/>
          </a:prstGeom>
          <a:noFill/>
        </p:spPr>
        <p:txBody>
          <a:bodyPr wrap="square" lIns="0" rIns="0" tIns="0" bIns="0" anchor="ctr">
            <a:spAutoFit/>
          </a:bodyPr>
          <a:lstStyle/>
          <a:p>
            <a:pPr algn="ctr"/>
            <a:r>
              <a:rPr sz="1100" b="0" i="0">
                <a:solidFill>
                  <a:srgbClr val="1F3644"/>
                </a:solidFill>
                <a:latin typeface="Courier New"/>
              </a:rPr>
              <a:t>ESP32-D0WDQ6</a:t>
            </a:r>
          </a:p>
        </p:txBody>
      </p:sp>
      <p:sp>
        <p:nvSpPr>
          <p:cNvPr id="13" name="TextBox 12"/>
          <p:cNvSpPr txBox="1"/>
          <p:nvPr/>
        </p:nvSpPr>
        <p:spPr>
          <a:xfrm>
            <a:off x="9637098" y="1636776"/>
            <a:ext cx="1939205" cy="329184"/>
          </a:xfrm>
          <a:prstGeom prst="rect">
            <a:avLst/>
          </a:prstGeom>
          <a:noFill/>
        </p:spPr>
        <p:txBody>
          <a:bodyPr wrap="square" lIns="0" rIns="0" tIns="0" bIns="0" anchor="ctr">
            <a:spAutoFit/>
          </a:bodyPr>
          <a:lstStyle/>
          <a:p>
            <a:pPr algn="ctr"/>
            <a:r>
              <a:rPr sz="1100" b="0" i="0">
                <a:solidFill>
                  <a:srgbClr val="1F3644"/>
                </a:solidFill>
                <a:latin typeface="Courier New"/>
              </a:rPr>
              <a:t>ESP-IDF 6.0.2</a:t>
            </a:r>
          </a:p>
        </p:txBody>
      </p:sp>
      <p:sp>
        <p:nvSpPr>
          <p:cNvPr id="14" name="Rectangle 13"/>
          <p:cNvSpPr/>
          <p:nvPr/>
        </p:nvSpPr>
        <p:spPr>
          <a:xfrm>
            <a:off x="6583680" y="1965960"/>
            <a:ext cx="5029200" cy="32918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656832" y="1965960"/>
            <a:ext cx="1007872" cy="329184"/>
          </a:xfrm>
          <a:prstGeom prst="rect">
            <a:avLst/>
          </a:prstGeom>
          <a:noFill/>
        </p:spPr>
        <p:txBody>
          <a:bodyPr wrap="square" lIns="0" rIns="0" tIns="0" bIns="0" anchor="ctr">
            <a:spAutoFit/>
          </a:bodyPr>
          <a:lstStyle/>
          <a:p>
            <a:pPr algn="l"/>
            <a:r>
              <a:rPr sz="1100" b="1" i="0">
                <a:solidFill>
                  <a:srgbClr val="0C2231"/>
                </a:solidFill>
                <a:latin typeface="Calibri"/>
              </a:rPr>
              <a:t>R2</a:t>
            </a:r>
          </a:p>
        </p:txBody>
      </p:sp>
      <p:sp>
        <p:nvSpPr>
          <p:cNvPr id="16" name="TextBox 15"/>
          <p:cNvSpPr txBox="1"/>
          <p:nvPr/>
        </p:nvSpPr>
        <p:spPr>
          <a:xfrm>
            <a:off x="7774432" y="1965960"/>
            <a:ext cx="1752938" cy="329184"/>
          </a:xfrm>
          <a:prstGeom prst="rect">
            <a:avLst/>
          </a:prstGeom>
          <a:noFill/>
        </p:spPr>
        <p:txBody>
          <a:bodyPr wrap="square" lIns="0" rIns="0" tIns="0" bIns="0" anchor="ctr">
            <a:spAutoFit/>
          </a:bodyPr>
          <a:lstStyle/>
          <a:p>
            <a:pPr algn="ctr"/>
            <a:r>
              <a:rPr sz="1100" b="0" i="0">
                <a:solidFill>
                  <a:srgbClr val="1F3644"/>
                </a:solidFill>
                <a:latin typeface="Courier New"/>
              </a:rPr>
              <a:t>Raspberry Pi 4B</a:t>
            </a:r>
          </a:p>
        </p:txBody>
      </p:sp>
      <p:sp>
        <p:nvSpPr>
          <p:cNvPr id="17" name="TextBox 16"/>
          <p:cNvSpPr txBox="1"/>
          <p:nvPr/>
        </p:nvSpPr>
        <p:spPr>
          <a:xfrm>
            <a:off x="9637098" y="1965960"/>
            <a:ext cx="1939205" cy="329184"/>
          </a:xfrm>
          <a:prstGeom prst="rect">
            <a:avLst/>
          </a:prstGeom>
          <a:noFill/>
        </p:spPr>
        <p:txBody>
          <a:bodyPr wrap="square" lIns="0" rIns="0" tIns="0" bIns="0" anchor="ctr">
            <a:spAutoFit/>
          </a:bodyPr>
          <a:lstStyle/>
          <a:p>
            <a:pPr algn="ctr"/>
            <a:r>
              <a:rPr sz="1100" b="0" i="0">
                <a:solidFill>
                  <a:srgbClr val="1F3644"/>
                </a:solidFill>
                <a:latin typeface="Courier New"/>
              </a:rPr>
              <a:t>GCC 14.2.0, Mbed TLS 3.6.5</a:t>
            </a:r>
          </a:p>
        </p:txBody>
      </p:sp>
      <p:sp>
        <p:nvSpPr>
          <p:cNvPr id="18" name="Rectangle 17"/>
          <p:cNvSpPr/>
          <p:nvPr/>
        </p:nvSpPr>
        <p:spPr>
          <a:xfrm>
            <a:off x="6583680" y="2496312"/>
            <a:ext cx="5029200" cy="310896"/>
          </a:xfrm>
          <a:prstGeom prst="rect">
            <a:avLst/>
          </a:prstGeom>
          <a:solidFill>
            <a:srgbClr val="0C22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656832" y="2496312"/>
            <a:ext cx="857425" cy="310896"/>
          </a:xfrm>
          <a:prstGeom prst="rect">
            <a:avLst/>
          </a:prstGeom>
          <a:noFill/>
        </p:spPr>
        <p:txBody>
          <a:bodyPr wrap="square" lIns="0" rIns="0" tIns="0" bIns="0" anchor="ctr">
            <a:spAutoFit/>
          </a:bodyPr>
          <a:lstStyle/>
          <a:p>
            <a:pPr algn="l"/>
            <a:r>
              <a:rPr sz="1000" b="1" i="0">
                <a:solidFill>
                  <a:srgbClr val="FFFFFF"/>
                </a:solidFill>
                <a:latin typeface="Calibri"/>
              </a:rPr>
              <a:t>Cycle</a:t>
            </a:r>
          </a:p>
        </p:txBody>
      </p:sp>
      <p:sp>
        <p:nvSpPr>
          <p:cNvPr id="20" name="TextBox 19"/>
          <p:cNvSpPr txBox="1"/>
          <p:nvPr/>
        </p:nvSpPr>
        <p:spPr>
          <a:xfrm>
            <a:off x="7623985" y="2496312"/>
            <a:ext cx="1437718" cy="310896"/>
          </a:xfrm>
          <a:prstGeom prst="rect">
            <a:avLst/>
          </a:prstGeom>
          <a:noFill/>
        </p:spPr>
        <p:txBody>
          <a:bodyPr wrap="square" lIns="0" rIns="0" tIns="0" bIns="0" anchor="ctr">
            <a:spAutoFit/>
          </a:bodyPr>
          <a:lstStyle/>
          <a:p>
            <a:pPr algn="ctr"/>
            <a:r>
              <a:rPr sz="1000" b="1" i="0">
                <a:solidFill>
                  <a:srgbClr val="FFFFFF"/>
                </a:solidFill>
                <a:latin typeface="Calibri"/>
              </a:rPr>
              <a:t>R1 → R2 seq</a:t>
            </a:r>
          </a:p>
        </p:txBody>
      </p:sp>
      <p:sp>
        <p:nvSpPr>
          <p:cNvPr id="21" name="TextBox 20"/>
          <p:cNvSpPr txBox="1"/>
          <p:nvPr/>
        </p:nvSpPr>
        <p:spPr>
          <a:xfrm>
            <a:off x="9171432" y="2496312"/>
            <a:ext cx="1437718" cy="310896"/>
          </a:xfrm>
          <a:prstGeom prst="rect">
            <a:avLst/>
          </a:prstGeom>
          <a:noFill/>
        </p:spPr>
        <p:txBody>
          <a:bodyPr wrap="square" lIns="0" rIns="0" tIns="0" bIns="0" anchor="ctr">
            <a:spAutoFit/>
          </a:bodyPr>
          <a:lstStyle/>
          <a:p>
            <a:pPr algn="ctr"/>
            <a:r>
              <a:rPr sz="1000" b="1" i="0">
                <a:solidFill>
                  <a:srgbClr val="FFFFFF"/>
                </a:solidFill>
                <a:latin typeface="Calibri"/>
              </a:rPr>
              <a:t>R2 → R1 seq</a:t>
            </a:r>
          </a:p>
        </p:txBody>
      </p:sp>
      <p:sp>
        <p:nvSpPr>
          <p:cNvPr id="22" name="TextBox 21"/>
          <p:cNvSpPr txBox="1"/>
          <p:nvPr/>
        </p:nvSpPr>
        <p:spPr>
          <a:xfrm>
            <a:off x="10718878" y="2496312"/>
            <a:ext cx="857425" cy="310896"/>
          </a:xfrm>
          <a:prstGeom prst="rect">
            <a:avLst/>
          </a:prstGeom>
          <a:noFill/>
        </p:spPr>
        <p:txBody>
          <a:bodyPr wrap="square" lIns="0" rIns="0" tIns="0" bIns="0" anchor="ctr">
            <a:spAutoFit/>
          </a:bodyPr>
          <a:lstStyle/>
          <a:p>
            <a:pPr algn="ctr"/>
            <a:r>
              <a:rPr sz="1000" b="1" i="0">
                <a:solidFill>
                  <a:srgbClr val="FFFFFF"/>
                </a:solidFill>
                <a:latin typeface="Calibri"/>
              </a:rPr>
              <a:t>ACK</a:t>
            </a:r>
          </a:p>
        </p:txBody>
      </p:sp>
      <p:sp>
        <p:nvSpPr>
          <p:cNvPr id="23" name="Rectangle 22"/>
          <p:cNvSpPr/>
          <p:nvPr/>
        </p:nvSpPr>
        <p:spPr>
          <a:xfrm>
            <a:off x="6583680" y="2807208"/>
            <a:ext cx="5029200" cy="274320"/>
          </a:xfrm>
          <a:prstGeom prst="rect">
            <a:avLst/>
          </a:prstGeom>
          <a:solidFill>
            <a:srgbClr val="EDF2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656832" y="2807208"/>
            <a:ext cx="857425" cy="274320"/>
          </a:xfrm>
          <a:prstGeom prst="rect">
            <a:avLst/>
          </a:prstGeom>
          <a:noFill/>
        </p:spPr>
        <p:txBody>
          <a:bodyPr wrap="square" lIns="0" rIns="0" tIns="0" bIns="0" anchor="ctr">
            <a:spAutoFit/>
          </a:bodyPr>
          <a:lstStyle/>
          <a:p>
            <a:pPr algn="l"/>
            <a:r>
              <a:rPr sz="1050" b="1" i="0">
                <a:solidFill>
                  <a:srgbClr val="0C2231"/>
                </a:solidFill>
                <a:latin typeface="Calibri"/>
              </a:rPr>
              <a:t>1</a:t>
            </a:r>
          </a:p>
        </p:txBody>
      </p:sp>
      <p:sp>
        <p:nvSpPr>
          <p:cNvPr id="25" name="TextBox 24"/>
          <p:cNvSpPr txBox="1"/>
          <p:nvPr/>
        </p:nvSpPr>
        <p:spPr>
          <a:xfrm>
            <a:off x="7623985" y="2807208"/>
            <a:ext cx="1437718" cy="274320"/>
          </a:xfrm>
          <a:prstGeom prst="rect">
            <a:avLst/>
          </a:prstGeom>
          <a:noFill/>
        </p:spPr>
        <p:txBody>
          <a:bodyPr wrap="square" lIns="0" rIns="0" tIns="0" bIns="0" anchor="ctr">
            <a:spAutoFit/>
          </a:bodyPr>
          <a:lstStyle/>
          <a:p>
            <a:pPr algn="ctr"/>
            <a:r>
              <a:rPr sz="1050" b="0" i="0">
                <a:solidFill>
                  <a:srgbClr val="1F3644"/>
                </a:solidFill>
                <a:latin typeface="Courier New"/>
              </a:rPr>
              <a:t>102762</a:t>
            </a:r>
          </a:p>
        </p:txBody>
      </p:sp>
      <p:sp>
        <p:nvSpPr>
          <p:cNvPr id="26" name="TextBox 25"/>
          <p:cNvSpPr txBox="1"/>
          <p:nvPr/>
        </p:nvSpPr>
        <p:spPr>
          <a:xfrm>
            <a:off x="9171432" y="2807208"/>
            <a:ext cx="1437718" cy="274320"/>
          </a:xfrm>
          <a:prstGeom prst="rect">
            <a:avLst/>
          </a:prstGeom>
          <a:noFill/>
        </p:spPr>
        <p:txBody>
          <a:bodyPr wrap="square" lIns="0" rIns="0" tIns="0" bIns="0" anchor="ctr">
            <a:spAutoFit/>
          </a:bodyPr>
          <a:lstStyle/>
          <a:p>
            <a:pPr algn="ctr"/>
            <a:r>
              <a:rPr sz="1050" b="0" i="0">
                <a:solidFill>
                  <a:srgbClr val="1F3644"/>
                </a:solidFill>
                <a:latin typeface="Courier New"/>
              </a:rPr>
              <a:t>32769</a:t>
            </a:r>
          </a:p>
        </p:txBody>
      </p:sp>
      <p:sp>
        <p:nvSpPr>
          <p:cNvPr id="27" name="TextBox 26"/>
          <p:cNvSpPr txBox="1"/>
          <p:nvPr/>
        </p:nvSpPr>
        <p:spPr>
          <a:xfrm>
            <a:off x="10718878" y="2807208"/>
            <a:ext cx="857425" cy="274320"/>
          </a:xfrm>
          <a:prstGeom prst="rect">
            <a:avLst/>
          </a:prstGeom>
          <a:noFill/>
        </p:spPr>
        <p:txBody>
          <a:bodyPr wrap="square" lIns="0" rIns="0" tIns="0" bIns="0" anchor="ctr">
            <a:spAutoFit/>
          </a:bodyPr>
          <a:lstStyle/>
          <a:p>
            <a:pPr algn="ctr"/>
            <a:r>
              <a:rPr sz="1050" b="0" i="0">
                <a:solidFill>
                  <a:srgbClr val="1F3644"/>
                </a:solidFill>
                <a:latin typeface="Courier New"/>
              </a:rPr>
              <a:t>TX_DS</a:t>
            </a:r>
          </a:p>
        </p:txBody>
      </p:sp>
      <p:sp>
        <p:nvSpPr>
          <p:cNvPr id="28" name="Rectangle 27"/>
          <p:cNvSpPr/>
          <p:nvPr/>
        </p:nvSpPr>
        <p:spPr>
          <a:xfrm>
            <a:off x="6583680" y="3081527"/>
            <a:ext cx="5029200" cy="274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656832" y="3081527"/>
            <a:ext cx="857425" cy="274320"/>
          </a:xfrm>
          <a:prstGeom prst="rect">
            <a:avLst/>
          </a:prstGeom>
          <a:noFill/>
        </p:spPr>
        <p:txBody>
          <a:bodyPr wrap="square" lIns="0" rIns="0" tIns="0" bIns="0" anchor="ctr">
            <a:spAutoFit/>
          </a:bodyPr>
          <a:lstStyle/>
          <a:p>
            <a:pPr algn="l"/>
            <a:r>
              <a:rPr sz="1050" b="1" i="0">
                <a:solidFill>
                  <a:srgbClr val="0C2231"/>
                </a:solidFill>
                <a:latin typeface="Calibri"/>
              </a:rPr>
              <a:t>2</a:t>
            </a:r>
          </a:p>
        </p:txBody>
      </p:sp>
      <p:sp>
        <p:nvSpPr>
          <p:cNvPr id="30" name="TextBox 29"/>
          <p:cNvSpPr txBox="1"/>
          <p:nvPr/>
        </p:nvSpPr>
        <p:spPr>
          <a:xfrm>
            <a:off x="7623985" y="3081527"/>
            <a:ext cx="1437718" cy="274320"/>
          </a:xfrm>
          <a:prstGeom prst="rect">
            <a:avLst/>
          </a:prstGeom>
          <a:noFill/>
        </p:spPr>
        <p:txBody>
          <a:bodyPr wrap="square" lIns="0" rIns="0" tIns="0" bIns="0" anchor="ctr">
            <a:spAutoFit/>
          </a:bodyPr>
          <a:lstStyle/>
          <a:p>
            <a:pPr algn="ctr"/>
            <a:r>
              <a:rPr sz="1050" b="0" i="0">
                <a:solidFill>
                  <a:srgbClr val="1F3644"/>
                </a:solidFill>
                <a:latin typeface="Courier New"/>
              </a:rPr>
              <a:t>102763</a:t>
            </a:r>
          </a:p>
        </p:txBody>
      </p:sp>
      <p:sp>
        <p:nvSpPr>
          <p:cNvPr id="31" name="TextBox 30"/>
          <p:cNvSpPr txBox="1"/>
          <p:nvPr/>
        </p:nvSpPr>
        <p:spPr>
          <a:xfrm>
            <a:off x="9171432" y="3081527"/>
            <a:ext cx="1437718" cy="274320"/>
          </a:xfrm>
          <a:prstGeom prst="rect">
            <a:avLst/>
          </a:prstGeom>
          <a:noFill/>
        </p:spPr>
        <p:txBody>
          <a:bodyPr wrap="square" lIns="0" rIns="0" tIns="0" bIns="0" anchor="ctr">
            <a:spAutoFit/>
          </a:bodyPr>
          <a:lstStyle/>
          <a:p>
            <a:pPr algn="ctr"/>
            <a:r>
              <a:rPr sz="1050" b="0" i="0">
                <a:solidFill>
                  <a:srgbClr val="1F3644"/>
                </a:solidFill>
                <a:latin typeface="Courier New"/>
              </a:rPr>
              <a:t>32770</a:t>
            </a:r>
          </a:p>
        </p:txBody>
      </p:sp>
      <p:sp>
        <p:nvSpPr>
          <p:cNvPr id="32" name="TextBox 31"/>
          <p:cNvSpPr txBox="1"/>
          <p:nvPr/>
        </p:nvSpPr>
        <p:spPr>
          <a:xfrm>
            <a:off x="10718878" y="3081527"/>
            <a:ext cx="857425" cy="274320"/>
          </a:xfrm>
          <a:prstGeom prst="rect">
            <a:avLst/>
          </a:prstGeom>
          <a:noFill/>
        </p:spPr>
        <p:txBody>
          <a:bodyPr wrap="square" lIns="0" rIns="0" tIns="0" bIns="0" anchor="ctr">
            <a:spAutoFit/>
          </a:bodyPr>
          <a:lstStyle/>
          <a:p>
            <a:pPr algn="ctr"/>
            <a:r>
              <a:rPr sz="1050" b="0" i="0">
                <a:solidFill>
                  <a:srgbClr val="1F3644"/>
                </a:solidFill>
                <a:latin typeface="Courier New"/>
              </a:rPr>
              <a:t>TX_DS</a:t>
            </a:r>
          </a:p>
        </p:txBody>
      </p:sp>
      <p:sp>
        <p:nvSpPr>
          <p:cNvPr id="33" name="Rectangle 32"/>
          <p:cNvSpPr/>
          <p:nvPr/>
        </p:nvSpPr>
        <p:spPr>
          <a:xfrm>
            <a:off x="6583680" y="3355848"/>
            <a:ext cx="5029200" cy="274320"/>
          </a:xfrm>
          <a:prstGeom prst="rect">
            <a:avLst/>
          </a:prstGeom>
          <a:solidFill>
            <a:srgbClr val="EDF2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656832" y="3355848"/>
            <a:ext cx="857425" cy="274320"/>
          </a:xfrm>
          <a:prstGeom prst="rect">
            <a:avLst/>
          </a:prstGeom>
          <a:noFill/>
        </p:spPr>
        <p:txBody>
          <a:bodyPr wrap="square" lIns="0" rIns="0" tIns="0" bIns="0" anchor="ctr">
            <a:spAutoFit/>
          </a:bodyPr>
          <a:lstStyle/>
          <a:p>
            <a:pPr algn="l"/>
            <a:r>
              <a:rPr sz="1050" b="1" i="0">
                <a:solidFill>
                  <a:srgbClr val="0C2231"/>
                </a:solidFill>
                <a:latin typeface="Calibri"/>
              </a:rPr>
              <a:t>3</a:t>
            </a:r>
          </a:p>
        </p:txBody>
      </p:sp>
      <p:sp>
        <p:nvSpPr>
          <p:cNvPr id="35" name="TextBox 34"/>
          <p:cNvSpPr txBox="1"/>
          <p:nvPr/>
        </p:nvSpPr>
        <p:spPr>
          <a:xfrm>
            <a:off x="7623985" y="3355848"/>
            <a:ext cx="1437718" cy="274320"/>
          </a:xfrm>
          <a:prstGeom prst="rect">
            <a:avLst/>
          </a:prstGeom>
          <a:noFill/>
        </p:spPr>
        <p:txBody>
          <a:bodyPr wrap="square" lIns="0" rIns="0" tIns="0" bIns="0" anchor="ctr">
            <a:spAutoFit/>
          </a:bodyPr>
          <a:lstStyle/>
          <a:p>
            <a:pPr algn="ctr"/>
            <a:r>
              <a:rPr sz="1050" b="0" i="0">
                <a:solidFill>
                  <a:srgbClr val="1F3644"/>
                </a:solidFill>
                <a:latin typeface="Courier New"/>
              </a:rPr>
              <a:t>102764</a:t>
            </a:r>
          </a:p>
        </p:txBody>
      </p:sp>
      <p:sp>
        <p:nvSpPr>
          <p:cNvPr id="36" name="TextBox 35"/>
          <p:cNvSpPr txBox="1"/>
          <p:nvPr/>
        </p:nvSpPr>
        <p:spPr>
          <a:xfrm>
            <a:off x="9171432" y="3355848"/>
            <a:ext cx="1437718" cy="274320"/>
          </a:xfrm>
          <a:prstGeom prst="rect">
            <a:avLst/>
          </a:prstGeom>
          <a:noFill/>
        </p:spPr>
        <p:txBody>
          <a:bodyPr wrap="square" lIns="0" rIns="0" tIns="0" bIns="0" anchor="ctr">
            <a:spAutoFit/>
          </a:bodyPr>
          <a:lstStyle/>
          <a:p>
            <a:pPr algn="ctr"/>
            <a:r>
              <a:rPr sz="1050" b="0" i="0">
                <a:solidFill>
                  <a:srgbClr val="1F3644"/>
                </a:solidFill>
                <a:latin typeface="Courier New"/>
              </a:rPr>
              <a:t>32771</a:t>
            </a:r>
          </a:p>
        </p:txBody>
      </p:sp>
      <p:sp>
        <p:nvSpPr>
          <p:cNvPr id="37" name="TextBox 36"/>
          <p:cNvSpPr txBox="1"/>
          <p:nvPr/>
        </p:nvSpPr>
        <p:spPr>
          <a:xfrm>
            <a:off x="10718878" y="3355848"/>
            <a:ext cx="857425" cy="274320"/>
          </a:xfrm>
          <a:prstGeom prst="rect">
            <a:avLst/>
          </a:prstGeom>
          <a:noFill/>
        </p:spPr>
        <p:txBody>
          <a:bodyPr wrap="square" lIns="0" rIns="0" tIns="0" bIns="0" anchor="ctr">
            <a:spAutoFit/>
          </a:bodyPr>
          <a:lstStyle/>
          <a:p>
            <a:pPr algn="ctr"/>
            <a:r>
              <a:rPr sz="1050" b="0" i="0">
                <a:solidFill>
                  <a:srgbClr val="1F3644"/>
                </a:solidFill>
                <a:latin typeface="Courier New"/>
              </a:rPr>
              <a:t>TX_DS</a:t>
            </a:r>
          </a:p>
        </p:txBody>
      </p:sp>
      <p:sp>
        <p:nvSpPr>
          <p:cNvPr id="38" name="Rectangle 37"/>
          <p:cNvSpPr/>
          <p:nvPr/>
        </p:nvSpPr>
        <p:spPr>
          <a:xfrm>
            <a:off x="6583680" y="3630168"/>
            <a:ext cx="5029200" cy="274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656832" y="3630168"/>
            <a:ext cx="857425" cy="274320"/>
          </a:xfrm>
          <a:prstGeom prst="rect">
            <a:avLst/>
          </a:prstGeom>
          <a:noFill/>
        </p:spPr>
        <p:txBody>
          <a:bodyPr wrap="square" lIns="0" rIns="0" tIns="0" bIns="0" anchor="ctr">
            <a:spAutoFit/>
          </a:bodyPr>
          <a:lstStyle/>
          <a:p>
            <a:pPr algn="l"/>
            <a:r>
              <a:rPr sz="1050" b="1" i="0">
                <a:solidFill>
                  <a:srgbClr val="0C2231"/>
                </a:solidFill>
                <a:latin typeface="Calibri"/>
              </a:rPr>
              <a:t>4</a:t>
            </a:r>
          </a:p>
        </p:txBody>
      </p:sp>
      <p:sp>
        <p:nvSpPr>
          <p:cNvPr id="40" name="TextBox 39"/>
          <p:cNvSpPr txBox="1"/>
          <p:nvPr/>
        </p:nvSpPr>
        <p:spPr>
          <a:xfrm>
            <a:off x="7623985" y="3630168"/>
            <a:ext cx="1437718" cy="274320"/>
          </a:xfrm>
          <a:prstGeom prst="rect">
            <a:avLst/>
          </a:prstGeom>
          <a:noFill/>
        </p:spPr>
        <p:txBody>
          <a:bodyPr wrap="square" lIns="0" rIns="0" tIns="0" bIns="0" anchor="ctr">
            <a:spAutoFit/>
          </a:bodyPr>
          <a:lstStyle/>
          <a:p>
            <a:pPr algn="ctr"/>
            <a:r>
              <a:rPr sz="1050" b="0" i="0">
                <a:solidFill>
                  <a:srgbClr val="1F3644"/>
                </a:solidFill>
                <a:latin typeface="Courier New"/>
              </a:rPr>
              <a:t>102765</a:t>
            </a:r>
          </a:p>
        </p:txBody>
      </p:sp>
      <p:sp>
        <p:nvSpPr>
          <p:cNvPr id="41" name="TextBox 40"/>
          <p:cNvSpPr txBox="1"/>
          <p:nvPr/>
        </p:nvSpPr>
        <p:spPr>
          <a:xfrm>
            <a:off x="9171432" y="3630168"/>
            <a:ext cx="1437718" cy="274320"/>
          </a:xfrm>
          <a:prstGeom prst="rect">
            <a:avLst/>
          </a:prstGeom>
          <a:noFill/>
        </p:spPr>
        <p:txBody>
          <a:bodyPr wrap="square" lIns="0" rIns="0" tIns="0" bIns="0" anchor="ctr">
            <a:spAutoFit/>
          </a:bodyPr>
          <a:lstStyle/>
          <a:p>
            <a:pPr algn="ctr"/>
            <a:r>
              <a:rPr sz="1050" b="0" i="0">
                <a:solidFill>
                  <a:srgbClr val="1F3644"/>
                </a:solidFill>
                <a:latin typeface="Courier New"/>
              </a:rPr>
              <a:t>32772</a:t>
            </a:r>
          </a:p>
        </p:txBody>
      </p:sp>
      <p:sp>
        <p:nvSpPr>
          <p:cNvPr id="42" name="TextBox 41"/>
          <p:cNvSpPr txBox="1"/>
          <p:nvPr/>
        </p:nvSpPr>
        <p:spPr>
          <a:xfrm>
            <a:off x="10718878" y="3630168"/>
            <a:ext cx="857425" cy="274320"/>
          </a:xfrm>
          <a:prstGeom prst="rect">
            <a:avLst/>
          </a:prstGeom>
          <a:noFill/>
        </p:spPr>
        <p:txBody>
          <a:bodyPr wrap="square" lIns="0" rIns="0" tIns="0" bIns="0" anchor="ctr">
            <a:spAutoFit/>
          </a:bodyPr>
          <a:lstStyle/>
          <a:p>
            <a:pPr algn="ctr"/>
            <a:r>
              <a:rPr sz="1050" b="0" i="0">
                <a:solidFill>
                  <a:srgbClr val="1F3644"/>
                </a:solidFill>
                <a:latin typeface="Courier New"/>
              </a:rPr>
              <a:t>TX_DS</a:t>
            </a:r>
          </a:p>
        </p:txBody>
      </p:sp>
      <p:sp>
        <p:nvSpPr>
          <p:cNvPr id="43" name="Rectangle 42"/>
          <p:cNvSpPr/>
          <p:nvPr/>
        </p:nvSpPr>
        <p:spPr>
          <a:xfrm>
            <a:off x="6583680" y="3904487"/>
            <a:ext cx="5029200" cy="274320"/>
          </a:xfrm>
          <a:prstGeom prst="rect">
            <a:avLst/>
          </a:prstGeom>
          <a:solidFill>
            <a:srgbClr val="EDF2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656832" y="3904487"/>
            <a:ext cx="857425" cy="274320"/>
          </a:xfrm>
          <a:prstGeom prst="rect">
            <a:avLst/>
          </a:prstGeom>
          <a:noFill/>
        </p:spPr>
        <p:txBody>
          <a:bodyPr wrap="square" lIns="0" rIns="0" tIns="0" bIns="0" anchor="ctr">
            <a:spAutoFit/>
          </a:bodyPr>
          <a:lstStyle/>
          <a:p>
            <a:pPr algn="l"/>
            <a:r>
              <a:rPr sz="1050" b="1" i="0">
                <a:solidFill>
                  <a:srgbClr val="0C2231"/>
                </a:solidFill>
                <a:latin typeface="Calibri"/>
              </a:rPr>
              <a:t>5</a:t>
            </a:r>
          </a:p>
        </p:txBody>
      </p:sp>
      <p:sp>
        <p:nvSpPr>
          <p:cNvPr id="45" name="TextBox 44"/>
          <p:cNvSpPr txBox="1"/>
          <p:nvPr/>
        </p:nvSpPr>
        <p:spPr>
          <a:xfrm>
            <a:off x="7623985" y="3904487"/>
            <a:ext cx="1437718" cy="274320"/>
          </a:xfrm>
          <a:prstGeom prst="rect">
            <a:avLst/>
          </a:prstGeom>
          <a:noFill/>
        </p:spPr>
        <p:txBody>
          <a:bodyPr wrap="square" lIns="0" rIns="0" tIns="0" bIns="0" anchor="ctr">
            <a:spAutoFit/>
          </a:bodyPr>
          <a:lstStyle/>
          <a:p>
            <a:pPr algn="ctr"/>
            <a:r>
              <a:rPr sz="1050" b="0" i="0">
                <a:solidFill>
                  <a:srgbClr val="1F3644"/>
                </a:solidFill>
                <a:latin typeface="Courier New"/>
              </a:rPr>
              <a:t>102766</a:t>
            </a:r>
          </a:p>
        </p:txBody>
      </p:sp>
      <p:sp>
        <p:nvSpPr>
          <p:cNvPr id="46" name="TextBox 45"/>
          <p:cNvSpPr txBox="1"/>
          <p:nvPr/>
        </p:nvSpPr>
        <p:spPr>
          <a:xfrm>
            <a:off x="9171432" y="3904487"/>
            <a:ext cx="1437718" cy="274320"/>
          </a:xfrm>
          <a:prstGeom prst="rect">
            <a:avLst/>
          </a:prstGeom>
          <a:noFill/>
        </p:spPr>
        <p:txBody>
          <a:bodyPr wrap="square" lIns="0" rIns="0" tIns="0" bIns="0" anchor="ctr">
            <a:spAutoFit/>
          </a:bodyPr>
          <a:lstStyle/>
          <a:p>
            <a:pPr algn="ctr"/>
            <a:r>
              <a:rPr sz="1050" b="0" i="0">
                <a:solidFill>
                  <a:srgbClr val="1F3644"/>
                </a:solidFill>
                <a:latin typeface="Courier New"/>
              </a:rPr>
              <a:t>32773</a:t>
            </a:r>
          </a:p>
        </p:txBody>
      </p:sp>
      <p:sp>
        <p:nvSpPr>
          <p:cNvPr id="47" name="TextBox 46"/>
          <p:cNvSpPr txBox="1"/>
          <p:nvPr/>
        </p:nvSpPr>
        <p:spPr>
          <a:xfrm>
            <a:off x="10718878" y="3904487"/>
            <a:ext cx="857425" cy="274320"/>
          </a:xfrm>
          <a:prstGeom prst="rect">
            <a:avLst/>
          </a:prstGeom>
          <a:noFill/>
        </p:spPr>
        <p:txBody>
          <a:bodyPr wrap="square" lIns="0" rIns="0" tIns="0" bIns="0" anchor="ctr">
            <a:spAutoFit/>
          </a:bodyPr>
          <a:lstStyle/>
          <a:p>
            <a:pPr algn="ctr"/>
            <a:r>
              <a:rPr sz="1050" b="0" i="0">
                <a:solidFill>
                  <a:srgbClr val="1F3644"/>
                </a:solidFill>
                <a:latin typeface="Courier New"/>
              </a:rPr>
              <a:t>TX_DS</a:t>
            </a:r>
          </a:p>
        </p:txBody>
      </p:sp>
      <p:sp>
        <p:nvSpPr>
          <p:cNvPr id="48" name="TextBox 47"/>
          <p:cNvSpPr txBox="1"/>
          <p:nvPr/>
        </p:nvSpPr>
        <p:spPr>
          <a:xfrm>
            <a:off x="6583680" y="4361688"/>
            <a:ext cx="5029200" cy="566928"/>
          </a:xfrm>
          <a:prstGeom prst="rect">
            <a:avLst/>
          </a:prstGeom>
          <a:noFill/>
        </p:spPr>
        <p:txBody>
          <a:bodyPr wrap="square" lIns="0" rIns="0" tIns="0" bIns="0" anchor="t">
            <a:spAutoFit/>
          </a:bodyPr>
          <a:lstStyle/>
          <a:p>
            <a:pPr algn="l">
              <a:lnSpc>
                <a:spcPct val="115000"/>
              </a:lnSpc>
            </a:pPr>
            <a:r>
              <a:rPr sz="1150" b="0" i="0">
                <a:solidFill>
                  <a:srgbClr val="1F3644"/>
                </a:solidFill>
                <a:latin typeface="Calibri"/>
              </a:rPr>
              <a:t>Sequence numbers strictly increasing on both nodes, which is the condition the anti-replay window relies on. Every frame 32 B, authenticated and decoded at the far end.</a:t>
            </a:r>
          </a:p>
        </p:txBody>
      </p:sp>
      <p:sp>
        <p:nvSpPr>
          <p:cNvPr id="49" name="Rounded Rectangle 48"/>
          <p:cNvSpPr/>
          <p:nvPr/>
        </p:nvSpPr>
        <p:spPr>
          <a:xfrm>
            <a:off x="6583680" y="5138928"/>
            <a:ext cx="5029200" cy="1005840"/>
          </a:xfrm>
          <a:prstGeom prst="roundRect">
            <a:avLst>
              <a:gd name="adj" fmla="val 4090"/>
            </a:avLst>
          </a:prstGeom>
          <a:solidFill>
            <a:srgbClr val="E2EBF0"/>
          </a:solidFill>
          <a:ln>
            <a:noFill/>
          </a:ln>
          <a:effectLst>
            <a:outerShdw blurRad="88900" dist="12700" dir="5400000" rotWithShape="0">
              <a:srgbClr val="9FB3C0">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6812280" y="5239512"/>
            <a:ext cx="4572000" cy="822960"/>
          </a:xfrm>
          <a:prstGeom prst="rect">
            <a:avLst/>
          </a:prstGeom>
          <a:noFill/>
        </p:spPr>
        <p:txBody>
          <a:bodyPr wrap="square" lIns="0" rIns="0" tIns="0" bIns="0" anchor="ctr">
            <a:spAutoFit/>
          </a:bodyPr>
          <a:lstStyle/>
          <a:p>
            <a:pPr algn="l">
              <a:lnSpc>
                <a:spcPct val="115000"/>
              </a:lnSpc>
            </a:pPr>
            <a:r>
              <a:rPr sz="1150" b="0" i="0">
                <a:solidFill>
                  <a:srgbClr val="1F3644"/>
                </a:solidFill>
                <a:latin typeface="Calibri"/>
              </a:rPr>
              <a:t>Transport on this bench is Wi-Fi/UDP over an access point raised by the ESP32; the nRF24 FIFO, interrupt and retransmission behaviour is modelled in software.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146304"/>
            <a:ext cx="11094415" cy="237744"/>
          </a:xfrm>
          <a:prstGeom prst="rect">
            <a:avLst/>
          </a:prstGeom>
          <a:noFill/>
        </p:spPr>
        <p:txBody>
          <a:bodyPr wrap="square" lIns="0" rIns="0" tIns="0" bIns="0" anchor="ctr">
            <a:spAutoFit/>
          </a:bodyPr>
          <a:lstStyle/>
          <a:p>
            <a:pPr algn="l"/>
            <a:r>
              <a:rPr sz="1000" b="1" i="0" spc="140">
                <a:solidFill>
                  <a:srgbClr val="1C7293"/>
                </a:solidFill>
                <a:latin typeface="Calibri"/>
              </a:rPr>
              <a:t>SCHEDULE</a:t>
            </a:r>
          </a:p>
        </p:txBody>
      </p:sp>
      <p:sp>
        <p:nvSpPr>
          <p:cNvPr id="3" name="TextBox 2"/>
          <p:cNvSpPr txBox="1"/>
          <p:nvPr/>
        </p:nvSpPr>
        <p:spPr>
          <a:xfrm>
            <a:off x="548640" y="384048"/>
            <a:ext cx="11094415" cy="676656"/>
          </a:xfrm>
          <a:prstGeom prst="rect">
            <a:avLst/>
          </a:prstGeom>
          <a:noFill/>
        </p:spPr>
        <p:txBody>
          <a:bodyPr wrap="square" lIns="0" rIns="0" tIns="0" bIns="0" anchor="ctr">
            <a:spAutoFit/>
          </a:bodyPr>
          <a:lstStyle/>
          <a:p>
            <a:pPr algn="l"/>
            <a:r>
              <a:rPr sz="3300" b="1" i="0">
                <a:solidFill>
                  <a:srgbClr val="0C2231"/>
                </a:solidFill>
                <a:latin typeface="Cambria"/>
              </a:rPr>
              <a:t>Three months, and the bring-up sequence</a:t>
            </a:r>
          </a:p>
        </p:txBody>
      </p:sp>
      <p:sp>
        <p:nvSpPr>
          <p:cNvPr id="4" name="Rectangle 3"/>
          <p:cNvSpPr/>
          <p:nvPr/>
        </p:nvSpPr>
        <p:spPr>
          <a:xfrm>
            <a:off x="548640" y="1920240"/>
            <a:ext cx="11094415" cy="32004"/>
          </a:xfrm>
          <a:prstGeom prst="rect">
            <a:avLst/>
          </a:prstGeom>
          <a:solidFill>
            <a:srgbClr val="AFC4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2297125" y="1837944"/>
            <a:ext cx="201168" cy="201168"/>
          </a:xfrm>
          <a:prstGeom prst="ellipse">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261872"/>
            <a:ext cx="3698138" cy="365760"/>
          </a:xfrm>
          <a:prstGeom prst="rect">
            <a:avLst/>
          </a:prstGeom>
          <a:noFill/>
        </p:spPr>
        <p:txBody>
          <a:bodyPr wrap="square" lIns="0" rIns="0" tIns="0" bIns="0" anchor="ctr">
            <a:spAutoFit/>
          </a:bodyPr>
          <a:lstStyle/>
          <a:p>
            <a:pPr algn="ctr"/>
            <a:r>
              <a:rPr sz="2100" b="1" i="0">
                <a:solidFill>
                  <a:srgbClr val="065A82"/>
                </a:solidFill>
                <a:latin typeface="Cambria"/>
              </a:rPr>
              <a:t>June</a:t>
            </a:r>
          </a:p>
        </p:txBody>
      </p:sp>
      <p:sp>
        <p:nvSpPr>
          <p:cNvPr id="7" name="TextBox 6"/>
          <p:cNvSpPr txBox="1"/>
          <p:nvPr/>
        </p:nvSpPr>
        <p:spPr>
          <a:xfrm>
            <a:off x="822960" y="2176272"/>
            <a:ext cx="3149498" cy="1005840"/>
          </a:xfrm>
          <a:prstGeom prst="rect">
            <a:avLst/>
          </a:prstGeom>
          <a:noFill/>
        </p:spPr>
        <p:txBody>
          <a:bodyPr wrap="square" lIns="0" rIns="0" tIns="0" bIns="0" anchor="t">
            <a:spAutoFit/>
          </a:bodyPr>
          <a:lstStyle/>
          <a:p>
            <a:pPr algn="ctr">
              <a:lnSpc>
                <a:spcPct val="125000"/>
              </a:lnSpc>
            </a:pPr>
            <a:r>
              <a:rPr sz="1250" b="0" i="0">
                <a:solidFill>
                  <a:srgbClr val="1F3644"/>
                </a:solidFill>
                <a:latin typeface="Calibri"/>
              </a:rPr>
              <a:t>STM32/IMU bench</a:t>
            </a:r>
          </a:p>
          <a:p>
            <a:pPr algn="ctr">
              <a:lnSpc>
                <a:spcPct val="125000"/>
              </a:lnSpc>
            </a:pPr>
            <a:r>
              <a:rPr sz="1250" b="0" i="0">
                <a:solidFill>
                  <a:srgbClr val="1F3644"/>
                </a:solidFill>
                <a:latin typeface="Calibri"/>
              </a:rPr>
              <a:t>Schematic and PCB corrected</a:t>
            </a:r>
          </a:p>
          <a:p>
            <a:pPr algn="ctr">
              <a:lnSpc>
                <a:spcPct val="125000"/>
              </a:lnSpc>
            </a:pPr>
            <a:r>
              <a:rPr sz="1250" b="0" i="0">
                <a:solidFill>
                  <a:srgbClr val="1F3644"/>
                </a:solidFill>
                <a:latin typeface="Calibri"/>
              </a:rPr>
              <a:t>Production file, order 23rd</a:t>
            </a:r>
          </a:p>
        </p:txBody>
      </p:sp>
      <p:sp>
        <p:nvSpPr>
          <p:cNvPr id="8" name="Oval 7"/>
          <p:cNvSpPr/>
          <p:nvPr/>
        </p:nvSpPr>
        <p:spPr>
          <a:xfrm>
            <a:off x="5995263" y="1837944"/>
            <a:ext cx="201168" cy="201168"/>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246778" y="1261872"/>
            <a:ext cx="3698138" cy="365760"/>
          </a:xfrm>
          <a:prstGeom prst="rect">
            <a:avLst/>
          </a:prstGeom>
          <a:noFill/>
        </p:spPr>
        <p:txBody>
          <a:bodyPr wrap="square" lIns="0" rIns="0" tIns="0" bIns="0" anchor="ctr">
            <a:spAutoFit/>
          </a:bodyPr>
          <a:lstStyle/>
          <a:p>
            <a:pPr algn="ctr"/>
            <a:r>
              <a:rPr sz="2100" b="1" i="0">
                <a:solidFill>
                  <a:srgbClr val="1C7293"/>
                </a:solidFill>
                <a:latin typeface="Cambria"/>
              </a:rPr>
              <a:t>July</a:t>
            </a:r>
          </a:p>
        </p:txBody>
      </p:sp>
      <p:sp>
        <p:nvSpPr>
          <p:cNvPr id="10" name="TextBox 9"/>
          <p:cNvSpPr txBox="1"/>
          <p:nvPr/>
        </p:nvSpPr>
        <p:spPr>
          <a:xfrm>
            <a:off x="4521098" y="2176272"/>
            <a:ext cx="3149498" cy="1005840"/>
          </a:xfrm>
          <a:prstGeom prst="rect">
            <a:avLst/>
          </a:prstGeom>
          <a:noFill/>
        </p:spPr>
        <p:txBody>
          <a:bodyPr wrap="square" lIns="0" rIns="0" tIns="0" bIns="0" anchor="t">
            <a:spAutoFit/>
          </a:bodyPr>
          <a:lstStyle/>
          <a:p>
            <a:pPr algn="ctr">
              <a:lnSpc>
                <a:spcPct val="125000"/>
              </a:lnSpc>
            </a:pPr>
            <a:r>
              <a:rPr sz="1250" b="0" i="0">
                <a:solidFill>
                  <a:srgbClr val="1F3644"/>
                </a:solidFill>
                <a:latin typeface="Calibri"/>
              </a:rPr>
              <a:t>Fleet simulator</a:t>
            </a:r>
          </a:p>
          <a:p>
            <a:pPr algn="ctr">
              <a:lnSpc>
                <a:spcPct val="125000"/>
              </a:lnSpc>
            </a:pPr>
            <a:r>
              <a:rPr sz="1250" b="0" i="0">
                <a:solidFill>
                  <a:srgbClr val="1F3644"/>
                </a:solidFill>
                <a:latin typeface="Calibri"/>
              </a:rPr>
              <a:t>Web supervision</a:t>
            </a:r>
          </a:p>
          <a:p>
            <a:pPr algn="ctr">
              <a:lnSpc>
                <a:spcPct val="125000"/>
              </a:lnSpc>
            </a:pPr>
            <a:r>
              <a:rPr sz="1250" b="0" i="0">
                <a:solidFill>
                  <a:srgbClr val="1F3644"/>
                </a:solidFill>
                <a:latin typeface="Calibri"/>
              </a:rPr>
              <a:t>Capture scenario</a:t>
            </a:r>
          </a:p>
        </p:txBody>
      </p:sp>
      <p:sp>
        <p:nvSpPr>
          <p:cNvPr id="11" name="Oval 10"/>
          <p:cNvSpPr/>
          <p:nvPr/>
        </p:nvSpPr>
        <p:spPr>
          <a:xfrm>
            <a:off x="9693402" y="1837944"/>
            <a:ext cx="201168" cy="201168"/>
          </a:xfrm>
          <a:prstGeom prst="ellipse">
            <a:avLst/>
          </a:prstGeom>
          <a:solidFill>
            <a:srgbClr val="B078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944916" y="1261872"/>
            <a:ext cx="3698138" cy="365760"/>
          </a:xfrm>
          <a:prstGeom prst="rect">
            <a:avLst/>
          </a:prstGeom>
          <a:noFill/>
        </p:spPr>
        <p:txBody>
          <a:bodyPr wrap="square" lIns="0" rIns="0" tIns="0" bIns="0" anchor="ctr">
            <a:spAutoFit/>
          </a:bodyPr>
          <a:lstStyle/>
          <a:p>
            <a:pPr algn="ctr"/>
            <a:r>
              <a:rPr sz="2100" b="1" i="0">
                <a:solidFill>
                  <a:srgbClr val="B07818"/>
                </a:solidFill>
                <a:latin typeface="Cambria"/>
              </a:rPr>
              <a:t>August</a:t>
            </a:r>
          </a:p>
        </p:txBody>
      </p:sp>
      <p:sp>
        <p:nvSpPr>
          <p:cNvPr id="13" name="TextBox 12"/>
          <p:cNvSpPr txBox="1"/>
          <p:nvPr/>
        </p:nvSpPr>
        <p:spPr>
          <a:xfrm>
            <a:off x="8219236" y="2176272"/>
            <a:ext cx="3149498" cy="1005840"/>
          </a:xfrm>
          <a:prstGeom prst="rect">
            <a:avLst/>
          </a:prstGeom>
          <a:noFill/>
        </p:spPr>
        <p:txBody>
          <a:bodyPr wrap="square" lIns="0" rIns="0" tIns="0" bIns="0" anchor="t">
            <a:spAutoFit/>
          </a:bodyPr>
          <a:lstStyle/>
          <a:p>
            <a:pPr algn="ctr">
              <a:lnSpc>
                <a:spcPct val="125000"/>
              </a:lnSpc>
            </a:pPr>
            <a:r>
              <a:rPr sz="1250" b="0" i="0">
                <a:solidFill>
                  <a:srgbClr val="1F3644"/>
                </a:solidFill>
                <a:latin typeface="Calibri"/>
              </a:rPr>
              <a:t>HIL on two processors</a:t>
            </a:r>
          </a:p>
          <a:p>
            <a:pPr algn="ctr">
              <a:lnSpc>
                <a:spcPct val="125000"/>
              </a:lnSpc>
            </a:pPr>
            <a:r>
              <a:rPr sz="1250" b="0" i="0">
                <a:solidFill>
                  <a:srgbClr val="1F3644"/>
                </a:solidFill>
                <a:latin typeface="Calibri"/>
              </a:rPr>
              <a:t>Inductor re-selection</a:t>
            </a:r>
          </a:p>
          <a:p>
            <a:pPr algn="ctr">
              <a:lnSpc>
                <a:spcPct val="125000"/>
              </a:lnSpc>
            </a:pPr>
            <a:r>
              <a:rPr sz="1250" b="0" i="0">
                <a:solidFill>
                  <a:srgbClr val="1F3644"/>
                </a:solidFill>
                <a:latin typeface="Calibri"/>
              </a:rPr>
              <a:t>Report</a:t>
            </a:r>
          </a:p>
        </p:txBody>
      </p:sp>
      <p:sp>
        <p:nvSpPr>
          <p:cNvPr id="14" name="Rounded Rectangle 13"/>
          <p:cNvSpPr/>
          <p:nvPr/>
        </p:nvSpPr>
        <p:spPr>
          <a:xfrm>
            <a:off x="548640" y="3703320"/>
            <a:ext cx="11064240" cy="2286000"/>
          </a:xfrm>
          <a:prstGeom prst="roundRect">
            <a:avLst>
              <a:gd name="adj" fmla="val 1799"/>
            </a:avLst>
          </a:prstGeom>
          <a:solidFill>
            <a:srgbClr val="EDF2F5"/>
          </a:solidFill>
          <a:ln>
            <a:noFill/>
          </a:ln>
          <a:effectLst>
            <a:outerShdw blurRad="88900" dist="12700" dir="5400000" rotWithShape="0">
              <a:srgbClr val="9FB3C0">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4400" y="3858768"/>
            <a:ext cx="6400800" cy="310896"/>
          </a:xfrm>
          <a:prstGeom prst="rect">
            <a:avLst/>
          </a:prstGeom>
          <a:noFill/>
        </p:spPr>
        <p:txBody>
          <a:bodyPr wrap="square" lIns="0" rIns="0" tIns="0" bIns="0" anchor="t">
            <a:spAutoFit/>
          </a:bodyPr>
          <a:lstStyle/>
          <a:p>
            <a:pPr algn="l"/>
            <a:r>
              <a:rPr sz="1500" b="1" i="0">
                <a:solidFill>
                  <a:srgbClr val="065A82"/>
                </a:solidFill>
                <a:latin typeface="Calibri"/>
              </a:rPr>
              <a:t>Bring-up sequence on delivery</a:t>
            </a:r>
          </a:p>
        </p:txBody>
      </p:sp>
      <p:sp>
        <p:nvSpPr>
          <p:cNvPr id="16" name="Oval 15"/>
          <p:cNvSpPr/>
          <p:nvPr/>
        </p:nvSpPr>
        <p:spPr>
          <a:xfrm>
            <a:off x="914400" y="4297680"/>
            <a:ext cx="402336" cy="402336"/>
          </a:xfrm>
          <a:prstGeom prst="ellipse">
            <a:avLst/>
          </a:prstGeom>
          <a:solidFill>
            <a:srgbClr val="9E3B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alert.png"/>
          <p:cNvPicPr>
            <a:picLocks noChangeAspect="1"/>
          </p:cNvPicPr>
          <p:nvPr/>
        </p:nvPicPr>
        <p:blipFill>
          <a:blip r:embed="rId2"/>
          <a:stretch>
            <a:fillRect/>
          </a:stretch>
        </p:blipFill>
        <p:spPr>
          <a:xfrm>
            <a:off x="966703" y="4349983"/>
            <a:ext cx="297728" cy="297728"/>
          </a:xfrm>
          <a:prstGeom prst="rect">
            <a:avLst/>
          </a:prstGeom>
        </p:spPr>
      </p:pic>
      <p:sp>
        <p:nvSpPr>
          <p:cNvPr id="18" name="TextBox 17"/>
          <p:cNvSpPr txBox="1"/>
          <p:nvPr/>
        </p:nvSpPr>
        <p:spPr>
          <a:xfrm>
            <a:off x="1481328" y="4270248"/>
            <a:ext cx="4572000" cy="457200"/>
          </a:xfrm>
          <a:prstGeom prst="rect">
            <a:avLst/>
          </a:prstGeom>
          <a:noFill/>
        </p:spPr>
        <p:txBody>
          <a:bodyPr wrap="square" lIns="0" rIns="0" tIns="0" bIns="0" anchor="ctr">
            <a:spAutoFit/>
          </a:bodyPr>
          <a:lstStyle/>
          <a:p>
            <a:pPr algn="l">
              <a:lnSpc>
                <a:spcPct val="106000"/>
              </a:lnSpc>
            </a:pPr>
            <a:r>
              <a:rPr sz="1250" b="1" i="0">
                <a:solidFill>
                  <a:srgbClr val="9E3B3E"/>
                </a:solidFill>
                <a:latin typeface="Calibri"/>
              </a:rPr>
              <a:t>Continuity on +3V3 / GND before any power is applied</a:t>
            </a:r>
          </a:p>
        </p:txBody>
      </p:sp>
      <p:sp>
        <p:nvSpPr>
          <p:cNvPr id="19" name="Oval 18"/>
          <p:cNvSpPr/>
          <p:nvPr/>
        </p:nvSpPr>
        <p:spPr>
          <a:xfrm>
            <a:off x="6263640" y="4297680"/>
            <a:ext cx="402336" cy="402336"/>
          </a:xfrm>
          <a:prstGeom prst="ellipse">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check.png"/>
          <p:cNvPicPr>
            <a:picLocks noChangeAspect="1"/>
          </p:cNvPicPr>
          <p:nvPr/>
        </p:nvPicPr>
        <p:blipFill>
          <a:blip r:embed="rId3"/>
          <a:stretch>
            <a:fillRect/>
          </a:stretch>
        </p:blipFill>
        <p:spPr>
          <a:xfrm>
            <a:off x="6315943" y="4349983"/>
            <a:ext cx="297728" cy="297728"/>
          </a:xfrm>
          <a:prstGeom prst="rect">
            <a:avLst/>
          </a:prstGeom>
        </p:spPr>
      </p:pic>
      <p:sp>
        <p:nvSpPr>
          <p:cNvPr id="21" name="TextBox 20"/>
          <p:cNvSpPr txBox="1"/>
          <p:nvPr/>
        </p:nvSpPr>
        <p:spPr>
          <a:xfrm>
            <a:off x="6830568" y="4270248"/>
            <a:ext cx="4572000" cy="457200"/>
          </a:xfrm>
          <a:prstGeom prst="rect">
            <a:avLst/>
          </a:prstGeom>
          <a:noFill/>
        </p:spPr>
        <p:txBody>
          <a:bodyPr wrap="square" lIns="0" rIns="0" tIns="0" bIns="0" anchor="ctr">
            <a:spAutoFit/>
          </a:bodyPr>
          <a:lstStyle/>
          <a:p>
            <a:pPr algn="l">
              <a:lnSpc>
                <a:spcPct val="106000"/>
              </a:lnSpc>
            </a:pPr>
            <a:r>
              <a:rPr sz="1250" b="0" i="0">
                <a:solidFill>
                  <a:srgbClr val="1F3644"/>
                </a:solidFill>
                <a:latin typeface="Calibri"/>
              </a:rPr>
              <a:t>Current-limited ramp, measure both rails under load</a:t>
            </a:r>
          </a:p>
        </p:txBody>
      </p:sp>
      <p:sp>
        <p:nvSpPr>
          <p:cNvPr id="22" name="Oval 21"/>
          <p:cNvSpPr/>
          <p:nvPr/>
        </p:nvSpPr>
        <p:spPr>
          <a:xfrm>
            <a:off x="914400" y="5010912"/>
            <a:ext cx="402336" cy="402336"/>
          </a:xfrm>
          <a:prstGeom prst="ellipse">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3" name="Picture 22" descr="check.png"/>
          <p:cNvPicPr>
            <a:picLocks noChangeAspect="1"/>
          </p:cNvPicPr>
          <p:nvPr/>
        </p:nvPicPr>
        <p:blipFill>
          <a:blip r:embed="rId3"/>
          <a:stretch>
            <a:fillRect/>
          </a:stretch>
        </p:blipFill>
        <p:spPr>
          <a:xfrm>
            <a:off x="966703" y="5063215"/>
            <a:ext cx="297728" cy="297728"/>
          </a:xfrm>
          <a:prstGeom prst="rect">
            <a:avLst/>
          </a:prstGeom>
        </p:spPr>
      </p:pic>
      <p:sp>
        <p:nvSpPr>
          <p:cNvPr id="24" name="TextBox 23"/>
          <p:cNvSpPr txBox="1"/>
          <p:nvPr/>
        </p:nvSpPr>
        <p:spPr>
          <a:xfrm>
            <a:off x="1481328" y="4983480"/>
            <a:ext cx="4572000" cy="457200"/>
          </a:xfrm>
          <a:prstGeom prst="rect">
            <a:avLst/>
          </a:prstGeom>
          <a:noFill/>
        </p:spPr>
        <p:txBody>
          <a:bodyPr wrap="square" lIns="0" rIns="0" tIns="0" bIns="0" anchor="ctr">
            <a:spAutoFit/>
          </a:bodyPr>
          <a:lstStyle/>
          <a:p>
            <a:pPr algn="l">
              <a:lnSpc>
                <a:spcPct val="106000"/>
              </a:lnSpc>
            </a:pPr>
            <a:r>
              <a:rPr sz="1250" b="0" i="0">
                <a:solidFill>
                  <a:srgbClr val="1F3644"/>
                </a:solidFill>
                <a:latin typeface="Calibri"/>
              </a:rPr>
              <a:t>Instrument the 5 V rail current — L1 has the tighter margin</a:t>
            </a:r>
          </a:p>
        </p:txBody>
      </p:sp>
      <p:sp>
        <p:nvSpPr>
          <p:cNvPr id="25" name="Oval 24"/>
          <p:cNvSpPr/>
          <p:nvPr/>
        </p:nvSpPr>
        <p:spPr>
          <a:xfrm>
            <a:off x="6263640" y="5010912"/>
            <a:ext cx="402336" cy="402336"/>
          </a:xfrm>
          <a:prstGeom prst="ellipse">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6" name="Picture 25" descr="check.png"/>
          <p:cNvPicPr>
            <a:picLocks noChangeAspect="1"/>
          </p:cNvPicPr>
          <p:nvPr/>
        </p:nvPicPr>
        <p:blipFill>
          <a:blip r:embed="rId3"/>
          <a:stretch>
            <a:fillRect/>
          </a:stretch>
        </p:blipFill>
        <p:spPr>
          <a:xfrm>
            <a:off x="6315943" y="5063215"/>
            <a:ext cx="297728" cy="297728"/>
          </a:xfrm>
          <a:prstGeom prst="rect">
            <a:avLst/>
          </a:prstGeom>
        </p:spPr>
      </p:pic>
      <p:sp>
        <p:nvSpPr>
          <p:cNvPr id="27" name="TextBox 26"/>
          <p:cNvSpPr txBox="1"/>
          <p:nvPr/>
        </p:nvSpPr>
        <p:spPr>
          <a:xfrm>
            <a:off x="6830568" y="4983480"/>
            <a:ext cx="4572000" cy="457200"/>
          </a:xfrm>
          <a:prstGeom prst="rect">
            <a:avLst/>
          </a:prstGeom>
          <a:noFill/>
        </p:spPr>
        <p:txBody>
          <a:bodyPr wrap="square" lIns="0" rIns="0" tIns="0" bIns="0" anchor="ctr">
            <a:spAutoFit/>
          </a:bodyPr>
          <a:lstStyle/>
          <a:p>
            <a:pPr algn="l">
              <a:lnSpc>
                <a:spcPct val="106000"/>
              </a:lnSpc>
            </a:pPr>
            <a:r>
              <a:rPr sz="1250" b="0" i="0">
                <a:solidFill>
                  <a:srgbClr val="1F3644"/>
                </a:solidFill>
                <a:latin typeface="Calibri"/>
              </a:rPr>
              <a:t>Flash the STM32, bring peripherals up one bus at a time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C2231"/>
        </a:solidFill>
        <a:effectLst/>
      </p:bgPr>
    </p:bg>
    <p:spTree>
      <p:nvGrpSpPr>
        <p:cNvPr id="1" name=""/>
        <p:cNvGrpSpPr/>
        <p:nvPr/>
      </p:nvGrpSpPr>
      <p:grpSpPr/>
      <p:sp>
        <p:nvSpPr>
          <p:cNvPr id="2" name="TextBox 1"/>
          <p:cNvSpPr txBox="1"/>
          <p:nvPr/>
        </p:nvSpPr>
        <p:spPr>
          <a:xfrm>
            <a:off x="548640" y="146304"/>
            <a:ext cx="11094415" cy="237744"/>
          </a:xfrm>
          <a:prstGeom prst="rect">
            <a:avLst/>
          </a:prstGeom>
          <a:noFill/>
        </p:spPr>
        <p:txBody>
          <a:bodyPr wrap="square" lIns="0" rIns="0" tIns="0" bIns="0" anchor="ctr">
            <a:spAutoFit/>
          </a:bodyPr>
          <a:lstStyle/>
          <a:p>
            <a:pPr algn="l"/>
            <a:r>
              <a:rPr sz="1000" b="1" i="0" spc="140">
                <a:solidFill>
                  <a:srgbClr val="E0A33E"/>
                </a:solidFill>
                <a:latin typeface="Calibri"/>
              </a:rPr>
              <a:t>SUMMARY</a:t>
            </a:r>
          </a:p>
        </p:txBody>
      </p:sp>
      <p:sp>
        <p:nvSpPr>
          <p:cNvPr id="3" name="TextBox 2"/>
          <p:cNvSpPr txBox="1"/>
          <p:nvPr/>
        </p:nvSpPr>
        <p:spPr>
          <a:xfrm>
            <a:off x="548640" y="1417320"/>
            <a:ext cx="11064240" cy="1737360"/>
          </a:xfrm>
          <a:prstGeom prst="rect">
            <a:avLst/>
          </a:prstGeom>
          <a:noFill/>
        </p:spPr>
        <p:txBody>
          <a:bodyPr wrap="square" lIns="0" rIns="0" tIns="0" bIns="0" anchor="ctr">
            <a:spAutoFit/>
          </a:bodyPr>
          <a:lstStyle/>
          <a:p>
            <a:pPr algn="l">
              <a:lnSpc>
                <a:spcPct val="132000"/>
              </a:lnSpc>
            </a:pPr>
            <a:r>
              <a:rPr sz="2700" b="1" i="0">
                <a:solidFill>
                  <a:srgbClr val="FFFFFF"/>
                </a:solidFill>
                <a:latin typeface="Cambria"/>
              </a:rPr>
              <a:t>A manufacturable production file for a fleet-capable AUV board,</a:t>
            </a:r>
          </a:p>
          <a:p>
            <a:pPr algn="l">
              <a:lnSpc>
                <a:spcPct val="132000"/>
              </a:lnSpc>
            </a:pPr>
            <a:r>
              <a:rPr sz="2700" b="1" i="0">
                <a:solidFill>
                  <a:srgbClr val="FFFFFF"/>
                </a:solidFill>
                <a:latin typeface="Cambria"/>
              </a:rPr>
              <a:t>a deterministic mission model, and a portable protocol</a:t>
            </a:r>
          </a:p>
          <a:p>
            <a:pPr algn="l">
              <a:lnSpc>
                <a:spcPct val="132000"/>
              </a:lnSpc>
            </a:pPr>
            <a:r>
              <a:rPr sz="2700" b="1" i="0">
                <a:solidFill>
                  <a:srgbClr val="FFFFFF"/>
                </a:solidFill>
                <a:latin typeface="Cambria"/>
              </a:rPr>
              <a:t>running authenticated on two processors.</a:t>
            </a:r>
          </a:p>
        </p:txBody>
      </p:sp>
      <p:sp>
        <p:nvSpPr>
          <p:cNvPr id="4" name="Rounded Rectangle 3"/>
          <p:cNvSpPr/>
          <p:nvPr/>
        </p:nvSpPr>
        <p:spPr>
          <a:xfrm>
            <a:off x="548640" y="3703320"/>
            <a:ext cx="2103120" cy="1005840"/>
          </a:xfrm>
          <a:prstGeom prst="roundRect">
            <a:avLst>
              <a:gd name="adj" fmla="val 4090"/>
            </a:avLst>
          </a:prstGeom>
          <a:solidFill>
            <a:srgbClr val="16323F"/>
          </a:solidFill>
          <a:ln>
            <a:noFill/>
          </a:ln>
          <a:effectLst>
            <a:outerShdw blurRad="88900" dist="12700" dir="5400000" rotWithShape="0">
              <a:srgbClr val="9FB3C0">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21792" y="3822191"/>
            <a:ext cx="1956815" cy="402336"/>
          </a:xfrm>
          <a:prstGeom prst="rect">
            <a:avLst/>
          </a:prstGeom>
          <a:noFill/>
        </p:spPr>
        <p:txBody>
          <a:bodyPr wrap="square" lIns="0" rIns="0" tIns="0" bIns="0" anchor="ctr">
            <a:spAutoFit/>
          </a:bodyPr>
          <a:lstStyle/>
          <a:p>
            <a:pPr algn="ctr"/>
            <a:r>
              <a:rPr sz="2300" b="1" i="0">
                <a:solidFill>
                  <a:srgbClr val="E0A33E"/>
                </a:solidFill>
                <a:latin typeface="Cambria"/>
              </a:rPr>
              <a:t>94.8</a:t>
            </a:r>
          </a:p>
        </p:txBody>
      </p:sp>
      <p:sp>
        <p:nvSpPr>
          <p:cNvPr id="6" name="TextBox 5"/>
          <p:cNvSpPr txBox="1"/>
          <p:nvPr/>
        </p:nvSpPr>
        <p:spPr>
          <a:xfrm>
            <a:off x="621792" y="4233672"/>
            <a:ext cx="1956815" cy="365760"/>
          </a:xfrm>
          <a:prstGeom prst="rect">
            <a:avLst/>
          </a:prstGeom>
          <a:noFill/>
        </p:spPr>
        <p:txBody>
          <a:bodyPr wrap="square" lIns="0" rIns="0" tIns="0" bIns="0" anchor="t">
            <a:spAutoFit/>
          </a:bodyPr>
          <a:lstStyle/>
          <a:p>
            <a:pPr algn="ctr"/>
            <a:r>
              <a:rPr sz="1100" b="0" i="0">
                <a:solidFill>
                  <a:srgbClr val="AFC4D2"/>
                </a:solidFill>
                <a:latin typeface="Calibri"/>
              </a:rPr>
              <a:t>cm², 2 layers</a:t>
            </a:r>
          </a:p>
        </p:txBody>
      </p:sp>
      <p:sp>
        <p:nvSpPr>
          <p:cNvPr id="7" name="Rounded Rectangle 6"/>
          <p:cNvSpPr/>
          <p:nvPr/>
        </p:nvSpPr>
        <p:spPr>
          <a:xfrm>
            <a:off x="2788920" y="3703320"/>
            <a:ext cx="2103120" cy="1005840"/>
          </a:xfrm>
          <a:prstGeom prst="roundRect">
            <a:avLst>
              <a:gd name="adj" fmla="val 4090"/>
            </a:avLst>
          </a:prstGeom>
          <a:solidFill>
            <a:srgbClr val="16323F"/>
          </a:solidFill>
          <a:ln>
            <a:noFill/>
          </a:ln>
          <a:effectLst>
            <a:outerShdw blurRad="88900" dist="12700" dir="5400000" rotWithShape="0">
              <a:srgbClr val="9FB3C0">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862072" y="3822191"/>
            <a:ext cx="1956815" cy="402336"/>
          </a:xfrm>
          <a:prstGeom prst="rect">
            <a:avLst/>
          </a:prstGeom>
          <a:noFill/>
        </p:spPr>
        <p:txBody>
          <a:bodyPr wrap="square" lIns="0" rIns="0" tIns="0" bIns="0" anchor="ctr">
            <a:spAutoFit/>
          </a:bodyPr>
          <a:lstStyle/>
          <a:p>
            <a:pPr algn="ctr"/>
            <a:r>
              <a:rPr sz="2300" b="1" i="0">
                <a:solidFill>
                  <a:srgbClr val="E0A33E"/>
                </a:solidFill>
                <a:latin typeface="Cambria"/>
              </a:rPr>
              <a:t>116</a:t>
            </a:r>
          </a:p>
        </p:txBody>
      </p:sp>
      <p:sp>
        <p:nvSpPr>
          <p:cNvPr id="9" name="TextBox 8"/>
          <p:cNvSpPr txBox="1"/>
          <p:nvPr/>
        </p:nvSpPr>
        <p:spPr>
          <a:xfrm>
            <a:off x="2862072" y="4233672"/>
            <a:ext cx="1956815" cy="365760"/>
          </a:xfrm>
          <a:prstGeom prst="rect">
            <a:avLst/>
          </a:prstGeom>
          <a:noFill/>
        </p:spPr>
        <p:txBody>
          <a:bodyPr wrap="square" lIns="0" rIns="0" tIns="0" bIns="0" anchor="t">
            <a:spAutoFit/>
          </a:bodyPr>
          <a:lstStyle/>
          <a:p>
            <a:pPr algn="ctr"/>
            <a:r>
              <a:rPr sz="1100" b="0" i="0">
                <a:solidFill>
                  <a:srgbClr val="AFC4D2"/>
                </a:solidFill>
                <a:latin typeface="Calibri"/>
              </a:rPr>
              <a:t>components</a:t>
            </a:r>
          </a:p>
        </p:txBody>
      </p:sp>
      <p:sp>
        <p:nvSpPr>
          <p:cNvPr id="10" name="Rounded Rectangle 9"/>
          <p:cNvSpPr/>
          <p:nvPr/>
        </p:nvSpPr>
        <p:spPr>
          <a:xfrm>
            <a:off x="5029199" y="3703320"/>
            <a:ext cx="2103120" cy="1005840"/>
          </a:xfrm>
          <a:prstGeom prst="roundRect">
            <a:avLst>
              <a:gd name="adj" fmla="val 4090"/>
            </a:avLst>
          </a:prstGeom>
          <a:solidFill>
            <a:srgbClr val="16323F"/>
          </a:solidFill>
          <a:ln>
            <a:noFill/>
          </a:ln>
          <a:effectLst>
            <a:outerShdw blurRad="88900" dist="12700" dir="5400000" rotWithShape="0">
              <a:srgbClr val="9FB3C0">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102351" y="3822191"/>
            <a:ext cx="1956815" cy="402336"/>
          </a:xfrm>
          <a:prstGeom prst="rect">
            <a:avLst/>
          </a:prstGeom>
          <a:noFill/>
        </p:spPr>
        <p:txBody>
          <a:bodyPr wrap="square" lIns="0" rIns="0" tIns="0" bIns="0" anchor="ctr">
            <a:spAutoFit/>
          </a:bodyPr>
          <a:lstStyle/>
          <a:p>
            <a:pPr algn="ctr"/>
            <a:r>
              <a:rPr sz="2300" b="1" i="0">
                <a:solidFill>
                  <a:srgbClr val="E0A33E"/>
                </a:solidFill>
                <a:latin typeface="Cambria"/>
              </a:rPr>
              <a:t>672</a:t>
            </a:r>
          </a:p>
        </p:txBody>
      </p:sp>
      <p:sp>
        <p:nvSpPr>
          <p:cNvPr id="12" name="TextBox 11"/>
          <p:cNvSpPr txBox="1"/>
          <p:nvPr/>
        </p:nvSpPr>
        <p:spPr>
          <a:xfrm>
            <a:off x="5102351" y="4233672"/>
            <a:ext cx="1956815" cy="365760"/>
          </a:xfrm>
          <a:prstGeom prst="rect">
            <a:avLst/>
          </a:prstGeom>
          <a:noFill/>
        </p:spPr>
        <p:txBody>
          <a:bodyPr wrap="square" lIns="0" rIns="0" tIns="0" bIns="0" anchor="t">
            <a:spAutoFit/>
          </a:bodyPr>
          <a:lstStyle/>
          <a:p>
            <a:pPr algn="ctr"/>
            <a:r>
              <a:rPr sz="1100" b="0" i="0">
                <a:solidFill>
                  <a:srgbClr val="AFC4D2"/>
                </a:solidFill>
                <a:latin typeface="Calibri"/>
              </a:rPr>
              <a:t>W·h nominal</a:t>
            </a:r>
          </a:p>
        </p:txBody>
      </p:sp>
      <p:sp>
        <p:nvSpPr>
          <p:cNvPr id="13" name="Rounded Rectangle 12"/>
          <p:cNvSpPr/>
          <p:nvPr/>
        </p:nvSpPr>
        <p:spPr>
          <a:xfrm>
            <a:off x="7269479" y="3703320"/>
            <a:ext cx="2103120" cy="1005840"/>
          </a:xfrm>
          <a:prstGeom prst="roundRect">
            <a:avLst>
              <a:gd name="adj" fmla="val 4090"/>
            </a:avLst>
          </a:prstGeom>
          <a:solidFill>
            <a:srgbClr val="16323F"/>
          </a:solidFill>
          <a:ln>
            <a:noFill/>
          </a:ln>
          <a:effectLst>
            <a:outerShdw blurRad="88900" dist="12700" dir="5400000" rotWithShape="0">
              <a:srgbClr val="9FB3C0">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42631" y="3822191"/>
            <a:ext cx="1956815" cy="402336"/>
          </a:xfrm>
          <a:prstGeom prst="rect">
            <a:avLst/>
          </a:prstGeom>
          <a:noFill/>
        </p:spPr>
        <p:txBody>
          <a:bodyPr wrap="square" lIns="0" rIns="0" tIns="0" bIns="0" anchor="ctr">
            <a:spAutoFit/>
          </a:bodyPr>
          <a:lstStyle/>
          <a:p>
            <a:pPr algn="ctr"/>
            <a:r>
              <a:rPr sz="2300" b="1" i="0">
                <a:solidFill>
                  <a:srgbClr val="E0A33E"/>
                </a:solidFill>
                <a:latin typeface="Cambria"/>
              </a:rPr>
              <a:t>12.3</a:t>
            </a:r>
          </a:p>
        </p:txBody>
      </p:sp>
      <p:sp>
        <p:nvSpPr>
          <p:cNvPr id="15" name="TextBox 14"/>
          <p:cNvSpPr txBox="1"/>
          <p:nvPr/>
        </p:nvSpPr>
        <p:spPr>
          <a:xfrm>
            <a:off x="7342631" y="4233672"/>
            <a:ext cx="1956815" cy="365760"/>
          </a:xfrm>
          <a:prstGeom prst="rect">
            <a:avLst/>
          </a:prstGeom>
          <a:noFill/>
        </p:spPr>
        <p:txBody>
          <a:bodyPr wrap="square" lIns="0" rIns="0" tIns="0" bIns="0" anchor="t">
            <a:spAutoFit/>
          </a:bodyPr>
          <a:lstStyle/>
          <a:p>
            <a:pPr algn="ctr"/>
            <a:r>
              <a:rPr sz="1100" b="0" i="0">
                <a:solidFill>
                  <a:srgbClr val="AFC4D2"/>
                </a:solidFill>
                <a:latin typeface="Calibri"/>
              </a:rPr>
              <a:t>km survey track</a:t>
            </a:r>
          </a:p>
        </p:txBody>
      </p:sp>
      <p:sp>
        <p:nvSpPr>
          <p:cNvPr id="16" name="Rounded Rectangle 15"/>
          <p:cNvSpPr/>
          <p:nvPr/>
        </p:nvSpPr>
        <p:spPr>
          <a:xfrm>
            <a:off x="9509759" y="3703320"/>
            <a:ext cx="2103120" cy="1005840"/>
          </a:xfrm>
          <a:prstGeom prst="roundRect">
            <a:avLst>
              <a:gd name="adj" fmla="val 4090"/>
            </a:avLst>
          </a:prstGeom>
          <a:solidFill>
            <a:srgbClr val="16323F"/>
          </a:solidFill>
          <a:ln>
            <a:noFill/>
          </a:ln>
          <a:effectLst>
            <a:outerShdw blurRad="88900" dist="12700" dir="5400000" rotWithShape="0">
              <a:srgbClr val="9FB3C0">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582911" y="3822191"/>
            <a:ext cx="1956815" cy="402336"/>
          </a:xfrm>
          <a:prstGeom prst="rect">
            <a:avLst/>
          </a:prstGeom>
          <a:noFill/>
        </p:spPr>
        <p:txBody>
          <a:bodyPr wrap="square" lIns="0" rIns="0" tIns="0" bIns="0" anchor="ctr">
            <a:spAutoFit/>
          </a:bodyPr>
          <a:lstStyle/>
          <a:p>
            <a:pPr algn="ctr"/>
            <a:r>
              <a:rPr sz="2300" b="1" i="0">
                <a:solidFill>
                  <a:srgbClr val="E0A33E"/>
                </a:solidFill>
                <a:latin typeface="Cambria"/>
              </a:rPr>
              <a:t>32</a:t>
            </a:r>
          </a:p>
        </p:txBody>
      </p:sp>
      <p:sp>
        <p:nvSpPr>
          <p:cNvPr id="18" name="TextBox 17"/>
          <p:cNvSpPr txBox="1"/>
          <p:nvPr/>
        </p:nvSpPr>
        <p:spPr>
          <a:xfrm>
            <a:off x="9582911" y="4233672"/>
            <a:ext cx="1956815" cy="365760"/>
          </a:xfrm>
          <a:prstGeom prst="rect">
            <a:avLst/>
          </a:prstGeom>
          <a:noFill/>
        </p:spPr>
        <p:txBody>
          <a:bodyPr wrap="square" lIns="0" rIns="0" tIns="0" bIns="0" anchor="t">
            <a:spAutoFit/>
          </a:bodyPr>
          <a:lstStyle/>
          <a:p>
            <a:pPr algn="ctr"/>
            <a:r>
              <a:rPr sz="1100" b="0" i="0">
                <a:solidFill>
                  <a:srgbClr val="AFC4D2"/>
                </a:solidFill>
                <a:latin typeface="Calibri"/>
              </a:rPr>
              <a:t>B authenticated frame</a:t>
            </a:r>
          </a:p>
        </p:txBody>
      </p:sp>
      <p:sp>
        <p:nvSpPr>
          <p:cNvPr id="19" name="TextBox 18"/>
          <p:cNvSpPr txBox="1"/>
          <p:nvPr/>
        </p:nvSpPr>
        <p:spPr>
          <a:xfrm>
            <a:off x="548640" y="5120640"/>
            <a:ext cx="5486400" cy="402336"/>
          </a:xfrm>
          <a:prstGeom prst="rect">
            <a:avLst/>
          </a:prstGeom>
          <a:noFill/>
        </p:spPr>
        <p:txBody>
          <a:bodyPr wrap="square" lIns="0" rIns="0" tIns="0" bIns="0" anchor="ctr">
            <a:spAutoFit/>
          </a:bodyPr>
          <a:lstStyle/>
          <a:p>
            <a:pPr algn="l"/>
            <a:r>
              <a:rPr sz="1800" b="1" i="0">
                <a:solidFill>
                  <a:srgbClr val="E0A33E"/>
                </a:solidFill>
                <a:latin typeface="Calibri"/>
              </a:rPr>
              <a:t>Thank you. I am available for questions.</a:t>
            </a:r>
          </a:p>
        </p:txBody>
      </p:sp>
      <p:sp>
        <p:nvSpPr>
          <p:cNvPr id="20" name="TextBox 19"/>
          <p:cNvSpPr txBox="1"/>
          <p:nvPr/>
        </p:nvSpPr>
        <p:spPr>
          <a:xfrm>
            <a:off x="548640" y="5705856"/>
            <a:ext cx="7315200" cy="310896"/>
          </a:xfrm>
          <a:prstGeom prst="rect">
            <a:avLst/>
          </a:prstGeom>
          <a:noFill/>
        </p:spPr>
        <p:txBody>
          <a:bodyPr wrap="square" lIns="0" rIns="0" tIns="0" bIns="0" anchor="ctr">
            <a:spAutoFit/>
          </a:bodyPr>
          <a:lstStyle/>
          <a:p>
            <a:pPr algn="l"/>
            <a:r>
              <a:rPr sz="1150" b="0" i="0">
                <a:solidFill>
                  <a:srgbClr val="5E7686"/>
                </a:solidFill>
                <a:latin typeface="Calibri"/>
              </a:rPr>
              <a:t>Joab da Silva Bezerra  ·  CNRS – Lab-STICC  ·  ROBEX  ·  24 August 2026</a:t>
            </a:r>
          </a:p>
        </p:txBody>
      </p:sp>
      <p:pic>
        <p:nvPicPr>
          <p:cNvPr id="21" name="Picture 20" descr="labsticc_logo_officiel.png"/>
          <p:cNvPicPr>
            <a:picLocks noChangeAspect="1"/>
          </p:cNvPicPr>
          <p:nvPr/>
        </p:nvPicPr>
        <p:blipFill>
          <a:blip r:embed="rId2"/>
          <a:stretch>
            <a:fillRect/>
          </a:stretch>
        </p:blipFill>
        <p:spPr>
          <a:xfrm>
            <a:off x="8001000" y="5870448"/>
            <a:ext cx="1234440" cy="548640"/>
          </a:xfrm>
          <a:prstGeom prst="rect">
            <a:avLst/>
          </a:prstGeom>
        </p:spPr>
      </p:pic>
      <p:sp>
        <p:nvSpPr>
          <p:cNvPr id="22" name="Rounded Rectangle 21"/>
          <p:cNvSpPr/>
          <p:nvPr/>
        </p:nvSpPr>
        <p:spPr>
          <a:xfrm>
            <a:off x="9464040" y="5760720"/>
            <a:ext cx="2176272" cy="731520"/>
          </a:xfrm>
          <a:prstGeom prst="roundRect">
            <a:avLst>
              <a:gd name="adj" fmla="val 5624"/>
            </a:avLst>
          </a:prstGeom>
          <a:solidFill>
            <a:srgbClr val="FFFFFF"/>
          </a:solidFill>
          <a:ln>
            <a:noFill/>
          </a:ln>
          <a:effectLst>
            <a:outerShdw blurRad="88900" dist="12700" dir="5400000" rotWithShape="0">
              <a:srgbClr val="9FB3C0">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3" name="Picture 22" descr="ensta_ip_paris_horizontal_bleu.png"/>
          <p:cNvPicPr>
            <a:picLocks noChangeAspect="1"/>
          </p:cNvPicPr>
          <p:nvPr/>
        </p:nvPicPr>
        <p:blipFill>
          <a:blip r:embed="rId3"/>
          <a:stretch>
            <a:fillRect/>
          </a:stretch>
        </p:blipFill>
        <p:spPr>
          <a:xfrm>
            <a:off x="9683496" y="5884164"/>
            <a:ext cx="1737360" cy="484632"/>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Caiman PRe defence</dc:title>
  <dc:subject/>
  <dc:creator>Joab da Silva Bezerra</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